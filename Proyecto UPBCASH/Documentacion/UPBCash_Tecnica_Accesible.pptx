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486"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315437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9" Type="http://schemas.openxmlformats.org/officeDocument/2006/relationships/image" Target="../media/image1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sp>
        <p:nvSpPr>
          <p:cNvPr id="3" name="Shape 1"/>
          <p:cNvSpPr/>
          <p:nvPr/>
        </p:nvSpPr>
        <p:spPr>
          <a:xfrm>
            <a:off x="0" y="0"/>
            <a:ext cx="182880" cy="5143500"/>
          </a:xfrm>
          <a:prstGeom prst="rect">
            <a:avLst/>
          </a:prstGeom>
          <a:solidFill>
            <a:srgbClr val="F5A623"/>
          </a:solidFill>
          <a:ln w="12700">
            <a:solidFill>
              <a:srgbClr val="F5A623"/>
            </a:solidFill>
            <a:prstDash val="solid"/>
          </a:ln>
        </p:spPr>
      </p:sp>
      <p:pic>
        <p:nvPicPr>
          <p:cNvPr id="4" name="Image 0" descr="/home/claude/UPBCash/Proyecto UPBCASH/upbcash_django/static/core/img/imgupbcash-logo-c.png"/>
          <p:cNvPicPr>
            <a:picLocks noChangeAspect="1"/>
          </p:cNvPicPr>
          <p:nvPr/>
        </p:nvPicPr>
        <p:blipFill>
          <a:blip r:embed="rId3"/>
          <a:stretch>
            <a:fillRect/>
          </a:stretch>
        </p:blipFill>
        <p:spPr>
          <a:xfrm>
            <a:off x="384048" y="457200"/>
            <a:ext cx="1737360" cy="1737360"/>
          </a:xfrm>
          <a:prstGeom prst="rect">
            <a:avLst/>
          </a:prstGeom>
        </p:spPr>
      </p:pic>
      <p:sp>
        <p:nvSpPr>
          <p:cNvPr id="5" name="Text 2"/>
          <p:cNvSpPr/>
          <p:nvPr/>
        </p:nvSpPr>
        <p:spPr>
          <a:xfrm>
            <a:off x="347472" y="2286000"/>
            <a:ext cx="4754880" cy="749808"/>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UPBCash</a:t>
            </a:r>
            <a:endParaRPr lang="en-US" sz="5200" dirty="0"/>
          </a:p>
        </p:txBody>
      </p:sp>
      <p:sp>
        <p:nvSpPr>
          <p:cNvPr id="6" name="Text 3"/>
          <p:cNvSpPr/>
          <p:nvPr/>
        </p:nvSpPr>
        <p:spPr>
          <a:xfrm>
            <a:off x="347472" y="3090672"/>
            <a:ext cx="4937760" cy="384048"/>
          </a:xfrm>
          <a:prstGeom prst="rect">
            <a:avLst/>
          </a:prstGeom>
          <a:noFill/>
          <a:ln/>
        </p:spPr>
        <p:txBody>
          <a:bodyPr wrap="square" lIns="0" tIns="0" rIns="0" bIns="0" rtlCol="0" anchor="ctr"/>
          <a:lstStyle/>
          <a:p>
            <a:pPr marL="0" indent="0">
              <a:buNone/>
            </a:pPr>
            <a:r>
              <a:rPr lang="en-US" sz="1800" dirty="0">
                <a:solidFill>
                  <a:srgbClr val="F5A623"/>
                </a:solidFill>
                <a:latin typeface="Calibri" pitchFamily="34" charset="0"/>
                <a:ea typeface="Calibri" pitchFamily="34" charset="-122"/>
                <a:cs typeface="Calibri" pitchFamily="34" charset="-120"/>
              </a:rPr>
              <a:t>Cómo funciona por dentro</a:t>
            </a:r>
            <a:endParaRPr lang="en-US" sz="1800" dirty="0"/>
          </a:p>
        </p:txBody>
      </p:sp>
      <p:sp>
        <p:nvSpPr>
          <p:cNvPr id="7" name="Text 4"/>
          <p:cNvSpPr/>
          <p:nvPr/>
        </p:nvSpPr>
        <p:spPr>
          <a:xfrm>
            <a:off x="347472" y="3547872"/>
            <a:ext cx="5029200" cy="457200"/>
          </a:xfrm>
          <a:prstGeom prst="rect">
            <a:avLst/>
          </a:prstGeom>
          <a:noFill/>
          <a:ln/>
        </p:spPr>
        <p:txBody>
          <a:bodyPr wrap="square" lIns="0" tIns="0" rIns="0" bIns="0" rtlCol="0" anchor="ctr"/>
          <a:lstStyle/>
          <a:p>
            <a:pPr marL="0" indent="0">
              <a:buNone/>
            </a:pPr>
            <a:r>
              <a:rPr lang="en-US" sz="1200" dirty="0">
                <a:solidFill>
                  <a:srgbClr val="C4A8E8"/>
                </a:solidFill>
                <a:latin typeface="Calibri" pitchFamily="34" charset="0"/>
                <a:ea typeface="Calibri" pitchFamily="34" charset="-122"/>
                <a:cs typeface="Calibri" pitchFamily="34" charset="-120"/>
              </a:rPr>
              <a:t>Una explicación técnica accesible del sistema de billetera digital universitaria</a:t>
            </a:r>
            <a:endParaRPr lang="en-US" sz="1200" dirty="0"/>
          </a:p>
        </p:txBody>
      </p:sp>
      <p:sp>
        <p:nvSpPr>
          <p:cNvPr id="8" name="Text 5"/>
          <p:cNvSpPr/>
          <p:nvPr/>
        </p:nvSpPr>
        <p:spPr>
          <a:xfrm>
            <a:off x="347472" y="4133088"/>
            <a:ext cx="3840480" cy="256032"/>
          </a:xfrm>
          <a:prstGeom prst="rect">
            <a:avLst/>
          </a:prstGeom>
          <a:noFill/>
          <a:ln/>
        </p:spPr>
        <p:txBody>
          <a:bodyPr wrap="square" lIns="0" tIns="0" rIns="0" bIns="0" rtlCol="0" anchor="ctr"/>
          <a:lstStyle/>
          <a:p>
            <a:pPr marL="0" indent="0">
              <a:buNone/>
            </a:pPr>
            <a:r>
              <a:rPr lang="en-US" sz="1050" dirty="0">
                <a:solidFill>
                  <a:srgbClr val="F5A623"/>
                </a:solidFill>
                <a:latin typeface="Consolas" pitchFamily="34" charset="0"/>
                <a:ea typeface="Consolas" pitchFamily="34" charset="-122"/>
                <a:cs typeface="Consolas" pitchFamily="34" charset="-120"/>
              </a:rPr>
              <a:t>github.com/cchaires/UPBCash</a:t>
            </a:r>
            <a:endParaRPr lang="en-US" sz="1050" dirty="0"/>
          </a:p>
        </p:txBody>
      </p:sp>
      <p:sp>
        <p:nvSpPr>
          <p:cNvPr id="9" name="Shape 6"/>
          <p:cNvSpPr/>
          <p:nvPr/>
        </p:nvSpPr>
        <p:spPr>
          <a:xfrm>
            <a:off x="5760720" y="1005840"/>
            <a:ext cx="3017520" cy="457200"/>
          </a:xfrm>
          <a:prstGeom prst="rect">
            <a:avLst/>
          </a:prstGeom>
          <a:solidFill>
            <a:srgbClr val="2C7A3A"/>
          </a:solidFill>
          <a:ln w="12700">
            <a:solidFill>
              <a:srgbClr val="2C7A3A"/>
            </a:solidFill>
            <a:prstDash val="solid"/>
          </a:ln>
        </p:spPr>
      </p:sp>
      <p:sp>
        <p:nvSpPr>
          <p:cNvPr id="10" name="Text 7"/>
          <p:cNvSpPr/>
          <p:nvPr/>
        </p:nvSpPr>
        <p:spPr>
          <a:xfrm>
            <a:off x="5760720" y="100584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Python 3.11</a:t>
            </a:r>
            <a:endParaRPr lang="en-US" sz="1400" dirty="0"/>
          </a:p>
        </p:txBody>
      </p:sp>
      <p:sp>
        <p:nvSpPr>
          <p:cNvPr id="11" name="Shape 8"/>
          <p:cNvSpPr/>
          <p:nvPr/>
        </p:nvSpPr>
        <p:spPr>
          <a:xfrm>
            <a:off x="5760720" y="1600200"/>
            <a:ext cx="3017520" cy="457200"/>
          </a:xfrm>
          <a:prstGeom prst="rect">
            <a:avLst/>
          </a:prstGeom>
          <a:solidFill>
            <a:srgbClr val="5C2D9E"/>
          </a:solidFill>
          <a:ln w="12700">
            <a:solidFill>
              <a:srgbClr val="5C2D9E"/>
            </a:solidFill>
            <a:prstDash val="solid"/>
          </a:ln>
        </p:spPr>
      </p:sp>
      <p:sp>
        <p:nvSpPr>
          <p:cNvPr id="12" name="Text 9"/>
          <p:cNvSpPr/>
          <p:nvPr/>
        </p:nvSpPr>
        <p:spPr>
          <a:xfrm>
            <a:off x="5760720" y="160020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Django 5 — MVT</a:t>
            </a:r>
            <a:endParaRPr lang="en-US" sz="1400" dirty="0"/>
          </a:p>
        </p:txBody>
      </p:sp>
      <p:sp>
        <p:nvSpPr>
          <p:cNvPr id="13" name="Shape 10"/>
          <p:cNvSpPr/>
          <p:nvPr/>
        </p:nvSpPr>
        <p:spPr>
          <a:xfrm>
            <a:off x="5760720" y="2194560"/>
            <a:ext cx="3017520" cy="457200"/>
          </a:xfrm>
          <a:prstGeom prst="rect">
            <a:avLst/>
          </a:prstGeom>
          <a:solidFill>
            <a:srgbClr val="1A5A8A"/>
          </a:solidFill>
          <a:ln w="12700">
            <a:solidFill>
              <a:srgbClr val="1A5A8A"/>
            </a:solidFill>
            <a:prstDash val="solid"/>
          </a:ln>
        </p:spPr>
      </p:sp>
      <p:sp>
        <p:nvSpPr>
          <p:cNvPr id="14" name="Text 11"/>
          <p:cNvSpPr/>
          <p:nvPr/>
        </p:nvSpPr>
        <p:spPr>
          <a:xfrm>
            <a:off x="5760720" y="219456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PostgreSQL</a:t>
            </a:r>
            <a:endParaRPr lang="en-US" sz="1400" dirty="0"/>
          </a:p>
        </p:txBody>
      </p:sp>
      <p:sp>
        <p:nvSpPr>
          <p:cNvPr id="15" name="Shape 12"/>
          <p:cNvSpPr/>
          <p:nvPr/>
        </p:nvSpPr>
        <p:spPr>
          <a:xfrm>
            <a:off x="5760720" y="2788920"/>
            <a:ext cx="3017520" cy="457200"/>
          </a:xfrm>
          <a:prstGeom prst="rect">
            <a:avLst/>
          </a:prstGeom>
          <a:solidFill>
            <a:srgbClr val="0D4F6E"/>
          </a:solidFill>
          <a:ln w="12700">
            <a:solidFill>
              <a:srgbClr val="0D4F6E"/>
            </a:solidFill>
            <a:prstDash val="solid"/>
          </a:ln>
        </p:spPr>
      </p:sp>
      <p:sp>
        <p:nvSpPr>
          <p:cNvPr id="16" name="Text 13"/>
          <p:cNvSpPr/>
          <p:nvPr/>
        </p:nvSpPr>
        <p:spPr>
          <a:xfrm>
            <a:off x="5760720" y="278892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Docker</a:t>
            </a:r>
            <a:endParaRPr lang="en-US" sz="1400" dirty="0"/>
          </a:p>
        </p:txBody>
      </p:sp>
      <p:sp>
        <p:nvSpPr>
          <p:cNvPr id="17" name="Shape 14"/>
          <p:cNvSpPr/>
          <p:nvPr/>
        </p:nvSpPr>
        <p:spPr>
          <a:xfrm>
            <a:off x="5760720" y="3383280"/>
            <a:ext cx="3017520" cy="457200"/>
          </a:xfrm>
          <a:prstGeom prst="rect">
            <a:avLst/>
          </a:prstGeom>
          <a:solidFill>
            <a:srgbClr val="7A3A1A"/>
          </a:solidFill>
          <a:ln w="12700">
            <a:solidFill>
              <a:srgbClr val="7A3A1A"/>
            </a:solidFill>
            <a:prstDash val="solid"/>
          </a:ln>
        </p:spPr>
      </p:sp>
      <p:sp>
        <p:nvSpPr>
          <p:cNvPr id="18" name="Text 15"/>
          <p:cNvSpPr/>
          <p:nvPr/>
        </p:nvSpPr>
        <p:spPr>
          <a:xfrm>
            <a:off x="5760720" y="3383280"/>
            <a:ext cx="301752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HTML · CSS · JS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3D1A6E"/>
          </a:solidFill>
          <a:ln w="12700">
            <a:solidFill>
              <a:srgbClr val="3D1A6E"/>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F5A623"/>
                </a:solidFill>
                <a:latin typeface="Calibri" pitchFamily="34" charset="0"/>
                <a:ea typeface="Calibri" pitchFamily="34" charset="-122"/>
                <a:cs typeface="Calibri" pitchFamily="34" charset="-120"/>
              </a:rPr>
              <a:t>ARQUITECTURA DEL SISTEMA</a:t>
            </a:r>
            <a:endParaRPr lang="en-US" sz="900" dirty="0"/>
          </a:p>
        </p:txBody>
      </p:sp>
      <p:sp>
        <p:nvSpPr>
          <p:cNvPr id="5" name="Text 2"/>
          <p:cNvSpPr/>
          <p:nvPr/>
        </p:nvSpPr>
        <p:spPr>
          <a:xfrm>
            <a:off x="457200" y="502920"/>
            <a:ext cx="8229600" cy="512064"/>
          </a:xfrm>
          <a:prstGeom prst="rect">
            <a:avLst/>
          </a:prstGeom>
          <a:noFill/>
          <a:ln/>
        </p:spPr>
        <p:txBody>
          <a:bodyPr wrap="square" lIns="0" tIns="0" rIns="0" bIns="0" rtlCol="0" anchor="ctr"/>
          <a:lstStyle/>
          <a:p>
            <a:pPr marL="0" indent="0" algn="ctr">
              <a:buNone/>
            </a:pPr>
            <a:r>
              <a:rPr lang="en-US" sz="2000" b="1" dirty="0">
                <a:solidFill>
                  <a:srgbClr val="3D1A6E"/>
                </a:solidFill>
                <a:latin typeface="Trebuchet MS" pitchFamily="34" charset="0"/>
                <a:ea typeface="Trebuchet MS" pitchFamily="34" charset="-122"/>
                <a:cs typeface="Trebuchet MS" pitchFamily="34" charset="-120"/>
              </a:rPr>
              <a:t>6 módulos independientes · cada uno con una sola responsabilidad</a:t>
            </a:r>
            <a:endParaRPr lang="en-US" sz="2000" dirty="0"/>
          </a:p>
        </p:txBody>
      </p:sp>
      <p:sp>
        <p:nvSpPr>
          <p:cNvPr id="6" name="Text 3"/>
          <p:cNvSpPr/>
          <p:nvPr/>
        </p:nvSpPr>
        <p:spPr>
          <a:xfrm>
            <a:off x="384048" y="1225296"/>
            <a:ext cx="4114800" cy="274320"/>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¿Por qué dividirlo así?</a:t>
            </a:r>
            <a:endParaRPr lang="en-US" sz="1200" dirty="0"/>
          </a:p>
        </p:txBody>
      </p:sp>
      <p:sp>
        <p:nvSpPr>
          <p:cNvPr id="7" name="Text 4"/>
          <p:cNvSpPr/>
          <p:nvPr/>
        </p:nvSpPr>
        <p:spPr>
          <a:xfrm>
            <a:off x="384048" y="1536192"/>
            <a:ext cx="4114800" cy="566928"/>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Si algo falla en las compras, buscamos en commerce/. Si falla el saldo, buscamos en accounting/. No hay que revisar todo el proyecto.</a:t>
            </a:r>
            <a:endParaRPr lang="en-US" sz="1050" dirty="0"/>
          </a:p>
        </p:txBody>
      </p:sp>
      <p:sp>
        <p:nvSpPr>
          <p:cNvPr id="8" name="Text 5"/>
          <p:cNvSpPr/>
          <p:nvPr/>
        </p:nvSpPr>
        <p:spPr>
          <a:xfrm>
            <a:off x="384048" y="2212848"/>
            <a:ext cx="4114800" cy="530352"/>
          </a:xfrm>
          <a:prstGeom prst="rect">
            <a:avLst/>
          </a:prstGeom>
          <a:noFill/>
          <a:ln/>
        </p:spPr>
        <p:txBody>
          <a:bodyPr wrap="square" lIns="0" tIns="0" rIns="0" bIns="0" rtlCol="0" anchor="ctr"/>
          <a:lstStyle/>
          <a:p>
            <a:pPr marL="0" indent="0">
              <a:buNone/>
            </a:pPr>
            <a:r>
              <a:rPr lang="en-US" sz="950" i="1" dirty="0">
                <a:solidFill>
                  <a:srgbClr val="666666"/>
                </a:solidFill>
                <a:latin typeface="Calibri" pitchFamily="34" charset="0"/>
                <a:ea typeface="Calibri" pitchFamily="34" charset="-122"/>
                <a:cs typeface="Calibri" pitchFamily="34" charset="-120"/>
              </a:rPr>
              <a:t>Patrón MVT de Django: el Modelo define los datos, la Vista procesa la lógica y el Template es lo que el usuario ve en pantalla.</a:t>
            </a:r>
            <a:endParaRPr lang="en-US" sz="950" dirty="0"/>
          </a:p>
        </p:txBody>
      </p:sp>
      <p:sp>
        <p:nvSpPr>
          <p:cNvPr id="9" name="Shape 6"/>
          <p:cNvSpPr/>
          <p:nvPr/>
        </p:nvSpPr>
        <p:spPr>
          <a:xfrm>
            <a:off x="4773168" y="1078992"/>
            <a:ext cx="2029968" cy="1188720"/>
          </a:xfrm>
          <a:prstGeom prst="rect">
            <a:avLst/>
          </a:prstGeom>
          <a:solidFill>
            <a:srgbClr val="FFFFFF"/>
          </a:solidFill>
          <a:ln w="25400">
            <a:solidFill>
              <a:srgbClr val="8B5CF6"/>
            </a:solidFill>
            <a:prstDash val="solid"/>
          </a:ln>
          <a:effectLst>
            <a:outerShdw blurRad="88900" dist="38100" dir="8100000" algn="bl" rotWithShape="0">
              <a:srgbClr val="000000">
                <a:alpha val="12000"/>
              </a:srgbClr>
            </a:outerShdw>
          </a:effectLst>
        </p:spPr>
      </p:sp>
      <p:sp>
        <p:nvSpPr>
          <p:cNvPr id="10" name="Shape 7"/>
          <p:cNvSpPr/>
          <p:nvPr/>
        </p:nvSpPr>
        <p:spPr>
          <a:xfrm>
            <a:off x="4773168" y="1078992"/>
            <a:ext cx="2029968" cy="310896"/>
          </a:xfrm>
          <a:prstGeom prst="rect">
            <a:avLst/>
          </a:prstGeom>
          <a:solidFill>
            <a:srgbClr val="8B5CF6"/>
          </a:solidFill>
          <a:ln w="12700">
            <a:solidFill>
              <a:srgbClr val="8B5CF6"/>
            </a:solidFill>
            <a:prstDash val="solid"/>
          </a:ln>
        </p:spPr>
      </p:sp>
      <p:sp>
        <p:nvSpPr>
          <p:cNvPr id="11" name="Text 8"/>
          <p:cNvSpPr/>
          <p:nvPr/>
        </p:nvSpPr>
        <p:spPr>
          <a:xfrm>
            <a:off x="4864608" y="1078992"/>
            <a:ext cx="1865376"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events/</a:t>
            </a:r>
            <a:endParaRPr lang="en-US" sz="1100" dirty="0"/>
          </a:p>
        </p:txBody>
      </p:sp>
      <p:sp>
        <p:nvSpPr>
          <p:cNvPr id="12" name="Text 9"/>
          <p:cNvSpPr/>
          <p:nvPr/>
        </p:nvSpPr>
        <p:spPr>
          <a:xfrm>
            <a:off x="4864608" y="1426464"/>
            <a:ext cx="1865376" cy="76809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Gestiona eventos y roles de cada usuario</a:t>
            </a:r>
            <a:endParaRPr lang="en-US" sz="900" dirty="0"/>
          </a:p>
        </p:txBody>
      </p:sp>
      <p:sp>
        <p:nvSpPr>
          <p:cNvPr id="13" name="Shape 10"/>
          <p:cNvSpPr/>
          <p:nvPr/>
        </p:nvSpPr>
        <p:spPr>
          <a:xfrm>
            <a:off x="6949440" y="1078992"/>
            <a:ext cx="2029968" cy="1188720"/>
          </a:xfrm>
          <a:prstGeom prst="rect">
            <a:avLst/>
          </a:prstGeom>
          <a:solidFill>
            <a:srgbClr val="FFFFFF"/>
          </a:solidFill>
          <a:ln w="25400">
            <a:solidFill>
              <a:srgbClr val="F59E0B"/>
            </a:solidFill>
            <a:prstDash val="solid"/>
          </a:ln>
          <a:effectLst>
            <a:outerShdw blurRad="88900" dist="38100" dir="8100000" algn="bl" rotWithShape="0">
              <a:srgbClr val="000000">
                <a:alpha val="12000"/>
              </a:srgbClr>
            </a:outerShdw>
          </a:effectLst>
        </p:spPr>
      </p:sp>
      <p:sp>
        <p:nvSpPr>
          <p:cNvPr id="14" name="Shape 11"/>
          <p:cNvSpPr/>
          <p:nvPr/>
        </p:nvSpPr>
        <p:spPr>
          <a:xfrm>
            <a:off x="6949440" y="1078992"/>
            <a:ext cx="2029968" cy="310896"/>
          </a:xfrm>
          <a:prstGeom prst="rect">
            <a:avLst/>
          </a:prstGeom>
          <a:solidFill>
            <a:srgbClr val="F59E0B"/>
          </a:solidFill>
          <a:ln w="12700">
            <a:solidFill>
              <a:srgbClr val="F59E0B"/>
            </a:solidFill>
            <a:prstDash val="solid"/>
          </a:ln>
        </p:spPr>
      </p:sp>
      <p:sp>
        <p:nvSpPr>
          <p:cNvPr id="15" name="Text 12"/>
          <p:cNvSpPr/>
          <p:nvPr/>
        </p:nvSpPr>
        <p:spPr>
          <a:xfrm>
            <a:off x="7040880" y="1078992"/>
            <a:ext cx="1865376"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stalls/</a:t>
            </a:r>
            <a:endParaRPr lang="en-US" sz="1100" dirty="0"/>
          </a:p>
        </p:txBody>
      </p:sp>
      <p:sp>
        <p:nvSpPr>
          <p:cNvPr id="16" name="Text 13"/>
          <p:cNvSpPr/>
          <p:nvPr/>
        </p:nvSpPr>
        <p:spPr>
          <a:xfrm>
            <a:off x="7040880" y="1426464"/>
            <a:ext cx="1865376" cy="76809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Puestos de venta, mapa e inventario</a:t>
            </a:r>
            <a:endParaRPr lang="en-US" sz="900" dirty="0"/>
          </a:p>
        </p:txBody>
      </p:sp>
      <p:sp>
        <p:nvSpPr>
          <p:cNvPr id="17" name="Shape 14"/>
          <p:cNvSpPr/>
          <p:nvPr/>
        </p:nvSpPr>
        <p:spPr>
          <a:xfrm>
            <a:off x="4773168" y="2395728"/>
            <a:ext cx="2029968" cy="1188720"/>
          </a:xfrm>
          <a:prstGeom prst="rect">
            <a:avLst/>
          </a:prstGeom>
          <a:solidFill>
            <a:srgbClr val="FFFFFF"/>
          </a:solidFill>
          <a:ln w="25400">
            <a:solidFill>
              <a:srgbClr val="10B981"/>
            </a:solidFill>
            <a:prstDash val="solid"/>
          </a:ln>
          <a:effectLst>
            <a:outerShdw blurRad="88900" dist="38100" dir="8100000" algn="bl" rotWithShape="0">
              <a:srgbClr val="000000">
                <a:alpha val="12000"/>
              </a:srgbClr>
            </a:outerShdw>
          </a:effectLst>
        </p:spPr>
      </p:sp>
      <p:sp>
        <p:nvSpPr>
          <p:cNvPr id="18" name="Shape 15"/>
          <p:cNvSpPr/>
          <p:nvPr/>
        </p:nvSpPr>
        <p:spPr>
          <a:xfrm>
            <a:off x="4773168" y="2395728"/>
            <a:ext cx="2029968" cy="310896"/>
          </a:xfrm>
          <a:prstGeom prst="rect">
            <a:avLst/>
          </a:prstGeom>
          <a:solidFill>
            <a:srgbClr val="10B981"/>
          </a:solidFill>
          <a:ln w="12700">
            <a:solidFill>
              <a:srgbClr val="10B981"/>
            </a:solidFill>
            <a:prstDash val="solid"/>
          </a:ln>
        </p:spPr>
      </p:sp>
      <p:sp>
        <p:nvSpPr>
          <p:cNvPr id="19" name="Text 16"/>
          <p:cNvSpPr/>
          <p:nvPr/>
        </p:nvSpPr>
        <p:spPr>
          <a:xfrm>
            <a:off x="4864608" y="2395728"/>
            <a:ext cx="1865376"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commerce/</a:t>
            </a:r>
            <a:endParaRPr lang="en-US" sz="1100" dirty="0"/>
          </a:p>
        </p:txBody>
      </p:sp>
      <p:sp>
        <p:nvSpPr>
          <p:cNvPr id="20" name="Text 17"/>
          <p:cNvSpPr/>
          <p:nvPr/>
        </p:nvSpPr>
        <p:spPr>
          <a:xfrm>
            <a:off x="4864608" y="2743200"/>
            <a:ext cx="1865376" cy="76809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Carrito, órdenes y entrega con QR</a:t>
            </a:r>
            <a:endParaRPr lang="en-US" sz="900" dirty="0"/>
          </a:p>
        </p:txBody>
      </p:sp>
      <p:sp>
        <p:nvSpPr>
          <p:cNvPr id="21" name="Shape 18"/>
          <p:cNvSpPr/>
          <p:nvPr/>
        </p:nvSpPr>
        <p:spPr>
          <a:xfrm>
            <a:off x="6949440" y="2395728"/>
            <a:ext cx="2029968" cy="1188720"/>
          </a:xfrm>
          <a:prstGeom prst="rect">
            <a:avLst/>
          </a:prstGeom>
          <a:solidFill>
            <a:srgbClr val="FFFFFF"/>
          </a:solidFill>
          <a:ln w="25400">
            <a:solidFill>
              <a:srgbClr val="3B82F6"/>
            </a:solidFill>
            <a:prstDash val="solid"/>
          </a:ln>
          <a:effectLst>
            <a:outerShdw blurRad="88900" dist="38100" dir="8100000" algn="bl" rotWithShape="0">
              <a:srgbClr val="000000">
                <a:alpha val="12000"/>
              </a:srgbClr>
            </a:outerShdw>
          </a:effectLst>
        </p:spPr>
      </p:sp>
      <p:sp>
        <p:nvSpPr>
          <p:cNvPr id="22" name="Shape 19"/>
          <p:cNvSpPr/>
          <p:nvPr/>
        </p:nvSpPr>
        <p:spPr>
          <a:xfrm>
            <a:off x="6949440" y="2395728"/>
            <a:ext cx="2029968" cy="310896"/>
          </a:xfrm>
          <a:prstGeom prst="rect">
            <a:avLst/>
          </a:prstGeom>
          <a:solidFill>
            <a:srgbClr val="3B82F6"/>
          </a:solidFill>
          <a:ln w="12700">
            <a:solidFill>
              <a:srgbClr val="3B82F6"/>
            </a:solidFill>
            <a:prstDash val="solid"/>
          </a:ln>
        </p:spPr>
      </p:sp>
      <p:sp>
        <p:nvSpPr>
          <p:cNvPr id="23" name="Text 20"/>
          <p:cNvSpPr/>
          <p:nvPr/>
        </p:nvSpPr>
        <p:spPr>
          <a:xfrm>
            <a:off x="7040880" y="2395728"/>
            <a:ext cx="1865376"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accounting/</a:t>
            </a:r>
            <a:endParaRPr lang="en-US" sz="1100" dirty="0"/>
          </a:p>
        </p:txBody>
      </p:sp>
      <p:sp>
        <p:nvSpPr>
          <p:cNvPr id="24" name="Text 21"/>
          <p:cNvSpPr/>
          <p:nvPr/>
        </p:nvSpPr>
        <p:spPr>
          <a:xfrm>
            <a:off x="7040880" y="2743200"/>
            <a:ext cx="1865376" cy="76809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Saldo de UCoins y movimientos de dinero</a:t>
            </a:r>
            <a:endParaRPr lang="en-US" sz="900" dirty="0"/>
          </a:p>
        </p:txBody>
      </p:sp>
      <p:sp>
        <p:nvSpPr>
          <p:cNvPr id="25" name="Shape 22"/>
          <p:cNvSpPr/>
          <p:nvPr/>
        </p:nvSpPr>
        <p:spPr>
          <a:xfrm>
            <a:off x="4773168" y="3712464"/>
            <a:ext cx="2029968" cy="1188720"/>
          </a:xfrm>
          <a:prstGeom prst="rect">
            <a:avLst/>
          </a:prstGeom>
          <a:solidFill>
            <a:srgbClr val="FFFFFF"/>
          </a:solidFill>
          <a:ln w="25400">
            <a:solidFill>
              <a:srgbClr val="EF4444"/>
            </a:solidFill>
            <a:prstDash val="solid"/>
          </a:ln>
          <a:effectLst>
            <a:outerShdw blurRad="88900" dist="38100" dir="8100000" algn="bl" rotWithShape="0">
              <a:srgbClr val="000000">
                <a:alpha val="12000"/>
              </a:srgbClr>
            </a:outerShdw>
          </a:effectLst>
        </p:spPr>
      </p:sp>
      <p:sp>
        <p:nvSpPr>
          <p:cNvPr id="26" name="Shape 23"/>
          <p:cNvSpPr/>
          <p:nvPr/>
        </p:nvSpPr>
        <p:spPr>
          <a:xfrm>
            <a:off x="4773168" y="3712464"/>
            <a:ext cx="2029968" cy="310896"/>
          </a:xfrm>
          <a:prstGeom prst="rect">
            <a:avLst/>
          </a:prstGeom>
          <a:solidFill>
            <a:srgbClr val="EF4444"/>
          </a:solidFill>
          <a:ln w="12700">
            <a:solidFill>
              <a:srgbClr val="EF4444"/>
            </a:solidFill>
            <a:prstDash val="solid"/>
          </a:ln>
        </p:spPr>
      </p:sp>
      <p:sp>
        <p:nvSpPr>
          <p:cNvPr id="27" name="Text 24"/>
          <p:cNvSpPr/>
          <p:nvPr/>
        </p:nvSpPr>
        <p:spPr>
          <a:xfrm>
            <a:off x="4864608" y="3712464"/>
            <a:ext cx="1865376"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operations/</a:t>
            </a:r>
            <a:endParaRPr lang="en-US" sz="1100" dirty="0"/>
          </a:p>
        </p:txBody>
      </p:sp>
      <p:sp>
        <p:nvSpPr>
          <p:cNvPr id="28" name="Text 25"/>
          <p:cNvSpPr/>
          <p:nvPr/>
        </p:nvSpPr>
        <p:spPr>
          <a:xfrm>
            <a:off x="4864608" y="4059936"/>
            <a:ext cx="1865376" cy="76809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Auditoría del staff y soporte</a:t>
            </a:r>
            <a:endParaRPr lang="en-US" sz="900" dirty="0"/>
          </a:p>
        </p:txBody>
      </p:sp>
      <p:sp>
        <p:nvSpPr>
          <p:cNvPr id="29" name="Shape 26"/>
          <p:cNvSpPr/>
          <p:nvPr/>
        </p:nvSpPr>
        <p:spPr>
          <a:xfrm>
            <a:off x="6949440" y="3712464"/>
            <a:ext cx="2029968" cy="1188720"/>
          </a:xfrm>
          <a:prstGeom prst="rect">
            <a:avLst/>
          </a:prstGeom>
          <a:solidFill>
            <a:srgbClr val="FFFFFF"/>
          </a:solidFill>
          <a:ln w="25400">
            <a:solidFill>
              <a:srgbClr val="6366F1"/>
            </a:solidFill>
            <a:prstDash val="solid"/>
          </a:ln>
          <a:effectLst>
            <a:outerShdw blurRad="88900" dist="38100" dir="8100000" algn="bl" rotWithShape="0">
              <a:srgbClr val="000000">
                <a:alpha val="12000"/>
              </a:srgbClr>
            </a:outerShdw>
          </a:effectLst>
        </p:spPr>
      </p:sp>
      <p:sp>
        <p:nvSpPr>
          <p:cNvPr id="30" name="Shape 27"/>
          <p:cNvSpPr/>
          <p:nvPr/>
        </p:nvSpPr>
        <p:spPr>
          <a:xfrm>
            <a:off x="6949440" y="3712464"/>
            <a:ext cx="2029968" cy="310896"/>
          </a:xfrm>
          <a:prstGeom prst="rect">
            <a:avLst/>
          </a:prstGeom>
          <a:solidFill>
            <a:srgbClr val="6366F1"/>
          </a:solidFill>
          <a:ln w="12700">
            <a:solidFill>
              <a:srgbClr val="6366F1"/>
            </a:solidFill>
            <a:prstDash val="solid"/>
          </a:ln>
        </p:spPr>
      </p:sp>
      <p:sp>
        <p:nvSpPr>
          <p:cNvPr id="31" name="Text 28"/>
          <p:cNvSpPr/>
          <p:nvPr/>
        </p:nvSpPr>
        <p:spPr>
          <a:xfrm>
            <a:off x="7040880" y="3712464"/>
            <a:ext cx="1865376" cy="310896"/>
          </a:xfrm>
          <a:prstGeom prst="rect">
            <a:avLst/>
          </a:prstGeom>
          <a:noFill/>
          <a:ln/>
        </p:spPr>
        <p:txBody>
          <a:bodyPr wrap="square" lIns="0" tIns="0" rIns="0" bIns="0" rtlCol="0" anchor="ctr"/>
          <a:lstStyle/>
          <a:p>
            <a:pPr marL="0" indent="0">
              <a:buNone/>
            </a:pPr>
            <a:r>
              <a:rPr lang="en-US" sz="1100" b="1" dirty="0">
                <a:solidFill>
                  <a:srgbClr val="FFFFFF"/>
                </a:solidFill>
                <a:latin typeface="Consolas" pitchFamily="34" charset="0"/>
                <a:ea typeface="Consolas" pitchFamily="34" charset="-122"/>
                <a:cs typeface="Consolas" pitchFamily="34" charset="-120"/>
              </a:rPr>
              <a:t>core/</a:t>
            </a:r>
            <a:endParaRPr lang="en-US" sz="1100" dirty="0"/>
          </a:p>
        </p:txBody>
      </p:sp>
      <p:sp>
        <p:nvSpPr>
          <p:cNvPr id="32" name="Text 29"/>
          <p:cNvSpPr/>
          <p:nvPr/>
        </p:nvSpPr>
        <p:spPr>
          <a:xfrm>
            <a:off x="7040880" y="4059936"/>
            <a:ext cx="1865376" cy="768096"/>
          </a:xfrm>
          <a:prstGeom prst="rect">
            <a:avLst/>
          </a:prstGeom>
          <a:noFill/>
          <a:ln/>
        </p:spPr>
        <p:txBody>
          <a:bodyPr wrap="square" lIns="0" tIns="0" rIns="0" bIns="0" rtlCol="0" anchor="ctr"/>
          <a:lstStyle/>
          <a:p>
            <a:pPr marL="0" indent="0">
              <a:buNone/>
            </a:pPr>
            <a:r>
              <a:rPr lang="en-US" sz="900" dirty="0">
                <a:solidFill>
                  <a:srgbClr val="333333"/>
                </a:solidFill>
                <a:latin typeface="Calibri" pitchFamily="34" charset="0"/>
                <a:ea typeface="Calibri" pitchFamily="34" charset="-122"/>
                <a:cs typeface="Calibri" pitchFamily="34" charset="-120"/>
              </a:rPr>
              <a:t>Pantallas web (vistas y plantillas HTML)</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888888"/>
                </a:solidFill>
                <a:latin typeface="Calibri" pitchFamily="34" charset="0"/>
                <a:ea typeface="Calibri" pitchFamily="34" charset="-122"/>
                <a:cs typeface="Calibri" pitchFamily="34" charset="-120"/>
              </a:rPr>
              <a:t>BASE DE DATOS</a:t>
            </a:r>
            <a:endParaRPr lang="en-US" sz="900" dirty="0"/>
          </a:p>
        </p:txBody>
      </p:sp>
      <p:sp>
        <p:nvSpPr>
          <p:cNvPr id="5" name="Text 2"/>
          <p:cNvSpPr/>
          <p:nvPr/>
        </p:nvSpPr>
        <p:spPr>
          <a:xfrm>
            <a:off x="457200" y="475488"/>
            <a:ext cx="822960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ea typeface="Trebuchet MS" pitchFamily="34" charset="-122"/>
                <a:cs typeface="Trebuchet MS" pitchFamily="34" charset="-120"/>
              </a:rPr>
              <a:t>¿Qué información guarda el sistema?</a:t>
            </a:r>
            <a:endParaRPr lang="en-US" sz="2600" dirty="0"/>
          </a:p>
        </p:txBody>
      </p:sp>
      <p:sp>
        <p:nvSpPr>
          <p:cNvPr id="6" name="Text 3"/>
          <p:cNvSpPr/>
          <p:nvPr/>
        </p:nvSpPr>
        <p:spPr>
          <a:xfrm>
            <a:off x="457200" y="1042416"/>
            <a:ext cx="8229600" cy="310896"/>
          </a:xfrm>
          <a:prstGeom prst="rect">
            <a:avLst/>
          </a:prstGeom>
          <a:noFill/>
          <a:ln/>
        </p:spPr>
        <p:txBody>
          <a:bodyPr wrap="square" lIns="0" tIns="0" rIns="0" bIns="0" rtlCol="0" anchor="ctr"/>
          <a:lstStyle/>
          <a:p>
            <a:pPr marL="0" indent="0" algn="ctr">
              <a:buNone/>
            </a:pPr>
            <a:r>
              <a:rPr lang="en-US" sz="1100" i="1" dirty="0">
                <a:solidFill>
                  <a:srgbClr val="C4A8E8"/>
                </a:solidFill>
                <a:latin typeface="Calibri" pitchFamily="34" charset="0"/>
                <a:ea typeface="Calibri" pitchFamily="34" charset="-122"/>
                <a:cs typeface="Calibri" pitchFamily="34" charset="-120"/>
              </a:rPr>
              <a:t>Cada modelo es una tabla en la base de datos. Django los crea automáticamente a partir de clases Python.</a:t>
            </a:r>
            <a:endParaRPr lang="en-US" sz="1100" dirty="0"/>
          </a:p>
        </p:txBody>
      </p:sp>
      <p:sp>
        <p:nvSpPr>
          <p:cNvPr id="7" name="Shape 4"/>
          <p:cNvSpPr/>
          <p:nvPr/>
        </p:nvSpPr>
        <p:spPr>
          <a:xfrm>
            <a:off x="256032" y="1444752"/>
            <a:ext cx="2029968" cy="3246120"/>
          </a:xfrm>
          <a:prstGeom prst="rect">
            <a:avLst/>
          </a:prstGeom>
          <a:solidFill>
            <a:srgbClr val="2A1050"/>
          </a:solidFill>
          <a:ln w="12700">
            <a:solidFill>
              <a:srgbClr val="5C2D9E"/>
            </a:solidFill>
            <a:prstDash val="solid"/>
          </a:ln>
        </p:spPr>
      </p:sp>
      <p:sp>
        <p:nvSpPr>
          <p:cNvPr id="8" name="Shape 5"/>
          <p:cNvSpPr/>
          <p:nvPr/>
        </p:nvSpPr>
        <p:spPr>
          <a:xfrm>
            <a:off x="256032" y="1444752"/>
            <a:ext cx="2029968" cy="347472"/>
          </a:xfrm>
          <a:prstGeom prst="rect">
            <a:avLst/>
          </a:prstGeom>
          <a:solidFill>
            <a:srgbClr val="5C2D9E"/>
          </a:solidFill>
          <a:ln w="12700">
            <a:solidFill>
              <a:srgbClr val="5C2D9E"/>
            </a:solidFill>
            <a:prstDash val="solid"/>
          </a:ln>
        </p:spPr>
      </p:sp>
      <p:pic>
        <p:nvPicPr>
          <p:cNvPr id="9" name="Image 1" descr="preencoded.png"/>
          <p:cNvPicPr>
            <a:picLocks noChangeAspect="1"/>
          </p:cNvPicPr>
          <p:nvPr/>
        </p:nvPicPr>
        <p:blipFill>
          <a:blip r:embed="rId4"/>
          <a:stretch>
            <a:fillRect/>
          </a:stretch>
        </p:blipFill>
        <p:spPr>
          <a:xfrm>
            <a:off x="329184" y="1481328"/>
            <a:ext cx="274320" cy="274320"/>
          </a:xfrm>
          <a:prstGeom prst="rect">
            <a:avLst/>
          </a:prstGeom>
        </p:spPr>
      </p:pic>
      <p:sp>
        <p:nvSpPr>
          <p:cNvPr id="10" name="Text 6"/>
          <p:cNvSpPr/>
          <p:nvPr/>
        </p:nvSpPr>
        <p:spPr>
          <a:xfrm>
            <a:off x="676656" y="1444752"/>
            <a:ext cx="1572768" cy="347472"/>
          </a:xfrm>
          <a:prstGeom prst="rect">
            <a:avLst/>
          </a:prstGeom>
          <a:noFill/>
          <a:ln/>
        </p:spPr>
        <p:txBody>
          <a:bodyPr wrap="square" lIns="0" tIns="0" rIns="0" bIns="0" rtlCol="0" anchor="ctr"/>
          <a:lstStyle/>
          <a:p>
            <a:pPr marL="0" indent="0">
              <a:buNone/>
            </a:pPr>
            <a:r>
              <a:rPr lang="en-US" sz="950" b="1" dirty="0">
                <a:solidFill>
                  <a:srgbClr val="F5A623"/>
                </a:solidFill>
                <a:latin typeface="Consolas" pitchFamily="34" charset="0"/>
                <a:ea typeface="Consolas" pitchFamily="34" charset="-122"/>
                <a:cs typeface="Consolas" pitchFamily="34" charset="-120"/>
              </a:rPr>
              <a:t>EventCampaign</a:t>
            </a:r>
            <a:endParaRPr lang="en-US" sz="950" dirty="0"/>
          </a:p>
        </p:txBody>
      </p:sp>
      <p:sp>
        <p:nvSpPr>
          <p:cNvPr id="11" name="Shape 7"/>
          <p:cNvSpPr/>
          <p:nvPr/>
        </p:nvSpPr>
        <p:spPr>
          <a:xfrm>
            <a:off x="256032" y="1792224"/>
            <a:ext cx="2029968" cy="475488"/>
          </a:xfrm>
          <a:prstGeom prst="rect">
            <a:avLst/>
          </a:prstGeom>
          <a:solidFill>
            <a:srgbClr val="F7F5FB"/>
          </a:solidFill>
          <a:ln w="6350">
            <a:solidFill>
              <a:srgbClr val="E0D8F0"/>
            </a:solidFill>
            <a:prstDash val="solid"/>
          </a:ln>
        </p:spPr>
      </p:sp>
      <p:sp>
        <p:nvSpPr>
          <p:cNvPr id="12" name="Text 8"/>
          <p:cNvSpPr/>
          <p:nvPr/>
        </p:nvSpPr>
        <p:spPr>
          <a:xfrm>
            <a:off x="365760" y="1792224"/>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Nombre del evento</a:t>
            </a:r>
            <a:endParaRPr lang="en-US" sz="850" dirty="0"/>
          </a:p>
        </p:txBody>
      </p:sp>
      <p:sp>
        <p:nvSpPr>
          <p:cNvPr id="13" name="Shape 9"/>
          <p:cNvSpPr/>
          <p:nvPr/>
        </p:nvSpPr>
        <p:spPr>
          <a:xfrm>
            <a:off x="256032" y="2267712"/>
            <a:ext cx="2029968" cy="475488"/>
          </a:xfrm>
          <a:prstGeom prst="rect">
            <a:avLst/>
          </a:prstGeom>
          <a:solidFill>
            <a:srgbClr val="FFFFFF"/>
          </a:solidFill>
          <a:ln w="6350">
            <a:solidFill>
              <a:srgbClr val="E0D8F0"/>
            </a:solidFill>
            <a:prstDash val="solid"/>
          </a:ln>
        </p:spPr>
      </p:sp>
      <p:sp>
        <p:nvSpPr>
          <p:cNvPr id="14" name="Text 10"/>
          <p:cNvSpPr/>
          <p:nvPr/>
        </p:nvSpPr>
        <p:spPr>
          <a:xfrm>
            <a:off x="365760" y="2267712"/>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Fecha de inicio y fin</a:t>
            </a:r>
            <a:endParaRPr lang="en-US" sz="850" dirty="0"/>
          </a:p>
        </p:txBody>
      </p:sp>
      <p:sp>
        <p:nvSpPr>
          <p:cNvPr id="15" name="Shape 11"/>
          <p:cNvSpPr/>
          <p:nvPr/>
        </p:nvSpPr>
        <p:spPr>
          <a:xfrm>
            <a:off x="256032" y="2743200"/>
            <a:ext cx="2029968" cy="475488"/>
          </a:xfrm>
          <a:prstGeom prst="rect">
            <a:avLst/>
          </a:prstGeom>
          <a:solidFill>
            <a:srgbClr val="F7F5FB"/>
          </a:solidFill>
          <a:ln w="6350">
            <a:solidFill>
              <a:srgbClr val="E0D8F0"/>
            </a:solidFill>
            <a:prstDash val="solid"/>
          </a:ln>
        </p:spPr>
      </p:sp>
      <p:sp>
        <p:nvSpPr>
          <p:cNvPr id="16" name="Text 12"/>
          <p:cNvSpPr/>
          <p:nvPr/>
        </p:nvSpPr>
        <p:spPr>
          <a:xfrm>
            <a:off x="365760" y="2743200"/>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Ventana pública para clientes</a:t>
            </a:r>
            <a:endParaRPr lang="en-US" sz="850" dirty="0"/>
          </a:p>
        </p:txBody>
      </p:sp>
      <p:sp>
        <p:nvSpPr>
          <p:cNvPr id="17" name="Shape 13"/>
          <p:cNvSpPr/>
          <p:nvPr/>
        </p:nvSpPr>
        <p:spPr>
          <a:xfrm>
            <a:off x="256032" y="3218688"/>
            <a:ext cx="2029968" cy="475488"/>
          </a:xfrm>
          <a:prstGeom prst="rect">
            <a:avLst/>
          </a:prstGeom>
          <a:solidFill>
            <a:srgbClr val="FFFFFF"/>
          </a:solidFill>
          <a:ln w="6350">
            <a:solidFill>
              <a:srgbClr val="E0D8F0"/>
            </a:solidFill>
            <a:prstDash val="solid"/>
          </a:ln>
        </p:spPr>
      </p:sp>
      <p:sp>
        <p:nvSpPr>
          <p:cNvPr id="18" name="Text 14"/>
          <p:cNvSpPr/>
          <p:nvPr/>
        </p:nvSpPr>
        <p:spPr>
          <a:xfrm>
            <a:off x="365760" y="3218688"/>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Estado: borrador / activo / cerrado</a:t>
            </a:r>
            <a:endParaRPr lang="en-US" sz="850" dirty="0"/>
          </a:p>
        </p:txBody>
      </p:sp>
      <p:sp>
        <p:nvSpPr>
          <p:cNvPr id="19" name="Shape 15"/>
          <p:cNvSpPr/>
          <p:nvPr/>
        </p:nvSpPr>
        <p:spPr>
          <a:xfrm>
            <a:off x="2432304" y="1444752"/>
            <a:ext cx="2029968" cy="3246120"/>
          </a:xfrm>
          <a:prstGeom prst="rect">
            <a:avLst/>
          </a:prstGeom>
          <a:solidFill>
            <a:srgbClr val="2A1050"/>
          </a:solidFill>
          <a:ln w="12700">
            <a:solidFill>
              <a:srgbClr val="5C2D9E"/>
            </a:solidFill>
            <a:prstDash val="solid"/>
          </a:ln>
        </p:spPr>
      </p:sp>
      <p:sp>
        <p:nvSpPr>
          <p:cNvPr id="20" name="Shape 16"/>
          <p:cNvSpPr/>
          <p:nvPr/>
        </p:nvSpPr>
        <p:spPr>
          <a:xfrm>
            <a:off x="2432304" y="1444752"/>
            <a:ext cx="2029968" cy="347472"/>
          </a:xfrm>
          <a:prstGeom prst="rect">
            <a:avLst/>
          </a:prstGeom>
          <a:solidFill>
            <a:srgbClr val="5C2D9E"/>
          </a:solidFill>
          <a:ln w="12700">
            <a:solidFill>
              <a:srgbClr val="5C2D9E"/>
            </a:solidFill>
            <a:prstDash val="solid"/>
          </a:ln>
        </p:spPr>
      </p:sp>
      <p:pic>
        <p:nvPicPr>
          <p:cNvPr id="21" name="Image 2" descr="preencoded.png"/>
          <p:cNvPicPr>
            <a:picLocks noChangeAspect="1"/>
          </p:cNvPicPr>
          <p:nvPr/>
        </p:nvPicPr>
        <p:blipFill>
          <a:blip r:embed="rId5"/>
          <a:stretch>
            <a:fillRect/>
          </a:stretch>
        </p:blipFill>
        <p:spPr>
          <a:xfrm>
            <a:off x="2505456" y="1481328"/>
            <a:ext cx="274320" cy="274320"/>
          </a:xfrm>
          <a:prstGeom prst="rect">
            <a:avLst/>
          </a:prstGeom>
        </p:spPr>
      </p:pic>
      <p:sp>
        <p:nvSpPr>
          <p:cNvPr id="22" name="Text 17"/>
          <p:cNvSpPr/>
          <p:nvPr/>
        </p:nvSpPr>
        <p:spPr>
          <a:xfrm>
            <a:off x="2852928" y="1444752"/>
            <a:ext cx="1572768" cy="347472"/>
          </a:xfrm>
          <a:prstGeom prst="rect">
            <a:avLst/>
          </a:prstGeom>
          <a:noFill/>
          <a:ln/>
        </p:spPr>
        <p:txBody>
          <a:bodyPr wrap="square" lIns="0" tIns="0" rIns="0" bIns="0" rtlCol="0" anchor="ctr"/>
          <a:lstStyle/>
          <a:p>
            <a:pPr marL="0" indent="0">
              <a:buNone/>
            </a:pPr>
            <a:r>
              <a:rPr lang="en-US" sz="950" b="1" dirty="0">
                <a:solidFill>
                  <a:srgbClr val="F5A623"/>
                </a:solidFill>
                <a:latin typeface="Consolas" pitchFamily="34" charset="0"/>
                <a:ea typeface="Consolas" pitchFamily="34" charset="-122"/>
                <a:cs typeface="Consolas" pitchFamily="34" charset="-120"/>
              </a:rPr>
              <a:t>StallProduct</a:t>
            </a:r>
            <a:endParaRPr lang="en-US" sz="950" dirty="0"/>
          </a:p>
        </p:txBody>
      </p:sp>
      <p:sp>
        <p:nvSpPr>
          <p:cNvPr id="23" name="Shape 18"/>
          <p:cNvSpPr/>
          <p:nvPr/>
        </p:nvSpPr>
        <p:spPr>
          <a:xfrm>
            <a:off x="2432304" y="1792224"/>
            <a:ext cx="2029968" cy="475488"/>
          </a:xfrm>
          <a:prstGeom prst="rect">
            <a:avLst/>
          </a:prstGeom>
          <a:solidFill>
            <a:srgbClr val="F7F5FB"/>
          </a:solidFill>
          <a:ln w="6350">
            <a:solidFill>
              <a:srgbClr val="E0D8F0"/>
            </a:solidFill>
            <a:prstDash val="solid"/>
          </a:ln>
        </p:spPr>
      </p:sp>
      <p:sp>
        <p:nvSpPr>
          <p:cNvPr id="24" name="Text 19"/>
          <p:cNvSpPr/>
          <p:nvPr/>
        </p:nvSpPr>
        <p:spPr>
          <a:xfrm>
            <a:off x="2542032" y="1792224"/>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Nombre del producto</a:t>
            </a:r>
            <a:endParaRPr lang="en-US" sz="850" dirty="0"/>
          </a:p>
        </p:txBody>
      </p:sp>
      <p:sp>
        <p:nvSpPr>
          <p:cNvPr id="25" name="Shape 20"/>
          <p:cNvSpPr/>
          <p:nvPr/>
        </p:nvSpPr>
        <p:spPr>
          <a:xfrm>
            <a:off x="2432304" y="2267712"/>
            <a:ext cx="2029968" cy="475488"/>
          </a:xfrm>
          <a:prstGeom prst="rect">
            <a:avLst/>
          </a:prstGeom>
          <a:solidFill>
            <a:srgbClr val="FFFFFF"/>
          </a:solidFill>
          <a:ln w="6350">
            <a:solidFill>
              <a:srgbClr val="E0D8F0"/>
            </a:solidFill>
            <a:prstDash val="solid"/>
          </a:ln>
        </p:spPr>
      </p:sp>
      <p:sp>
        <p:nvSpPr>
          <p:cNvPr id="26" name="Text 21"/>
          <p:cNvSpPr/>
          <p:nvPr/>
        </p:nvSpPr>
        <p:spPr>
          <a:xfrm>
            <a:off x="2542032" y="2267712"/>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Precio en UCoins</a:t>
            </a:r>
            <a:endParaRPr lang="en-US" sz="850" dirty="0"/>
          </a:p>
        </p:txBody>
      </p:sp>
      <p:sp>
        <p:nvSpPr>
          <p:cNvPr id="27" name="Shape 22"/>
          <p:cNvSpPr/>
          <p:nvPr/>
        </p:nvSpPr>
        <p:spPr>
          <a:xfrm>
            <a:off x="2432304" y="2743200"/>
            <a:ext cx="2029968" cy="475488"/>
          </a:xfrm>
          <a:prstGeom prst="rect">
            <a:avLst/>
          </a:prstGeom>
          <a:solidFill>
            <a:srgbClr val="F7F5FB"/>
          </a:solidFill>
          <a:ln w="6350">
            <a:solidFill>
              <a:srgbClr val="E0D8F0"/>
            </a:solidFill>
            <a:prstDash val="solid"/>
          </a:ln>
        </p:spPr>
      </p:sp>
      <p:sp>
        <p:nvSpPr>
          <p:cNvPr id="28" name="Text 23"/>
          <p:cNvSpPr/>
          <p:nvPr/>
        </p:nvSpPr>
        <p:spPr>
          <a:xfrm>
            <a:off x="2542032" y="2743200"/>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Stock disponible</a:t>
            </a:r>
            <a:endParaRPr lang="en-US" sz="850" dirty="0"/>
          </a:p>
        </p:txBody>
      </p:sp>
      <p:sp>
        <p:nvSpPr>
          <p:cNvPr id="29" name="Shape 24"/>
          <p:cNvSpPr/>
          <p:nvPr/>
        </p:nvSpPr>
        <p:spPr>
          <a:xfrm>
            <a:off x="2432304" y="3218688"/>
            <a:ext cx="2029968" cy="475488"/>
          </a:xfrm>
          <a:prstGeom prst="rect">
            <a:avLst/>
          </a:prstGeom>
          <a:solidFill>
            <a:srgbClr val="FFFFFF"/>
          </a:solidFill>
          <a:ln w="6350">
            <a:solidFill>
              <a:srgbClr val="E0D8F0"/>
            </a:solidFill>
            <a:prstDash val="solid"/>
          </a:ln>
        </p:spPr>
      </p:sp>
      <p:sp>
        <p:nvSpPr>
          <p:cNvPr id="30" name="Text 25"/>
          <p:cNvSpPr/>
          <p:nvPr/>
        </p:nvSpPr>
        <p:spPr>
          <a:xfrm>
            <a:off x="2542032" y="3218688"/>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Umbral de bajo inventario (15%)</a:t>
            </a:r>
            <a:endParaRPr lang="en-US" sz="850" dirty="0"/>
          </a:p>
        </p:txBody>
      </p:sp>
      <p:sp>
        <p:nvSpPr>
          <p:cNvPr id="31" name="Shape 26"/>
          <p:cNvSpPr/>
          <p:nvPr/>
        </p:nvSpPr>
        <p:spPr>
          <a:xfrm>
            <a:off x="4608576" y="1444752"/>
            <a:ext cx="2029968" cy="3246120"/>
          </a:xfrm>
          <a:prstGeom prst="rect">
            <a:avLst/>
          </a:prstGeom>
          <a:solidFill>
            <a:srgbClr val="2A1050"/>
          </a:solidFill>
          <a:ln w="12700">
            <a:solidFill>
              <a:srgbClr val="5C2D9E"/>
            </a:solidFill>
            <a:prstDash val="solid"/>
          </a:ln>
        </p:spPr>
      </p:sp>
      <p:sp>
        <p:nvSpPr>
          <p:cNvPr id="32" name="Shape 27"/>
          <p:cNvSpPr/>
          <p:nvPr/>
        </p:nvSpPr>
        <p:spPr>
          <a:xfrm>
            <a:off x="4608576" y="1444752"/>
            <a:ext cx="2029968" cy="347472"/>
          </a:xfrm>
          <a:prstGeom prst="rect">
            <a:avLst/>
          </a:prstGeom>
          <a:solidFill>
            <a:srgbClr val="5C2D9E"/>
          </a:solidFill>
          <a:ln w="12700">
            <a:solidFill>
              <a:srgbClr val="5C2D9E"/>
            </a:solidFill>
            <a:prstDash val="solid"/>
          </a:ln>
        </p:spPr>
      </p:sp>
      <p:pic>
        <p:nvPicPr>
          <p:cNvPr id="33" name="Image 3" descr="preencoded.png"/>
          <p:cNvPicPr>
            <a:picLocks noChangeAspect="1"/>
          </p:cNvPicPr>
          <p:nvPr/>
        </p:nvPicPr>
        <p:blipFill>
          <a:blip r:embed="rId6"/>
          <a:stretch>
            <a:fillRect/>
          </a:stretch>
        </p:blipFill>
        <p:spPr>
          <a:xfrm>
            <a:off x="4681728" y="1481328"/>
            <a:ext cx="274320" cy="274320"/>
          </a:xfrm>
          <a:prstGeom prst="rect">
            <a:avLst/>
          </a:prstGeom>
        </p:spPr>
      </p:pic>
      <p:sp>
        <p:nvSpPr>
          <p:cNvPr id="34" name="Text 28"/>
          <p:cNvSpPr/>
          <p:nvPr/>
        </p:nvSpPr>
        <p:spPr>
          <a:xfrm>
            <a:off x="5029200" y="1444752"/>
            <a:ext cx="1572768" cy="347472"/>
          </a:xfrm>
          <a:prstGeom prst="rect">
            <a:avLst/>
          </a:prstGeom>
          <a:noFill/>
          <a:ln/>
        </p:spPr>
        <p:txBody>
          <a:bodyPr wrap="square" lIns="0" tIns="0" rIns="0" bIns="0" rtlCol="0" anchor="ctr"/>
          <a:lstStyle/>
          <a:p>
            <a:pPr marL="0" indent="0">
              <a:buNone/>
            </a:pPr>
            <a:r>
              <a:rPr lang="en-US" sz="950" b="1" dirty="0">
                <a:solidFill>
                  <a:srgbClr val="F5A623"/>
                </a:solidFill>
                <a:latin typeface="Consolas" pitchFamily="34" charset="0"/>
                <a:ea typeface="Consolas" pitchFamily="34" charset="-122"/>
                <a:cs typeface="Consolas" pitchFamily="34" charset="-120"/>
              </a:rPr>
              <a:t>SalesOrder</a:t>
            </a:r>
            <a:endParaRPr lang="en-US" sz="950" dirty="0"/>
          </a:p>
        </p:txBody>
      </p:sp>
      <p:sp>
        <p:nvSpPr>
          <p:cNvPr id="35" name="Shape 29"/>
          <p:cNvSpPr/>
          <p:nvPr/>
        </p:nvSpPr>
        <p:spPr>
          <a:xfrm>
            <a:off x="4608576" y="1792224"/>
            <a:ext cx="2029968" cy="475488"/>
          </a:xfrm>
          <a:prstGeom prst="rect">
            <a:avLst/>
          </a:prstGeom>
          <a:solidFill>
            <a:srgbClr val="F7F5FB"/>
          </a:solidFill>
          <a:ln w="6350">
            <a:solidFill>
              <a:srgbClr val="E0D8F0"/>
            </a:solidFill>
            <a:prstDash val="solid"/>
          </a:ln>
        </p:spPr>
      </p:sp>
      <p:sp>
        <p:nvSpPr>
          <p:cNvPr id="36" name="Text 30"/>
          <p:cNvSpPr/>
          <p:nvPr/>
        </p:nvSpPr>
        <p:spPr>
          <a:xfrm>
            <a:off x="4718304" y="1792224"/>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Cliente que compró</a:t>
            </a:r>
            <a:endParaRPr lang="en-US" sz="850" dirty="0"/>
          </a:p>
        </p:txBody>
      </p:sp>
      <p:sp>
        <p:nvSpPr>
          <p:cNvPr id="37" name="Shape 31"/>
          <p:cNvSpPr/>
          <p:nvPr/>
        </p:nvSpPr>
        <p:spPr>
          <a:xfrm>
            <a:off x="4608576" y="2267712"/>
            <a:ext cx="2029968" cy="475488"/>
          </a:xfrm>
          <a:prstGeom prst="rect">
            <a:avLst/>
          </a:prstGeom>
          <a:solidFill>
            <a:srgbClr val="FFFFFF"/>
          </a:solidFill>
          <a:ln w="6350">
            <a:solidFill>
              <a:srgbClr val="E0D8F0"/>
            </a:solidFill>
            <a:prstDash val="solid"/>
          </a:ln>
        </p:spPr>
      </p:sp>
      <p:sp>
        <p:nvSpPr>
          <p:cNvPr id="38" name="Text 32"/>
          <p:cNvSpPr/>
          <p:nvPr/>
        </p:nvSpPr>
        <p:spPr>
          <a:xfrm>
            <a:off x="4718304" y="2267712"/>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Puesto donde compró</a:t>
            </a:r>
            <a:endParaRPr lang="en-US" sz="850" dirty="0"/>
          </a:p>
        </p:txBody>
      </p:sp>
      <p:sp>
        <p:nvSpPr>
          <p:cNvPr id="39" name="Shape 33"/>
          <p:cNvSpPr/>
          <p:nvPr/>
        </p:nvSpPr>
        <p:spPr>
          <a:xfrm>
            <a:off x="4608576" y="2743200"/>
            <a:ext cx="2029968" cy="475488"/>
          </a:xfrm>
          <a:prstGeom prst="rect">
            <a:avLst/>
          </a:prstGeom>
          <a:solidFill>
            <a:srgbClr val="F7F5FB"/>
          </a:solidFill>
          <a:ln w="6350">
            <a:solidFill>
              <a:srgbClr val="E0D8F0"/>
            </a:solidFill>
            <a:prstDash val="solid"/>
          </a:ln>
        </p:spPr>
      </p:sp>
      <p:sp>
        <p:nvSpPr>
          <p:cNvPr id="40" name="Text 34"/>
          <p:cNvSpPr/>
          <p:nvPr/>
        </p:nvSpPr>
        <p:spPr>
          <a:xfrm>
            <a:off x="4718304" y="2743200"/>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Total en UCoins</a:t>
            </a:r>
            <a:endParaRPr lang="en-US" sz="850" dirty="0"/>
          </a:p>
        </p:txBody>
      </p:sp>
      <p:sp>
        <p:nvSpPr>
          <p:cNvPr id="41" name="Shape 35"/>
          <p:cNvSpPr/>
          <p:nvPr/>
        </p:nvSpPr>
        <p:spPr>
          <a:xfrm>
            <a:off x="4608576" y="3218688"/>
            <a:ext cx="2029968" cy="475488"/>
          </a:xfrm>
          <a:prstGeom prst="rect">
            <a:avLst/>
          </a:prstGeom>
          <a:solidFill>
            <a:srgbClr val="FFFFFF"/>
          </a:solidFill>
          <a:ln w="6350">
            <a:solidFill>
              <a:srgbClr val="E0D8F0"/>
            </a:solidFill>
            <a:prstDash val="solid"/>
          </a:ln>
        </p:spPr>
      </p:sp>
      <p:sp>
        <p:nvSpPr>
          <p:cNvPr id="42" name="Text 36"/>
          <p:cNvSpPr/>
          <p:nvPr/>
        </p:nvSpPr>
        <p:spPr>
          <a:xfrm>
            <a:off x="4718304" y="3218688"/>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Estado: pagado → entregado</a:t>
            </a:r>
            <a:endParaRPr lang="en-US" sz="850" dirty="0"/>
          </a:p>
        </p:txBody>
      </p:sp>
      <p:sp>
        <p:nvSpPr>
          <p:cNvPr id="43" name="Shape 37"/>
          <p:cNvSpPr/>
          <p:nvPr/>
        </p:nvSpPr>
        <p:spPr>
          <a:xfrm>
            <a:off x="6784848" y="1444752"/>
            <a:ext cx="2029968" cy="3246120"/>
          </a:xfrm>
          <a:prstGeom prst="rect">
            <a:avLst/>
          </a:prstGeom>
          <a:solidFill>
            <a:srgbClr val="2A1050"/>
          </a:solidFill>
          <a:ln w="12700">
            <a:solidFill>
              <a:srgbClr val="5C2D9E"/>
            </a:solidFill>
            <a:prstDash val="solid"/>
          </a:ln>
        </p:spPr>
      </p:sp>
      <p:sp>
        <p:nvSpPr>
          <p:cNvPr id="44" name="Shape 38"/>
          <p:cNvSpPr/>
          <p:nvPr/>
        </p:nvSpPr>
        <p:spPr>
          <a:xfrm>
            <a:off x="6784848" y="1444752"/>
            <a:ext cx="2029968" cy="347472"/>
          </a:xfrm>
          <a:prstGeom prst="rect">
            <a:avLst/>
          </a:prstGeom>
          <a:solidFill>
            <a:srgbClr val="5C2D9E"/>
          </a:solidFill>
          <a:ln w="12700">
            <a:solidFill>
              <a:srgbClr val="5C2D9E"/>
            </a:solidFill>
            <a:prstDash val="solid"/>
          </a:ln>
        </p:spPr>
      </p:sp>
      <p:pic>
        <p:nvPicPr>
          <p:cNvPr id="45" name="Image 4" descr="preencoded.png"/>
          <p:cNvPicPr>
            <a:picLocks noChangeAspect="1"/>
          </p:cNvPicPr>
          <p:nvPr/>
        </p:nvPicPr>
        <p:blipFill>
          <a:blip r:embed="rId7"/>
          <a:stretch>
            <a:fillRect/>
          </a:stretch>
        </p:blipFill>
        <p:spPr>
          <a:xfrm>
            <a:off x="6858000" y="1481328"/>
            <a:ext cx="274320" cy="274320"/>
          </a:xfrm>
          <a:prstGeom prst="rect">
            <a:avLst/>
          </a:prstGeom>
        </p:spPr>
      </p:pic>
      <p:sp>
        <p:nvSpPr>
          <p:cNvPr id="46" name="Text 39"/>
          <p:cNvSpPr/>
          <p:nvPr/>
        </p:nvSpPr>
        <p:spPr>
          <a:xfrm>
            <a:off x="7205472" y="1444752"/>
            <a:ext cx="1572768" cy="347472"/>
          </a:xfrm>
          <a:prstGeom prst="rect">
            <a:avLst/>
          </a:prstGeom>
          <a:noFill/>
          <a:ln/>
        </p:spPr>
        <p:txBody>
          <a:bodyPr wrap="square" lIns="0" tIns="0" rIns="0" bIns="0" rtlCol="0" anchor="ctr"/>
          <a:lstStyle/>
          <a:p>
            <a:pPr marL="0" indent="0">
              <a:buNone/>
            </a:pPr>
            <a:r>
              <a:rPr lang="en-US" sz="950" b="1" dirty="0">
                <a:solidFill>
                  <a:srgbClr val="F5A623"/>
                </a:solidFill>
                <a:latin typeface="Consolas" pitchFamily="34" charset="0"/>
                <a:ea typeface="Consolas" pitchFamily="34" charset="-122"/>
                <a:cs typeface="Consolas" pitchFamily="34" charset="-120"/>
              </a:rPr>
              <a:t>LedgerTransaction</a:t>
            </a:r>
            <a:endParaRPr lang="en-US" sz="950" dirty="0"/>
          </a:p>
        </p:txBody>
      </p:sp>
      <p:sp>
        <p:nvSpPr>
          <p:cNvPr id="47" name="Shape 40"/>
          <p:cNvSpPr/>
          <p:nvPr/>
        </p:nvSpPr>
        <p:spPr>
          <a:xfrm>
            <a:off x="6784848" y="1792224"/>
            <a:ext cx="2029968" cy="475488"/>
          </a:xfrm>
          <a:prstGeom prst="rect">
            <a:avLst/>
          </a:prstGeom>
          <a:solidFill>
            <a:srgbClr val="F7F5FB"/>
          </a:solidFill>
          <a:ln w="6350">
            <a:solidFill>
              <a:srgbClr val="E0D8F0"/>
            </a:solidFill>
            <a:prstDash val="solid"/>
          </a:ln>
        </p:spPr>
      </p:sp>
      <p:sp>
        <p:nvSpPr>
          <p:cNvPr id="48" name="Text 41"/>
          <p:cNvSpPr/>
          <p:nvPr/>
        </p:nvSpPr>
        <p:spPr>
          <a:xfrm>
            <a:off x="6894576" y="1792224"/>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Tipo de movimiento</a:t>
            </a:r>
            <a:endParaRPr lang="en-US" sz="850" dirty="0"/>
          </a:p>
        </p:txBody>
      </p:sp>
      <p:sp>
        <p:nvSpPr>
          <p:cNvPr id="49" name="Shape 42"/>
          <p:cNvSpPr/>
          <p:nvPr/>
        </p:nvSpPr>
        <p:spPr>
          <a:xfrm>
            <a:off x="6784848" y="2267712"/>
            <a:ext cx="2029968" cy="475488"/>
          </a:xfrm>
          <a:prstGeom prst="rect">
            <a:avLst/>
          </a:prstGeom>
          <a:solidFill>
            <a:srgbClr val="FFFFFF"/>
          </a:solidFill>
          <a:ln w="6350">
            <a:solidFill>
              <a:srgbClr val="E0D8F0"/>
            </a:solidFill>
            <a:prstDash val="solid"/>
          </a:ln>
        </p:spPr>
      </p:sp>
      <p:sp>
        <p:nvSpPr>
          <p:cNvPr id="50" name="Text 43"/>
          <p:cNvSpPr/>
          <p:nvPr/>
        </p:nvSpPr>
        <p:spPr>
          <a:xfrm>
            <a:off x="6894576" y="2267712"/>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Llave única anti-duplicados</a:t>
            </a:r>
            <a:endParaRPr lang="en-US" sz="850" dirty="0"/>
          </a:p>
        </p:txBody>
      </p:sp>
      <p:sp>
        <p:nvSpPr>
          <p:cNvPr id="51" name="Shape 44"/>
          <p:cNvSpPr/>
          <p:nvPr/>
        </p:nvSpPr>
        <p:spPr>
          <a:xfrm>
            <a:off x="6784848" y="2743200"/>
            <a:ext cx="2029968" cy="475488"/>
          </a:xfrm>
          <a:prstGeom prst="rect">
            <a:avLst/>
          </a:prstGeom>
          <a:solidFill>
            <a:srgbClr val="F7F5FB"/>
          </a:solidFill>
          <a:ln w="6350">
            <a:solidFill>
              <a:srgbClr val="E0D8F0"/>
            </a:solidFill>
            <a:prstDash val="solid"/>
          </a:ln>
        </p:spPr>
      </p:sp>
      <p:sp>
        <p:nvSpPr>
          <p:cNvPr id="52" name="Text 45"/>
          <p:cNvSpPr/>
          <p:nvPr/>
        </p:nvSpPr>
        <p:spPr>
          <a:xfrm>
            <a:off x="6894576" y="2743200"/>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Referencia al objeto relacionado</a:t>
            </a:r>
            <a:endParaRPr lang="en-US" sz="850" dirty="0"/>
          </a:p>
        </p:txBody>
      </p:sp>
      <p:sp>
        <p:nvSpPr>
          <p:cNvPr id="53" name="Shape 46"/>
          <p:cNvSpPr/>
          <p:nvPr/>
        </p:nvSpPr>
        <p:spPr>
          <a:xfrm>
            <a:off x="6784848" y="3218688"/>
            <a:ext cx="2029968" cy="475488"/>
          </a:xfrm>
          <a:prstGeom prst="rect">
            <a:avLst/>
          </a:prstGeom>
          <a:solidFill>
            <a:srgbClr val="FFFFFF"/>
          </a:solidFill>
          <a:ln w="6350">
            <a:solidFill>
              <a:srgbClr val="E0D8F0"/>
            </a:solidFill>
            <a:prstDash val="solid"/>
          </a:ln>
        </p:spPr>
      </p:sp>
      <p:sp>
        <p:nvSpPr>
          <p:cNvPr id="54" name="Text 47"/>
          <p:cNvSpPr/>
          <p:nvPr/>
        </p:nvSpPr>
        <p:spPr>
          <a:xfrm>
            <a:off x="6894576" y="3218688"/>
            <a:ext cx="1828800" cy="475488"/>
          </a:xfrm>
          <a:prstGeom prst="rect">
            <a:avLst/>
          </a:prstGeom>
          <a:noFill/>
          <a:ln/>
        </p:spPr>
        <p:txBody>
          <a:bodyPr wrap="square" lIns="0" tIns="0" rIns="0" bIns="0" rtlCol="0" anchor="ctr"/>
          <a:lstStyle/>
          <a:p>
            <a:pPr marL="0" indent="0">
              <a:buNone/>
            </a:pPr>
            <a:r>
              <a:rPr lang="en-US" sz="850" dirty="0">
                <a:solidFill>
                  <a:srgbClr val="222222"/>
                </a:solidFill>
                <a:latin typeface="Calibri" pitchFamily="34" charset="0"/>
                <a:ea typeface="Calibri" pitchFamily="34" charset="-122"/>
                <a:cs typeface="Calibri" pitchFamily="34" charset="-120"/>
              </a:rPr>
              <a:t>· Estado: registrado / anulado</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3D1A6E"/>
          </a:solidFill>
          <a:ln w="12700">
            <a:solidFill>
              <a:srgbClr val="3D1A6E"/>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F5A623"/>
                </a:solidFill>
                <a:latin typeface="Calibri" pitchFamily="34" charset="0"/>
                <a:ea typeface="Calibri" pitchFamily="34" charset="-122"/>
                <a:cs typeface="Calibri" pitchFamily="34" charset="-120"/>
              </a:rPr>
              <a:t>SISTEMA DE ROLES Y PERMISOS</a:t>
            </a:r>
            <a:endParaRPr lang="en-US" sz="900" dirty="0"/>
          </a:p>
        </p:txBody>
      </p:sp>
      <p:sp>
        <p:nvSpPr>
          <p:cNvPr id="5" name="Text 2"/>
          <p:cNvSpPr/>
          <p:nvPr/>
        </p:nvSpPr>
        <p:spPr>
          <a:xfrm>
            <a:off x="457200" y="502920"/>
            <a:ext cx="8229600" cy="594360"/>
          </a:xfrm>
          <a:prstGeom prst="rect">
            <a:avLst/>
          </a:prstGeom>
          <a:noFill/>
          <a:ln/>
        </p:spPr>
        <p:txBody>
          <a:bodyPr wrap="square" lIns="0" tIns="0" rIns="0" bIns="0" rtlCol="0" anchor="ctr"/>
          <a:lstStyle/>
          <a:p>
            <a:pPr marL="0" indent="0" algn="ctr">
              <a:buNone/>
            </a:pPr>
            <a:r>
              <a:rPr lang="en-US" sz="2700" b="1" dirty="0">
                <a:solidFill>
                  <a:srgbClr val="3D1A6E"/>
                </a:solidFill>
                <a:latin typeface="Trebuchet MS" pitchFamily="34" charset="0"/>
                <a:ea typeface="Trebuchet MS" pitchFamily="34" charset="-122"/>
                <a:cs typeface="Trebuchet MS" pitchFamily="34" charset="-120"/>
              </a:rPr>
              <a:t>Cada usuario solo ve y puede hacer lo que le corresponde</a:t>
            </a:r>
            <a:endParaRPr lang="en-US" sz="2700" dirty="0"/>
          </a:p>
        </p:txBody>
      </p:sp>
      <p:sp>
        <p:nvSpPr>
          <p:cNvPr id="6" name="Text 3"/>
          <p:cNvSpPr/>
          <p:nvPr/>
        </p:nvSpPr>
        <p:spPr>
          <a:xfrm>
            <a:off x="384048" y="1225296"/>
            <a:ext cx="4114800" cy="274320"/>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¿Cómo funciona?</a:t>
            </a:r>
            <a:endParaRPr lang="en-US" sz="1200" dirty="0"/>
          </a:p>
        </p:txBody>
      </p:sp>
      <p:sp>
        <p:nvSpPr>
          <p:cNvPr id="7" name="Shape 4"/>
          <p:cNvSpPr/>
          <p:nvPr/>
        </p:nvSpPr>
        <p:spPr>
          <a:xfrm>
            <a:off x="384048" y="1572768"/>
            <a:ext cx="4005072" cy="749808"/>
          </a:xfrm>
          <a:prstGeom prst="rect">
            <a:avLst/>
          </a:prstGeom>
          <a:solidFill>
            <a:srgbClr val="FFFFFF"/>
          </a:solidFill>
          <a:ln/>
          <a:effectLst>
            <a:outerShdw blurRad="88900" dist="38100" dir="8100000" algn="bl" rotWithShape="0">
              <a:srgbClr val="000000">
                <a:alpha val="12000"/>
              </a:srgbClr>
            </a:outerShdw>
          </a:effectLst>
        </p:spPr>
      </p:sp>
      <p:sp>
        <p:nvSpPr>
          <p:cNvPr id="8" name="Shape 5"/>
          <p:cNvSpPr/>
          <p:nvPr/>
        </p:nvSpPr>
        <p:spPr>
          <a:xfrm>
            <a:off x="438912" y="1627632"/>
            <a:ext cx="329184" cy="329184"/>
          </a:xfrm>
          <a:prstGeom prst="ellipse">
            <a:avLst/>
          </a:prstGeom>
          <a:solidFill>
            <a:srgbClr val="F5A623"/>
          </a:solidFill>
          <a:ln w="12700">
            <a:solidFill>
              <a:srgbClr val="F5A623"/>
            </a:solidFill>
            <a:prstDash val="solid"/>
          </a:ln>
        </p:spPr>
      </p:sp>
      <p:sp>
        <p:nvSpPr>
          <p:cNvPr id="9" name="Text 6"/>
          <p:cNvSpPr/>
          <p:nvPr/>
        </p:nvSpPr>
        <p:spPr>
          <a:xfrm>
            <a:off x="438912" y="1645920"/>
            <a:ext cx="329184" cy="292608"/>
          </a:xfrm>
          <a:prstGeom prst="rect">
            <a:avLst/>
          </a:prstGeom>
          <a:noFill/>
          <a:ln/>
        </p:spPr>
        <p:txBody>
          <a:bodyPr wrap="square" lIns="0" tIns="0" rIns="0" bIns="0" rtlCol="0" anchor="ctr"/>
          <a:lstStyle/>
          <a:p>
            <a:pPr marL="0" indent="0" algn="ctr">
              <a:buNone/>
            </a:pPr>
            <a:r>
              <a:rPr lang="en-US" sz="1300" b="1" dirty="0">
                <a:solidFill>
                  <a:srgbClr val="3D1A6E"/>
                </a:solidFill>
                <a:latin typeface="Trebuchet MS" pitchFamily="34" charset="0"/>
                <a:ea typeface="Trebuchet MS" pitchFamily="34" charset="-122"/>
                <a:cs typeface="Trebuchet MS" pitchFamily="34" charset="-120"/>
              </a:rPr>
              <a:t>1</a:t>
            </a:r>
            <a:endParaRPr lang="en-US" sz="1300" dirty="0"/>
          </a:p>
        </p:txBody>
      </p:sp>
      <p:sp>
        <p:nvSpPr>
          <p:cNvPr id="10" name="Text 7"/>
          <p:cNvSpPr/>
          <p:nvPr/>
        </p:nvSpPr>
        <p:spPr>
          <a:xfrm>
            <a:off x="859536" y="1591056"/>
            <a:ext cx="3438144" cy="256032"/>
          </a:xfrm>
          <a:prstGeom prst="rect">
            <a:avLst/>
          </a:prstGeom>
          <a:noFill/>
          <a:ln/>
        </p:spPr>
        <p:txBody>
          <a:bodyPr wrap="square" lIns="0" tIns="0" rIns="0" bIns="0" rtlCol="0" anchor="ctr"/>
          <a:lstStyle/>
          <a:p>
            <a:pPr marL="0" indent="0">
              <a:buNone/>
            </a:pPr>
            <a:r>
              <a:rPr lang="en-US" sz="1100" b="1" dirty="0">
                <a:solidFill>
                  <a:srgbClr val="3D1A6E"/>
                </a:solidFill>
                <a:latin typeface="Trebuchet MS" pitchFamily="34" charset="0"/>
                <a:ea typeface="Trebuchet MS" pitchFamily="34" charset="-122"/>
                <a:cs typeface="Trebuchet MS" pitchFamily="34" charset="-120"/>
              </a:rPr>
              <a:t>El usuario inicia sesión</a:t>
            </a:r>
            <a:endParaRPr lang="en-US" sz="1100" dirty="0"/>
          </a:p>
        </p:txBody>
      </p:sp>
      <p:sp>
        <p:nvSpPr>
          <p:cNvPr id="11" name="Text 8"/>
          <p:cNvSpPr/>
          <p:nvPr/>
        </p:nvSpPr>
        <p:spPr>
          <a:xfrm>
            <a:off x="859536" y="1847088"/>
            <a:ext cx="3438144" cy="402336"/>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El sistema identifica el evento activo y consulta qué rol tiene esa persona en ese evento.</a:t>
            </a:r>
            <a:endParaRPr lang="en-US" sz="950" dirty="0"/>
          </a:p>
        </p:txBody>
      </p:sp>
      <p:sp>
        <p:nvSpPr>
          <p:cNvPr id="12" name="Shape 9"/>
          <p:cNvSpPr/>
          <p:nvPr/>
        </p:nvSpPr>
        <p:spPr>
          <a:xfrm>
            <a:off x="384048" y="2395728"/>
            <a:ext cx="4005072" cy="749808"/>
          </a:xfrm>
          <a:prstGeom prst="rect">
            <a:avLst/>
          </a:prstGeom>
          <a:solidFill>
            <a:srgbClr val="FFFFFF"/>
          </a:solidFill>
          <a:ln/>
          <a:effectLst>
            <a:outerShdw blurRad="88900" dist="38100" dir="8100000" algn="bl" rotWithShape="0">
              <a:srgbClr val="000000">
                <a:alpha val="12000"/>
              </a:srgbClr>
            </a:outerShdw>
          </a:effectLst>
        </p:spPr>
      </p:sp>
      <p:sp>
        <p:nvSpPr>
          <p:cNvPr id="13" name="Shape 10"/>
          <p:cNvSpPr/>
          <p:nvPr/>
        </p:nvSpPr>
        <p:spPr>
          <a:xfrm>
            <a:off x="438912" y="2450592"/>
            <a:ext cx="329184" cy="329184"/>
          </a:xfrm>
          <a:prstGeom prst="ellipse">
            <a:avLst/>
          </a:prstGeom>
          <a:solidFill>
            <a:srgbClr val="F5A623"/>
          </a:solidFill>
          <a:ln w="12700">
            <a:solidFill>
              <a:srgbClr val="F5A623"/>
            </a:solidFill>
            <a:prstDash val="solid"/>
          </a:ln>
        </p:spPr>
      </p:sp>
      <p:sp>
        <p:nvSpPr>
          <p:cNvPr id="14" name="Text 11"/>
          <p:cNvSpPr/>
          <p:nvPr/>
        </p:nvSpPr>
        <p:spPr>
          <a:xfrm>
            <a:off x="438912" y="2468880"/>
            <a:ext cx="329184" cy="292608"/>
          </a:xfrm>
          <a:prstGeom prst="rect">
            <a:avLst/>
          </a:prstGeom>
          <a:noFill/>
          <a:ln/>
        </p:spPr>
        <p:txBody>
          <a:bodyPr wrap="square" lIns="0" tIns="0" rIns="0" bIns="0" rtlCol="0" anchor="ctr"/>
          <a:lstStyle/>
          <a:p>
            <a:pPr marL="0" indent="0" algn="ctr">
              <a:buNone/>
            </a:pPr>
            <a:r>
              <a:rPr lang="en-US" sz="1300" b="1" dirty="0">
                <a:solidFill>
                  <a:srgbClr val="3D1A6E"/>
                </a:solidFill>
                <a:latin typeface="Trebuchet MS" pitchFamily="34" charset="0"/>
                <a:ea typeface="Trebuchet MS" pitchFamily="34" charset="-122"/>
                <a:cs typeface="Trebuchet MS" pitchFamily="34" charset="-120"/>
              </a:rPr>
              <a:t>2</a:t>
            </a:r>
            <a:endParaRPr lang="en-US" sz="1300" dirty="0"/>
          </a:p>
        </p:txBody>
      </p:sp>
      <p:sp>
        <p:nvSpPr>
          <p:cNvPr id="15" name="Text 12"/>
          <p:cNvSpPr/>
          <p:nvPr/>
        </p:nvSpPr>
        <p:spPr>
          <a:xfrm>
            <a:off x="859536" y="2414016"/>
            <a:ext cx="3438144" cy="256032"/>
          </a:xfrm>
          <a:prstGeom prst="rect">
            <a:avLst/>
          </a:prstGeom>
          <a:noFill/>
          <a:ln/>
        </p:spPr>
        <p:txBody>
          <a:bodyPr wrap="square" lIns="0" tIns="0" rIns="0" bIns="0" rtlCol="0" anchor="ctr"/>
          <a:lstStyle/>
          <a:p>
            <a:pPr marL="0" indent="0">
              <a:buNone/>
            </a:pPr>
            <a:r>
              <a:rPr lang="en-US" sz="1100" b="1" dirty="0">
                <a:solidFill>
                  <a:srgbClr val="3D1A6E"/>
                </a:solidFill>
                <a:latin typeface="Trebuchet MS" pitchFamily="34" charset="0"/>
                <a:ea typeface="Trebuchet MS" pitchFamily="34" charset="-122"/>
                <a:cs typeface="Trebuchet MS" pitchFamily="34" charset="-120"/>
              </a:rPr>
              <a:t>Se construye el "snapshot"</a:t>
            </a:r>
            <a:endParaRPr lang="en-US" sz="1100" dirty="0"/>
          </a:p>
        </p:txBody>
      </p:sp>
      <p:sp>
        <p:nvSpPr>
          <p:cNvPr id="16" name="Text 13"/>
          <p:cNvSpPr/>
          <p:nvPr/>
        </p:nvSpPr>
        <p:spPr>
          <a:xfrm>
            <a:off x="859536" y="2670048"/>
            <a:ext cx="3438144" cy="402336"/>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Una fotografía del momento: ¿tiene rol cliente, vendedor o staff? ¿Hay evento activo?</a:t>
            </a:r>
            <a:endParaRPr lang="en-US" sz="950" dirty="0"/>
          </a:p>
        </p:txBody>
      </p:sp>
      <p:sp>
        <p:nvSpPr>
          <p:cNvPr id="17" name="Shape 14"/>
          <p:cNvSpPr/>
          <p:nvPr/>
        </p:nvSpPr>
        <p:spPr>
          <a:xfrm>
            <a:off x="384048" y="3218688"/>
            <a:ext cx="4005072" cy="749808"/>
          </a:xfrm>
          <a:prstGeom prst="rect">
            <a:avLst/>
          </a:prstGeom>
          <a:solidFill>
            <a:srgbClr val="FFFFFF"/>
          </a:solidFill>
          <a:ln/>
          <a:effectLst>
            <a:outerShdw blurRad="88900" dist="38100" dir="8100000" algn="bl" rotWithShape="0">
              <a:srgbClr val="000000">
                <a:alpha val="12000"/>
              </a:srgbClr>
            </a:outerShdw>
          </a:effectLst>
        </p:spPr>
      </p:sp>
      <p:sp>
        <p:nvSpPr>
          <p:cNvPr id="18" name="Shape 15"/>
          <p:cNvSpPr/>
          <p:nvPr/>
        </p:nvSpPr>
        <p:spPr>
          <a:xfrm>
            <a:off x="438912" y="3273552"/>
            <a:ext cx="329184" cy="329184"/>
          </a:xfrm>
          <a:prstGeom prst="ellipse">
            <a:avLst/>
          </a:prstGeom>
          <a:solidFill>
            <a:srgbClr val="F5A623"/>
          </a:solidFill>
          <a:ln w="12700">
            <a:solidFill>
              <a:srgbClr val="F5A623"/>
            </a:solidFill>
            <a:prstDash val="solid"/>
          </a:ln>
        </p:spPr>
      </p:sp>
      <p:sp>
        <p:nvSpPr>
          <p:cNvPr id="19" name="Text 16"/>
          <p:cNvSpPr/>
          <p:nvPr/>
        </p:nvSpPr>
        <p:spPr>
          <a:xfrm>
            <a:off x="438912" y="3291840"/>
            <a:ext cx="329184" cy="292608"/>
          </a:xfrm>
          <a:prstGeom prst="rect">
            <a:avLst/>
          </a:prstGeom>
          <a:noFill/>
          <a:ln/>
        </p:spPr>
        <p:txBody>
          <a:bodyPr wrap="square" lIns="0" tIns="0" rIns="0" bIns="0" rtlCol="0" anchor="ctr"/>
          <a:lstStyle/>
          <a:p>
            <a:pPr marL="0" indent="0" algn="ctr">
              <a:buNone/>
            </a:pPr>
            <a:r>
              <a:rPr lang="en-US" sz="1300" b="1" dirty="0">
                <a:solidFill>
                  <a:srgbClr val="3D1A6E"/>
                </a:solidFill>
                <a:latin typeface="Trebuchet MS" pitchFamily="34" charset="0"/>
                <a:ea typeface="Trebuchet MS" pitchFamily="34" charset="-122"/>
                <a:cs typeface="Trebuchet MS" pitchFamily="34" charset="-120"/>
              </a:rPr>
              <a:t>3</a:t>
            </a:r>
            <a:endParaRPr lang="en-US" sz="1300" dirty="0"/>
          </a:p>
        </p:txBody>
      </p:sp>
      <p:sp>
        <p:nvSpPr>
          <p:cNvPr id="20" name="Text 17"/>
          <p:cNvSpPr/>
          <p:nvPr/>
        </p:nvSpPr>
        <p:spPr>
          <a:xfrm>
            <a:off x="859536" y="3236976"/>
            <a:ext cx="3438144" cy="256032"/>
          </a:xfrm>
          <a:prstGeom prst="rect">
            <a:avLst/>
          </a:prstGeom>
          <a:noFill/>
          <a:ln/>
        </p:spPr>
        <p:txBody>
          <a:bodyPr wrap="square" lIns="0" tIns="0" rIns="0" bIns="0" rtlCol="0" anchor="ctr"/>
          <a:lstStyle/>
          <a:p>
            <a:pPr marL="0" indent="0">
              <a:buNone/>
            </a:pPr>
            <a:r>
              <a:rPr lang="en-US" sz="1100" b="1" dirty="0">
                <a:solidFill>
                  <a:srgbClr val="3D1A6E"/>
                </a:solidFill>
                <a:latin typeface="Trebuchet MS" pitchFamily="34" charset="0"/>
                <a:ea typeface="Trebuchet MS" pitchFamily="34" charset="-122"/>
                <a:cs typeface="Trebuchet MS" pitchFamily="34" charset="-120"/>
              </a:rPr>
              <a:t>Se verifica el permiso</a:t>
            </a:r>
            <a:endParaRPr lang="en-US" sz="1100" dirty="0"/>
          </a:p>
        </p:txBody>
      </p:sp>
      <p:sp>
        <p:nvSpPr>
          <p:cNvPr id="21" name="Text 18"/>
          <p:cNvSpPr/>
          <p:nvPr/>
        </p:nvSpPr>
        <p:spPr>
          <a:xfrm>
            <a:off x="859536" y="3493008"/>
            <a:ext cx="3438144" cy="402336"/>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Antes de mostrar cualquier pantalla, se pregunta: ¿tiene permiso para ver esto? Si no, se redirige.</a:t>
            </a:r>
            <a:endParaRPr lang="en-US" sz="950" dirty="0"/>
          </a:p>
        </p:txBody>
      </p:sp>
      <p:sp>
        <p:nvSpPr>
          <p:cNvPr id="22" name="Shape 19"/>
          <p:cNvSpPr/>
          <p:nvPr/>
        </p:nvSpPr>
        <p:spPr>
          <a:xfrm>
            <a:off x="384048" y="4041648"/>
            <a:ext cx="4005072" cy="749808"/>
          </a:xfrm>
          <a:prstGeom prst="rect">
            <a:avLst/>
          </a:prstGeom>
          <a:solidFill>
            <a:srgbClr val="FFFFFF"/>
          </a:solidFill>
          <a:ln/>
          <a:effectLst>
            <a:outerShdw blurRad="88900" dist="38100" dir="8100000" algn="bl" rotWithShape="0">
              <a:srgbClr val="000000">
                <a:alpha val="12000"/>
              </a:srgbClr>
            </a:outerShdw>
          </a:effectLst>
        </p:spPr>
      </p:sp>
      <p:sp>
        <p:nvSpPr>
          <p:cNvPr id="23" name="Shape 20"/>
          <p:cNvSpPr/>
          <p:nvPr/>
        </p:nvSpPr>
        <p:spPr>
          <a:xfrm>
            <a:off x="438912" y="4096512"/>
            <a:ext cx="329184" cy="329184"/>
          </a:xfrm>
          <a:prstGeom prst="ellipse">
            <a:avLst/>
          </a:prstGeom>
          <a:solidFill>
            <a:srgbClr val="F5A623"/>
          </a:solidFill>
          <a:ln w="12700">
            <a:solidFill>
              <a:srgbClr val="F5A623"/>
            </a:solidFill>
            <a:prstDash val="solid"/>
          </a:ln>
        </p:spPr>
      </p:sp>
      <p:sp>
        <p:nvSpPr>
          <p:cNvPr id="24" name="Text 21"/>
          <p:cNvSpPr/>
          <p:nvPr/>
        </p:nvSpPr>
        <p:spPr>
          <a:xfrm>
            <a:off x="438912" y="4114800"/>
            <a:ext cx="329184" cy="292608"/>
          </a:xfrm>
          <a:prstGeom prst="rect">
            <a:avLst/>
          </a:prstGeom>
          <a:noFill/>
          <a:ln/>
        </p:spPr>
        <p:txBody>
          <a:bodyPr wrap="square" lIns="0" tIns="0" rIns="0" bIns="0" rtlCol="0" anchor="ctr"/>
          <a:lstStyle/>
          <a:p>
            <a:pPr marL="0" indent="0" algn="ctr">
              <a:buNone/>
            </a:pPr>
            <a:r>
              <a:rPr lang="en-US" sz="1300" b="1" dirty="0">
                <a:solidFill>
                  <a:srgbClr val="3D1A6E"/>
                </a:solidFill>
                <a:latin typeface="Trebuchet MS" pitchFamily="34" charset="0"/>
                <a:ea typeface="Trebuchet MS" pitchFamily="34" charset="-122"/>
                <a:cs typeface="Trebuchet MS" pitchFamily="34" charset="-120"/>
              </a:rPr>
              <a:t>4</a:t>
            </a:r>
            <a:endParaRPr lang="en-US" sz="1300" dirty="0"/>
          </a:p>
        </p:txBody>
      </p:sp>
      <p:sp>
        <p:nvSpPr>
          <p:cNvPr id="25" name="Text 22"/>
          <p:cNvSpPr/>
          <p:nvPr/>
        </p:nvSpPr>
        <p:spPr>
          <a:xfrm>
            <a:off x="859536" y="4059936"/>
            <a:ext cx="3438144" cy="256032"/>
          </a:xfrm>
          <a:prstGeom prst="rect">
            <a:avLst/>
          </a:prstGeom>
          <a:noFill/>
          <a:ln/>
        </p:spPr>
        <p:txBody>
          <a:bodyPr wrap="square" lIns="0" tIns="0" rIns="0" bIns="0" rtlCol="0" anchor="ctr"/>
          <a:lstStyle/>
          <a:p>
            <a:pPr marL="0" indent="0">
              <a:buNone/>
            </a:pPr>
            <a:r>
              <a:rPr lang="en-US" sz="1100" b="1" dirty="0">
                <a:solidFill>
                  <a:srgbClr val="3D1A6E"/>
                </a:solidFill>
                <a:latin typeface="Trebuchet MS" pitchFamily="34" charset="0"/>
                <a:ea typeface="Trebuchet MS" pitchFamily="34" charset="-122"/>
                <a:cs typeface="Trebuchet MS" pitchFamily="34" charset="-120"/>
              </a:rPr>
              <a:t>Se muestra la pantalla correcta</a:t>
            </a:r>
            <a:endParaRPr lang="en-US" sz="1100" dirty="0"/>
          </a:p>
        </p:txBody>
      </p:sp>
      <p:sp>
        <p:nvSpPr>
          <p:cNvPr id="26" name="Text 23"/>
          <p:cNvSpPr/>
          <p:nvPr/>
        </p:nvSpPr>
        <p:spPr>
          <a:xfrm>
            <a:off x="859536" y="4315968"/>
            <a:ext cx="3438144" cy="402336"/>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Cliente → /cliente/  ·  Vendedor → /vendedor/  ·  Staff → /staff/</a:t>
            </a:r>
            <a:endParaRPr lang="en-US" sz="950" dirty="0"/>
          </a:p>
        </p:txBody>
      </p:sp>
      <p:sp>
        <p:nvSpPr>
          <p:cNvPr id="27" name="Text 24"/>
          <p:cNvSpPr/>
          <p:nvPr/>
        </p:nvSpPr>
        <p:spPr>
          <a:xfrm>
            <a:off x="4663440" y="1225296"/>
            <a:ext cx="4206240" cy="274320"/>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¿Qué puede hacer cada rol?</a:t>
            </a:r>
            <a:endParaRPr lang="en-US" sz="1200" dirty="0"/>
          </a:p>
        </p:txBody>
      </p:sp>
      <p:sp>
        <p:nvSpPr>
          <p:cNvPr id="28" name="Shape 25"/>
          <p:cNvSpPr/>
          <p:nvPr/>
        </p:nvSpPr>
        <p:spPr>
          <a:xfrm>
            <a:off x="4663440" y="1536192"/>
            <a:ext cx="2286000" cy="256032"/>
          </a:xfrm>
          <a:prstGeom prst="rect">
            <a:avLst/>
          </a:prstGeom>
          <a:solidFill>
            <a:srgbClr val="3D1A6E"/>
          </a:solidFill>
          <a:ln w="6350">
            <a:solidFill>
              <a:srgbClr val="CCCCCC"/>
            </a:solidFill>
            <a:prstDash val="solid"/>
          </a:ln>
        </p:spPr>
      </p:sp>
      <p:sp>
        <p:nvSpPr>
          <p:cNvPr id="29" name="Text 26"/>
          <p:cNvSpPr/>
          <p:nvPr/>
        </p:nvSpPr>
        <p:spPr>
          <a:xfrm>
            <a:off x="4736592" y="1545336"/>
            <a:ext cx="2176272"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Acción</a:t>
            </a:r>
            <a:endParaRPr lang="en-US" sz="900" dirty="0"/>
          </a:p>
        </p:txBody>
      </p:sp>
      <p:sp>
        <p:nvSpPr>
          <p:cNvPr id="30" name="Shape 27"/>
          <p:cNvSpPr/>
          <p:nvPr/>
        </p:nvSpPr>
        <p:spPr>
          <a:xfrm>
            <a:off x="6949440" y="1536192"/>
            <a:ext cx="640080" cy="256032"/>
          </a:xfrm>
          <a:prstGeom prst="rect">
            <a:avLst/>
          </a:prstGeom>
          <a:solidFill>
            <a:srgbClr val="3D1A6E"/>
          </a:solidFill>
          <a:ln w="6350">
            <a:solidFill>
              <a:srgbClr val="CCCCCC"/>
            </a:solidFill>
            <a:prstDash val="solid"/>
          </a:ln>
        </p:spPr>
      </p:sp>
      <p:sp>
        <p:nvSpPr>
          <p:cNvPr id="31" name="Text 28"/>
          <p:cNvSpPr/>
          <p:nvPr/>
        </p:nvSpPr>
        <p:spPr>
          <a:xfrm>
            <a:off x="7022592" y="1545336"/>
            <a:ext cx="530352"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Cliente</a:t>
            </a:r>
            <a:endParaRPr lang="en-US" sz="900" dirty="0"/>
          </a:p>
        </p:txBody>
      </p:sp>
      <p:sp>
        <p:nvSpPr>
          <p:cNvPr id="32" name="Shape 29"/>
          <p:cNvSpPr/>
          <p:nvPr/>
        </p:nvSpPr>
        <p:spPr>
          <a:xfrm>
            <a:off x="7589520" y="1536192"/>
            <a:ext cx="749808" cy="256032"/>
          </a:xfrm>
          <a:prstGeom prst="rect">
            <a:avLst/>
          </a:prstGeom>
          <a:solidFill>
            <a:srgbClr val="3D1A6E"/>
          </a:solidFill>
          <a:ln w="6350">
            <a:solidFill>
              <a:srgbClr val="CCCCCC"/>
            </a:solidFill>
            <a:prstDash val="solid"/>
          </a:ln>
        </p:spPr>
      </p:sp>
      <p:sp>
        <p:nvSpPr>
          <p:cNvPr id="33" name="Text 30"/>
          <p:cNvSpPr/>
          <p:nvPr/>
        </p:nvSpPr>
        <p:spPr>
          <a:xfrm>
            <a:off x="7662672" y="1545336"/>
            <a:ext cx="64008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Vendedor</a:t>
            </a:r>
            <a:endParaRPr lang="en-US" sz="900" dirty="0"/>
          </a:p>
        </p:txBody>
      </p:sp>
      <p:sp>
        <p:nvSpPr>
          <p:cNvPr id="34" name="Shape 31"/>
          <p:cNvSpPr/>
          <p:nvPr/>
        </p:nvSpPr>
        <p:spPr>
          <a:xfrm>
            <a:off x="8339328" y="1536192"/>
            <a:ext cx="566928" cy="256032"/>
          </a:xfrm>
          <a:prstGeom prst="rect">
            <a:avLst/>
          </a:prstGeom>
          <a:solidFill>
            <a:srgbClr val="3D1A6E"/>
          </a:solidFill>
          <a:ln w="6350">
            <a:solidFill>
              <a:srgbClr val="CCCCCC"/>
            </a:solidFill>
            <a:prstDash val="solid"/>
          </a:ln>
        </p:spPr>
      </p:sp>
      <p:sp>
        <p:nvSpPr>
          <p:cNvPr id="35" name="Text 32"/>
          <p:cNvSpPr/>
          <p:nvPr/>
        </p:nvSpPr>
        <p:spPr>
          <a:xfrm>
            <a:off x="8412480" y="1545336"/>
            <a:ext cx="457200" cy="237744"/>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Staff</a:t>
            </a:r>
            <a:endParaRPr lang="en-US" sz="900" dirty="0"/>
          </a:p>
        </p:txBody>
      </p:sp>
      <p:sp>
        <p:nvSpPr>
          <p:cNvPr id="36" name="Shape 33"/>
          <p:cNvSpPr/>
          <p:nvPr/>
        </p:nvSpPr>
        <p:spPr>
          <a:xfrm>
            <a:off x="4663440" y="1792224"/>
            <a:ext cx="2286000" cy="256032"/>
          </a:xfrm>
          <a:prstGeom prst="rect">
            <a:avLst/>
          </a:prstGeom>
          <a:solidFill>
            <a:srgbClr val="FFFFFF"/>
          </a:solidFill>
          <a:ln w="6350">
            <a:solidFill>
              <a:srgbClr val="CCCCCC"/>
            </a:solidFill>
            <a:prstDash val="solid"/>
          </a:ln>
        </p:spPr>
      </p:sp>
      <p:sp>
        <p:nvSpPr>
          <p:cNvPr id="37" name="Text 34"/>
          <p:cNvSpPr/>
          <p:nvPr/>
        </p:nvSpPr>
        <p:spPr>
          <a:xfrm>
            <a:off x="4736592" y="1801368"/>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Ver y comprar en el menú</a:t>
            </a:r>
            <a:endParaRPr lang="en-US" sz="900" dirty="0"/>
          </a:p>
        </p:txBody>
      </p:sp>
      <p:sp>
        <p:nvSpPr>
          <p:cNvPr id="38" name="Shape 35"/>
          <p:cNvSpPr/>
          <p:nvPr/>
        </p:nvSpPr>
        <p:spPr>
          <a:xfrm>
            <a:off x="6949440" y="1792224"/>
            <a:ext cx="640080" cy="256032"/>
          </a:xfrm>
          <a:prstGeom prst="rect">
            <a:avLst/>
          </a:prstGeom>
          <a:solidFill>
            <a:srgbClr val="FFFFFF"/>
          </a:solidFill>
          <a:ln w="6350">
            <a:solidFill>
              <a:srgbClr val="CCCCCC"/>
            </a:solidFill>
            <a:prstDash val="solid"/>
          </a:ln>
        </p:spPr>
      </p:sp>
      <p:sp>
        <p:nvSpPr>
          <p:cNvPr id="39" name="Text 36"/>
          <p:cNvSpPr/>
          <p:nvPr/>
        </p:nvSpPr>
        <p:spPr>
          <a:xfrm>
            <a:off x="7022592" y="1801368"/>
            <a:ext cx="53035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40" name="Shape 37"/>
          <p:cNvSpPr/>
          <p:nvPr/>
        </p:nvSpPr>
        <p:spPr>
          <a:xfrm>
            <a:off x="7589520" y="1792224"/>
            <a:ext cx="749808" cy="256032"/>
          </a:xfrm>
          <a:prstGeom prst="rect">
            <a:avLst/>
          </a:prstGeom>
          <a:solidFill>
            <a:srgbClr val="FFFFFF"/>
          </a:solidFill>
          <a:ln w="6350">
            <a:solidFill>
              <a:srgbClr val="CCCCCC"/>
            </a:solidFill>
            <a:prstDash val="solid"/>
          </a:ln>
        </p:spPr>
      </p:sp>
      <p:sp>
        <p:nvSpPr>
          <p:cNvPr id="41" name="Text 38"/>
          <p:cNvSpPr/>
          <p:nvPr/>
        </p:nvSpPr>
        <p:spPr>
          <a:xfrm>
            <a:off x="7662672" y="1801368"/>
            <a:ext cx="640080" cy="237744"/>
          </a:xfrm>
          <a:prstGeom prst="rect">
            <a:avLst/>
          </a:prstGeom>
          <a:noFill/>
          <a:ln/>
        </p:spPr>
        <p:txBody>
          <a:bodyPr wrap="square" lIns="0" tIns="0" rIns="0" bIns="0" rtlCol="0" anchor="ctr"/>
          <a:lstStyle/>
          <a:p>
            <a:pPr marL="0" indent="0">
              <a:buNone/>
            </a:pPr>
            <a:endParaRPr lang="en-US" sz="900" dirty="0"/>
          </a:p>
        </p:txBody>
      </p:sp>
      <p:sp>
        <p:nvSpPr>
          <p:cNvPr id="42" name="Shape 39"/>
          <p:cNvSpPr/>
          <p:nvPr/>
        </p:nvSpPr>
        <p:spPr>
          <a:xfrm>
            <a:off x="8339328" y="1792224"/>
            <a:ext cx="566928" cy="256032"/>
          </a:xfrm>
          <a:prstGeom prst="rect">
            <a:avLst/>
          </a:prstGeom>
          <a:solidFill>
            <a:srgbClr val="FFFFFF"/>
          </a:solidFill>
          <a:ln w="6350">
            <a:solidFill>
              <a:srgbClr val="CCCCCC"/>
            </a:solidFill>
            <a:prstDash val="solid"/>
          </a:ln>
        </p:spPr>
      </p:sp>
      <p:sp>
        <p:nvSpPr>
          <p:cNvPr id="43" name="Text 40"/>
          <p:cNvSpPr/>
          <p:nvPr/>
        </p:nvSpPr>
        <p:spPr>
          <a:xfrm>
            <a:off x="8412480" y="1801368"/>
            <a:ext cx="457200" cy="237744"/>
          </a:xfrm>
          <a:prstGeom prst="rect">
            <a:avLst/>
          </a:prstGeom>
          <a:noFill/>
          <a:ln/>
        </p:spPr>
        <p:txBody>
          <a:bodyPr wrap="square" lIns="0" tIns="0" rIns="0" bIns="0" rtlCol="0" anchor="ctr"/>
          <a:lstStyle/>
          <a:p>
            <a:pPr marL="0" indent="0">
              <a:buNone/>
            </a:pPr>
            <a:endParaRPr lang="en-US" sz="900" dirty="0"/>
          </a:p>
        </p:txBody>
      </p:sp>
      <p:sp>
        <p:nvSpPr>
          <p:cNvPr id="44" name="Shape 41"/>
          <p:cNvSpPr/>
          <p:nvPr/>
        </p:nvSpPr>
        <p:spPr>
          <a:xfrm>
            <a:off x="4663440" y="2048256"/>
            <a:ext cx="2286000" cy="256032"/>
          </a:xfrm>
          <a:prstGeom prst="rect">
            <a:avLst/>
          </a:prstGeom>
          <a:solidFill>
            <a:srgbClr val="F0EBF8"/>
          </a:solidFill>
          <a:ln w="6350">
            <a:solidFill>
              <a:srgbClr val="CCCCCC"/>
            </a:solidFill>
            <a:prstDash val="solid"/>
          </a:ln>
        </p:spPr>
      </p:sp>
      <p:sp>
        <p:nvSpPr>
          <p:cNvPr id="45" name="Text 42"/>
          <p:cNvSpPr/>
          <p:nvPr/>
        </p:nvSpPr>
        <p:spPr>
          <a:xfrm>
            <a:off x="4736592" y="2057400"/>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Recargar saldo (UCoins)</a:t>
            </a:r>
            <a:endParaRPr lang="en-US" sz="900" dirty="0"/>
          </a:p>
        </p:txBody>
      </p:sp>
      <p:sp>
        <p:nvSpPr>
          <p:cNvPr id="46" name="Shape 43"/>
          <p:cNvSpPr/>
          <p:nvPr/>
        </p:nvSpPr>
        <p:spPr>
          <a:xfrm>
            <a:off x="6949440" y="2048256"/>
            <a:ext cx="640080" cy="256032"/>
          </a:xfrm>
          <a:prstGeom prst="rect">
            <a:avLst/>
          </a:prstGeom>
          <a:solidFill>
            <a:srgbClr val="F0EBF8"/>
          </a:solidFill>
          <a:ln w="6350">
            <a:solidFill>
              <a:srgbClr val="CCCCCC"/>
            </a:solidFill>
            <a:prstDash val="solid"/>
          </a:ln>
        </p:spPr>
      </p:sp>
      <p:sp>
        <p:nvSpPr>
          <p:cNvPr id="47" name="Text 44"/>
          <p:cNvSpPr/>
          <p:nvPr/>
        </p:nvSpPr>
        <p:spPr>
          <a:xfrm>
            <a:off x="7022592" y="2057400"/>
            <a:ext cx="53035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48" name="Shape 45"/>
          <p:cNvSpPr/>
          <p:nvPr/>
        </p:nvSpPr>
        <p:spPr>
          <a:xfrm>
            <a:off x="7589520" y="2048256"/>
            <a:ext cx="749808" cy="256032"/>
          </a:xfrm>
          <a:prstGeom prst="rect">
            <a:avLst/>
          </a:prstGeom>
          <a:solidFill>
            <a:srgbClr val="F0EBF8"/>
          </a:solidFill>
          <a:ln w="6350">
            <a:solidFill>
              <a:srgbClr val="CCCCCC"/>
            </a:solidFill>
            <a:prstDash val="solid"/>
          </a:ln>
        </p:spPr>
      </p:sp>
      <p:sp>
        <p:nvSpPr>
          <p:cNvPr id="49" name="Text 46"/>
          <p:cNvSpPr/>
          <p:nvPr/>
        </p:nvSpPr>
        <p:spPr>
          <a:xfrm>
            <a:off x="7662672" y="2057400"/>
            <a:ext cx="640080" cy="237744"/>
          </a:xfrm>
          <a:prstGeom prst="rect">
            <a:avLst/>
          </a:prstGeom>
          <a:noFill/>
          <a:ln/>
        </p:spPr>
        <p:txBody>
          <a:bodyPr wrap="square" lIns="0" tIns="0" rIns="0" bIns="0" rtlCol="0" anchor="ctr"/>
          <a:lstStyle/>
          <a:p>
            <a:pPr marL="0" indent="0">
              <a:buNone/>
            </a:pPr>
            <a:endParaRPr lang="en-US" sz="900" dirty="0"/>
          </a:p>
        </p:txBody>
      </p:sp>
      <p:sp>
        <p:nvSpPr>
          <p:cNvPr id="50" name="Shape 47"/>
          <p:cNvSpPr/>
          <p:nvPr/>
        </p:nvSpPr>
        <p:spPr>
          <a:xfrm>
            <a:off x="8339328" y="2048256"/>
            <a:ext cx="566928" cy="256032"/>
          </a:xfrm>
          <a:prstGeom prst="rect">
            <a:avLst/>
          </a:prstGeom>
          <a:solidFill>
            <a:srgbClr val="F0EBF8"/>
          </a:solidFill>
          <a:ln w="6350">
            <a:solidFill>
              <a:srgbClr val="CCCCCC"/>
            </a:solidFill>
            <a:prstDash val="solid"/>
          </a:ln>
        </p:spPr>
      </p:sp>
      <p:sp>
        <p:nvSpPr>
          <p:cNvPr id="51" name="Text 48"/>
          <p:cNvSpPr/>
          <p:nvPr/>
        </p:nvSpPr>
        <p:spPr>
          <a:xfrm>
            <a:off x="8412480" y="2057400"/>
            <a:ext cx="457200" cy="237744"/>
          </a:xfrm>
          <a:prstGeom prst="rect">
            <a:avLst/>
          </a:prstGeom>
          <a:noFill/>
          <a:ln/>
        </p:spPr>
        <p:txBody>
          <a:bodyPr wrap="square" lIns="0" tIns="0" rIns="0" bIns="0" rtlCol="0" anchor="ctr"/>
          <a:lstStyle/>
          <a:p>
            <a:pPr marL="0" indent="0">
              <a:buNone/>
            </a:pPr>
            <a:endParaRPr lang="en-US" sz="900" dirty="0"/>
          </a:p>
        </p:txBody>
      </p:sp>
      <p:sp>
        <p:nvSpPr>
          <p:cNvPr id="52" name="Shape 49"/>
          <p:cNvSpPr/>
          <p:nvPr/>
        </p:nvSpPr>
        <p:spPr>
          <a:xfrm>
            <a:off x="4663440" y="2304288"/>
            <a:ext cx="2286000" cy="256032"/>
          </a:xfrm>
          <a:prstGeom prst="rect">
            <a:avLst/>
          </a:prstGeom>
          <a:solidFill>
            <a:srgbClr val="FFFFFF"/>
          </a:solidFill>
          <a:ln w="6350">
            <a:solidFill>
              <a:srgbClr val="CCCCCC"/>
            </a:solidFill>
            <a:prstDash val="solid"/>
          </a:ln>
        </p:spPr>
      </p:sp>
      <p:sp>
        <p:nvSpPr>
          <p:cNvPr id="53" name="Text 50"/>
          <p:cNvSpPr/>
          <p:nvPr/>
        </p:nvSpPr>
        <p:spPr>
          <a:xfrm>
            <a:off x="4736592" y="2313432"/>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Ver historial de compras</a:t>
            </a:r>
            <a:endParaRPr lang="en-US" sz="900" dirty="0"/>
          </a:p>
        </p:txBody>
      </p:sp>
      <p:sp>
        <p:nvSpPr>
          <p:cNvPr id="54" name="Shape 51"/>
          <p:cNvSpPr/>
          <p:nvPr/>
        </p:nvSpPr>
        <p:spPr>
          <a:xfrm>
            <a:off x="6949440" y="2304288"/>
            <a:ext cx="640080" cy="256032"/>
          </a:xfrm>
          <a:prstGeom prst="rect">
            <a:avLst/>
          </a:prstGeom>
          <a:solidFill>
            <a:srgbClr val="FFFFFF"/>
          </a:solidFill>
          <a:ln w="6350">
            <a:solidFill>
              <a:srgbClr val="CCCCCC"/>
            </a:solidFill>
            <a:prstDash val="solid"/>
          </a:ln>
        </p:spPr>
      </p:sp>
      <p:sp>
        <p:nvSpPr>
          <p:cNvPr id="55" name="Text 52"/>
          <p:cNvSpPr/>
          <p:nvPr/>
        </p:nvSpPr>
        <p:spPr>
          <a:xfrm>
            <a:off x="7022592" y="2313432"/>
            <a:ext cx="53035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56" name="Shape 53"/>
          <p:cNvSpPr/>
          <p:nvPr/>
        </p:nvSpPr>
        <p:spPr>
          <a:xfrm>
            <a:off x="7589520" y="2304288"/>
            <a:ext cx="749808" cy="256032"/>
          </a:xfrm>
          <a:prstGeom prst="rect">
            <a:avLst/>
          </a:prstGeom>
          <a:solidFill>
            <a:srgbClr val="FFFFFF"/>
          </a:solidFill>
          <a:ln w="6350">
            <a:solidFill>
              <a:srgbClr val="CCCCCC"/>
            </a:solidFill>
            <a:prstDash val="solid"/>
          </a:ln>
        </p:spPr>
      </p:sp>
      <p:sp>
        <p:nvSpPr>
          <p:cNvPr id="57" name="Text 54"/>
          <p:cNvSpPr/>
          <p:nvPr/>
        </p:nvSpPr>
        <p:spPr>
          <a:xfrm>
            <a:off x="7662672" y="2313432"/>
            <a:ext cx="640080" cy="237744"/>
          </a:xfrm>
          <a:prstGeom prst="rect">
            <a:avLst/>
          </a:prstGeom>
          <a:noFill/>
          <a:ln/>
        </p:spPr>
        <p:txBody>
          <a:bodyPr wrap="square" lIns="0" tIns="0" rIns="0" bIns="0" rtlCol="0" anchor="ctr"/>
          <a:lstStyle/>
          <a:p>
            <a:pPr marL="0" indent="0">
              <a:buNone/>
            </a:pPr>
            <a:endParaRPr lang="en-US" sz="900" dirty="0"/>
          </a:p>
        </p:txBody>
      </p:sp>
      <p:sp>
        <p:nvSpPr>
          <p:cNvPr id="58" name="Shape 55"/>
          <p:cNvSpPr/>
          <p:nvPr/>
        </p:nvSpPr>
        <p:spPr>
          <a:xfrm>
            <a:off x="8339328" y="2304288"/>
            <a:ext cx="566928" cy="256032"/>
          </a:xfrm>
          <a:prstGeom prst="rect">
            <a:avLst/>
          </a:prstGeom>
          <a:solidFill>
            <a:srgbClr val="FFFFFF"/>
          </a:solidFill>
          <a:ln w="6350">
            <a:solidFill>
              <a:srgbClr val="CCCCCC"/>
            </a:solidFill>
            <a:prstDash val="solid"/>
          </a:ln>
        </p:spPr>
      </p:sp>
      <p:sp>
        <p:nvSpPr>
          <p:cNvPr id="59" name="Text 56"/>
          <p:cNvSpPr/>
          <p:nvPr/>
        </p:nvSpPr>
        <p:spPr>
          <a:xfrm>
            <a:off x="8412480" y="2313432"/>
            <a:ext cx="457200" cy="237744"/>
          </a:xfrm>
          <a:prstGeom prst="rect">
            <a:avLst/>
          </a:prstGeom>
          <a:noFill/>
          <a:ln/>
        </p:spPr>
        <p:txBody>
          <a:bodyPr wrap="square" lIns="0" tIns="0" rIns="0" bIns="0" rtlCol="0" anchor="ctr"/>
          <a:lstStyle/>
          <a:p>
            <a:pPr marL="0" indent="0">
              <a:buNone/>
            </a:pPr>
            <a:endParaRPr lang="en-US" sz="900" dirty="0"/>
          </a:p>
        </p:txBody>
      </p:sp>
      <p:sp>
        <p:nvSpPr>
          <p:cNvPr id="60" name="Shape 57"/>
          <p:cNvSpPr/>
          <p:nvPr/>
        </p:nvSpPr>
        <p:spPr>
          <a:xfrm>
            <a:off x="4663440" y="2560320"/>
            <a:ext cx="2286000" cy="256032"/>
          </a:xfrm>
          <a:prstGeom prst="rect">
            <a:avLst/>
          </a:prstGeom>
          <a:solidFill>
            <a:srgbClr val="F0EBF8"/>
          </a:solidFill>
          <a:ln w="6350">
            <a:solidFill>
              <a:srgbClr val="CCCCCC"/>
            </a:solidFill>
            <a:prstDash val="solid"/>
          </a:ln>
        </p:spPr>
      </p:sp>
      <p:sp>
        <p:nvSpPr>
          <p:cNvPr id="61" name="Text 58"/>
          <p:cNvSpPr/>
          <p:nvPr/>
        </p:nvSpPr>
        <p:spPr>
          <a:xfrm>
            <a:off x="4736592" y="2569464"/>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Gestionar productos e inv.</a:t>
            </a:r>
            <a:endParaRPr lang="en-US" sz="900" dirty="0"/>
          </a:p>
        </p:txBody>
      </p:sp>
      <p:sp>
        <p:nvSpPr>
          <p:cNvPr id="62" name="Shape 59"/>
          <p:cNvSpPr/>
          <p:nvPr/>
        </p:nvSpPr>
        <p:spPr>
          <a:xfrm>
            <a:off x="6949440" y="2560320"/>
            <a:ext cx="640080" cy="256032"/>
          </a:xfrm>
          <a:prstGeom prst="rect">
            <a:avLst/>
          </a:prstGeom>
          <a:solidFill>
            <a:srgbClr val="F0EBF8"/>
          </a:solidFill>
          <a:ln w="6350">
            <a:solidFill>
              <a:srgbClr val="CCCCCC"/>
            </a:solidFill>
            <a:prstDash val="solid"/>
          </a:ln>
        </p:spPr>
      </p:sp>
      <p:sp>
        <p:nvSpPr>
          <p:cNvPr id="63" name="Text 60"/>
          <p:cNvSpPr/>
          <p:nvPr/>
        </p:nvSpPr>
        <p:spPr>
          <a:xfrm>
            <a:off x="7022592" y="2569464"/>
            <a:ext cx="530352" cy="237744"/>
          </a:xfrm>
          <a:prstGeom prst="rect">
            <a:avLst/>
          </a:prstGeom>
          <a:noFill/>
          <a:ln/>
        </p:spPr>
        <p:txBody>
          <a:bodyPr wrap="square" lIns="0" tIns="0" rIns="0" bIns="0" rtlCol="0" anchor="ctr"/>
          <a:lstStyle/>
          <a:p>
            <a:pPr marL="0" indent="0">
              <a:buNone/>
            </a:pPr>
            <a:endParaRPr lang="en-US" sz="900" dirty="0"/>
          </a:p>
        </p:txBody>
      </p:sp>
      <p:sp>
        <p:nvSpPr>
          <p:cNvPr id="64" name="Shape 61"/>
          <p:cNvSpPr/>
          <p:nvPr/>
        </p:nvSpPr>
        <p:spPr>
          <a:xfrm>
            <a:off x="7589520" y="2560320"/>
            <a:ext cx="749808" cy="256032"/>
          </a:xfrm>
          <a:prstGeom prst="rect">
            <a:avLst/>
          </a:prstGeom>
          <a:solidFill>
            <a:srgbClr val="F0EBF8"/>
          </a:solidFill>
          <a:ln w="6350">
            <a:solidFill>
              <a:srgbClr val="CCCCCC"/>
            </a:solidFill>
            <a:prstDash val="solid"/>
          </a:ln>
        </p:spPr>
      </p:sp>
      <p:sp>
        <p:nvSpPr>
          <p:cNvPr id="65" name="Text 62"/>
          <p:cNvSpPr/>
          <p:nvPr/>
        </p:nvSpPr>
        <p:spPr>
          <a:xfrm>
            <a:off x="7662672" y="2569464"/>
            <a:ext cx="64008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66" name="Shape 63"/>
          <p:cNvSpPr/>
          <p:nvPr/>
        </p:nvSpPr>
        <p:spPr>
          <a:xfrm>
            <a:off x="8339328" y="2560320"/>
            <a:ext cx="566928" cy="256032"/>
          </a:xfrm>
          <a:prstGeom prst="rect">
            <a:avLst/>
          </a:prstGeom>
          <a:solidFill>
            <a:srgbClr val="F0EBF8"/>
          </a:solidFill>
          <a:ln w="6350">
            <a:solidFill>
              <a:srgbClr val="CCCCCC"/>
            </a:solidFill>
            <a:prstDash val="solid"/>
          </a:ln>
        </p:spPr>
      </p:sp>
      <p:sp>
        <p:nvSpPr>
          <p:cNvPr id="67" name="Text 64"/>
          <p:cNvSpPr/>
          <p:nvPr/>
        </p:nvSpPr>
        <p:spPr>
          <a:xfrm>
            <a:off x="8412480" y="2569464"/>
            <a:ext cx="457200" cy="237744"/>
          </a:xfrm>
          <a:prstGeom prst="rect">
            <a:avLst/>
          </a:prstGeom>
          <a:noFill/>
          <a:ln/>
        </p:spPr>
        <p:txBody>
          <a:bodyPr wrap="square" lIns="0" tIns="0" rIns="0" bIns="0" rtlCol="0" anchor="ctr"/>
          <a:lstStyle/>
          <a:p>
            <a:pPr marL="0" indent="0">
              <a:buNone/>
            </a:pPr>
            <a:endParaRPr lang="en-US" sz="900" dirty="0"/>
          </a:p>
        </p:txBody>
      </p:sp>
      <p:sp>
        <p:nvSpPr>
          <p:cNvPr id="68" name="Shape 65"/>
          <p:cNvSpPr/>
          <p:nvPr/>
        </p:nvSpPr>
        <p:spPr>
          <a:xfrm>
            <a:off x="4663440" y="2816352"/>
            <a:ext cx="2286000" cy="256032"/>
          </a:xfrm>
          <a:prstGeom prst="rect">
            <a:avLst/>
          </a:prstGeom>
          <a:solidFill>
            <a:srgbClr val="FFFFFF"/>
          </a:solidFill>
          <a:ln w="6350">
            <a:solidFill>
              <a:srgbClr val="CCCCCC"/>
            </a:solidFill>
            <a:prstDash val="solid"/>
          </a:ln>
        </p:spPr>
      </p:sp>
      <p:sp>
        <p:nvSpPr>
          <p:cNvPr id="69" name="Text 66"/>
          <p:cNvSpPr/>
          <p:nvPr/>
        </p:nvSpPr>
        <p:spPr>
          <a:xfrm>
            <a:off x="4736592" y="2825496"/>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Ver ventas y escanear QR</a:t>
            </a:r>
            <a:endParaRPr lang="en-US" sz="900" dirty="0"/>
          </a:p>
        </p:txBody>
      </p:sp>
      <p:sp>
        <p:nvSpPr>
          <p:cNvPr id="70" name="Shape 67"/>
          <p:cNvSpPr/>
          <p:nvPr/>
        </p:nvSpPr>
        <p:spPr>
          <a:xfrm>
            <a:off x="6949440" y="2816352"/>
            <a:ext cx="640080" cy="256032"/>
          </a:xfrm>
          <a:prstGeom prst="rect">
            <a:avLst/>
          </a:prstGeom>
          <a:solidFill>
            <a:srgbClr val="FFFFFF"/>
          </a:solidFill>
          <a:ln w="6350">
            <a:solidFill>
              <a:srgbClr val="CCCCCC"/>
            </a:solidFill>
            <a:prstDash val="solid"/>
          </a:ln>
        </p:spPr>
      </p:sp>
      <p:sp>
        <p:nvSpPr>
          <p:cNvPr id="71" name="Text 68"/>
          <p:cNvSpPr/>
          <p:nvPr/>
        </p:nvSpPr>
        <p:spPr>
          <a:xfrm>
            <a:off x="7022592" y="2825496"/>
            <a:ext cx="530352" cy="237744"/>
          </a:xfrm>
          <a:prstGeom prst="rect">
            <a:avLst/>
          </a:prstGeom>
          <a:noFill/>
          <a:ln/>
        </p:spPr>
        <p:txBody>
          <a:bodyPr wrap="square" lIns="0" tIns="0" rIns="0" bIns="0" rtlCol="0" anchor="ctr"/>
          <a:lstStyle/>
          <a:p>
            <a:pPr marL="0" indent="0">
              <a:buNone/>
            </a:pPr>
            <a:endParaRPr lang="en-US" sz="900" dirty="0"/>
          </a:p>
        </p:txBody>
      </p:sp>
      <p:sp>
        <p:nvSpPr>
          <p:cNvPr id="72" name="Shape 69"/>
          <p:cNvSpPr/>
          <p:nvPr/>
        </p:nvSpPr>
        <p:spPr>
          <a:xfrm>
            <a:off x="7589520" y="2816352"/>
            <a:ext cx="749808" cy="256032"/>
          </a:xfrm>
          <a:prstGeom prst="rect">
            <a:avLst/>
          </a:prstGeom>
          <a:solidFill>
            <a:srgbClr val="FFFFFF"/>
          </a:solidFill>
          <a:ln w="6350">
            <a:solidFill>
              <a:srgbClr val="CCCCCC"/>
            </a:solidFill>
            <a:prstDash val="solid"/>
          </a:ln>
        </p:spPr>
      </p:sp>
      <p:sp>
        <p:nvSpPr>
          <p:cNvPr id="73" name="Text 70"/>
          <p:cNvSpPr/>
          <p:nvPr/>
        </p:nvSpPr>
        <p:spPr>
          <a:xfrm>
            <a:off x="7662672" y="2825496"/>
            <a:ext cx="64008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74" name="Shape 71"/>
          <p:cNvSpPr/>
          <p:nvPr/>
        </p:nvSpPr>
        <p:spPr>
          <a:xfrm>
            <a:off x="8339328" y="2816352"/>
            <a:ext cx="566928" cy="256032"/>
          </a:xfrm>
          <a:prstGeom prst="rect">
            <a:avLst/>
          </a:prstGeom>
          <a:solidFill>
            <a:srgbClr val="FFFFFF"/>
          </a:solidFill>
          <a:ln w="6350">
            <a:solidFill>
              <a:srgbClr val="CCCCCC"/>
            </a:solidFill>
            <a:prstDash val="solid"/>
          </a:ln>
        </p:spPr>
      </p:sp>
      <p:sp>
        <p:nvSpPr>
          <p:cNvPr id="75" name="Text 72"/>
          <p:cNvSpPr/>
          <p:nvPr/>
        </p:nvSpPr>
        <p:spPr>
          <a:xfrm>
            <a:off x="8412480" y="2825496"/>
            <a:ext cx="457200" cy="237744"/>
          </a:xfrm>
          <a:prstGeom prst="rect">
            <a:avLst/>
          </a:prstGeom>
          <a:noFill/>
          <a:ln/>
        </p:spPr>
        <p:txBody>
          <a:bodyPr wrap="square" lIns="0" tIns="0" rIns="0" bIns="0" rtlCol="0" anchor="ctr"/>
          <a:lstStyle/>
          <a:p>
            <a:pPr marL="0" indent="0">
              <a:buNone/>
            </a:pPr>
            <a:endParaRPr lang="en-US" sz="900" dirty="0"/>
          </a:p>
        </p:txBody>
      </p:sp>
      <p:sp>
        <p:nvSpPr>
          <p:cNvPr id="76" name="Shape 73"/>
          <p:cNvSpPr/>
          <p:nvPr/>
        </p:nvSpPr>
        <p:spPr>
          <a:xfrm>
            <a:off x="4663440" y="3072384"/>
            <a:ext cx="2286000" cy="256032"/>
          </a:xfrm>
          <a:prstGeom prst="rect">
            <a:avLst/>
          </a:prstGeom>
          <a:solidFill>
            <a:srgbClr val="F0EBF8"/>
          </a:solidFill>
          <a:ln w="6350">
            <a:solidFill>
              <a:srgbClr val="CCCCCC"/>
            </a:solidFill>
            <a:prstDash val="solid"/>
          </a:ln>
        </p:spPr>
      </p:sp>
      <p:sp>
        <p:nvSpPr>
          <p:cNvPr id="77" name="Text 74"/>
          <p:cNvSpPr/>
          <p:nvPr/>
        </p:nvSpPr>
        <p:spPr>
          <a:xfrm>
            <a:off x="4736592" y="3081528"/>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Crear y editar el evento</a:t>
            </a:r>
            <a:endParaRPr lang="en-US" sz="900" dirty="0"/>
          </a:p>
        </p:txBody>
      </p:sp>
      <p:sp>
        <p:nvSpPr>
          <p:cNvPr id="78" name="Shape 75"/>
          <p:cNvSpPr/>
          <p:nvPr/>
        </p:nvSpPr>
        <p:spPr>
          <a:xfrm>
            <a:off x="6949440" y="3072384"/>
            <a:ext cx="640080" cy="256032"/>
          </a:xfrm>
          <a:prstGeom prst="rect">
            <a:avLst/>
          </a:prstGeom>
          <a:solidFill>
            <a:srgbClr val="F0EBF8"/>
          </a:solidFill>
          <a:ln w="6350">
            <a:solidFill>
              <a:srgbClr val="CCCCCC"/>
            </a:solidFill>
            <a:prstDash val="solid"/>
          </a:ln>
        </p:spPr>
      </p:sp>
      <p:sp>
        <p:nvSpPr>
          <p:cNvPr id="79" name="Text 76"/>
          <p:cNvSpPr/>
          <p:nvPr/>
        </p:nvSpPr>
        <p:spPr>
          <a:xfrm>
            <a:off x="7022592" y="3081528"/>
            <a:ext cx="530352" cy="237744"/>
          </a:xfrm>
          <a:prstGeom prst="rect">
            <a:avLst/>
          </a:prstGeom>
          <a:noFill/>
          <a:ln/>
        </p:spPr>
        <p:txBody>
          <a:bodyPr wrap="square" lIns="0" tIns="0" rIns="0" bIns="0" rtlCol="0" anchor="ctr"/>
          <a:lstStyle/>
          <a:p>
            <a:pPr marL="0" indent="0">
              <a:buNone/>
            </a:pPr>
            <a:endParaRPr lang="en-US" sz="900" dirty="0"/>
          </a:p>
        </p:txBody>
      </p:sp>
      <p:sp>
        <p:nvSpPr>
          <p:cNvPr id="80" name="Shape 77"/>
          <p:cNvSpPr/>
          <p:nvPr/>
        </p:nvSpPr>
        <p:spPr>
          <a:xfrm>
            <a:off x="7589520" y="3072384"/>
            <a:ext cx="749808" cy="256032"/>
          </a:xfrm>
          <a:prstGeom prst="rect">
            <a:avLst/>
          </a:prstGeom>
          <a:solidFill>
            <a:srgbClr val="F0EBF8"/>
          </a:solidFill>
          <a:ln w="6350">
            <a:solidFill>
              <a:srgbClr val="CCCCCC"/>
            </a:solidFill>
            <a:prstDash val="solid"/>
          </a:ln>
        </p:spPr>
      </p:sp>
      <p:sp>
        <p:nvSpPr>
          <p:cNvPr id="81" name="Text 78"/>
          <p:cNvSpPr/>
          <p:nvPr/>
        </p:nvSpPr>
        <p:spPr>
          <a:xfrm>
            <a:off x="7662672" y="3081528"/>
            <a:ext cx="640080" cy="237744"/>
          </a:xfrm>
          <a:prstGeom prst="rect">
            <a:avLst/>
          </a:prstGeom>
          <a:noFill/>
          <a:ln/>
        </p:spPr>
        <p:txBody>
          <a:bodyPr wrap="square" lIns="0" tIns="0" rIns="0" bIns="0" rtlCol="0" anchor="ctr"/>
          <a:lstStyle/>
          <a:p>
            <a:pPr marL="0" indent="0">
              <a:buNone/>
            </a:pPr>
            <a:endParaRPr lang="en-US" sz="900" dirty="0"/>
          </a:p>
        </p:txBody>
      </p:sp>
      <p:sp>
        <p:nvSpPr>
          <p:cNvPr id="82" name="Shape 79"/>
          <p:cNvSpPr/>
          <p:nvPr/>
        </p:nvSpPr>
        <p:spPr>
          <a:xfrm>
            <a:off x="8339328" y="3072384"/>
            <a:ext cx="566928" cy="256032"/>
          </a:xfrm>
          <a:prstGeom prst="rect">
            <a:avLst/>
          </a:prstGeom>
          <a:solidFill>
            <a:srgbClr val="F0EBF8"/>
          </a:solidFill>
          <a:ln w="6350">
            <a:solidFill>
              <a:srgbClr val="CCCCCC"/>
            </a:solidFill>
            <a:prstDash val="solid"/>
          </a:ln>
        </p:spPr>
      </p:sp>
      <p:sp>
        <p:nvSpPr>
          <p:cNvPr id="83" name="Text 80"/>
          <p:cNvSpPr/>
          <p:nvPr/>
        </p:nvSpPr>
        <p:spPr>
          <a:xfrm>
            <a:off x="8412480" y="3081528"/>
            <a:ext cx="45720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84" name="Shape 81"/>
          <p:cNvSpPr/>
          <p:nvPr/>
        </p:nvSpPr>
        <p:spPr>
          <a:xfrm>
            <a:off x="4663440" y="3328416"/>
            <a:ext cx="2286000" cy="256032"/>
          </a:xfrm>
          <a:prstGeom prst="rect">
            <a:avLst/>
          </a:prstGeom>
          <a:solidFill>
            <a:srgbClr val="FFFFFF"/>
          </a:solidFill>
          <a:ln w="6350">
            <a:solidFill>
              <a:srgbClr val="CCCCCC"/>
            </a:solidFill>
            <a:prstDash val="solid"/>
          </a:ln>
        </p:spPr>
      </p:sp>
      <p:sp>
        <p:nvSpPr>
          <p:cNvPr id="85" name="Text 82"/>
          <p:cNvSpPr/>
          <p:nvPr/>
        </p:nvSpPr>
        <p:spPr>
          <a:xfrm>
            <a:off x="4736592" y="3337560"/>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Asignar puestos en el mapa</a:t>
            </a:r>
            <a:endParaRPr lang="en-US" sz="900" dirty="0"/>
          </a:p>
        </p:txBody>
      </p:sp>
      <p:sp>
        <p:nvSpPr>
          <p:cNvPr id="86" name="Shape 83"/>
          <p:cNvSpPr/>
          <p:nvPr/>
        </p:nvSpPr>
        <p:spPr>
          <a:xfrm>
            <a:off x="6949440" y="3328416"/>
            <a:ext cx="640080" cy="256032"/>
          </a:xfrm>
          <a:prstGeom prst="rect">
            <a:avLst/>
          </a:prstGeom>
          <a:solidFill>
            <a:srgbClr val="FFFFFF"/>
          </a:solidFill>
          <a:ln w="6350">
            <a:solidFill>
              <a:srgbClr val="CCCCCC"/>
            </a:solidFill>
            <a:prstDash val="solid"/>
          </a:ln>
        </p:spPr>
      </p:sp>
      <p:sp>
        <p:nvSpPr>
          <p:cNvPr id="87" name="Text 84"/>
          <p:cNvSpPr/>
          <p:nvPr/>
        </p:nvSpPr>
        <p:spPr>
          <a:xfrm>
            <a:off x="7022592" y="3337560"/>
            <a:ext cx="530352" cy="237744"/>
          </a:xfrm>
          <a:prstGeom prst="rect">
            <a:avLst/>
          </a:prstGeom>
          <a:noFill/>
          <a:ln/>
        </p:spPr>
        <p:txBody>
          <a:bodyPr wrap="square" lIns="0" tIns="0" rIns="0" bIns="0" rtlCol="0" anchor="ctr"/>
          <a:lstStyle/>
          <a:p>
            <a:pPr marL="0" indent="0">
              <a:buNone/>
            </a:pPr>
            <a:endParaRPr lang="en-US" sz="900" dirty="0"/>
          </a:p>
        </p:txBody>
      </p:sp>
      <p:sp>
        <p:nvSpPr>
          <p:cNvPr id="88" name="Shape 85"/>
          <p:cNvSpPr/>
          <p:nvPr/>
        </p:nvSpPr>
        <p:spPr>
          <a:xfrm>
            <a:off x="7589520" y="3328416"/>
            <a:ext cx="749808" cy="256032"/>
          </a:xfrm>
          <a:prstGeom prst="rect">
            <a:avLst/>
          </a:prstGeom>
          <a:solidFill>
            <a:srgbClr val="FFFFFF"/>
          </a:solidFill>
          <a:ln w="6350">
            <a:solidFill>
              <a:srgbClr val="CCCCCC"/>
            </a:solidFill>
            <a:prstDash val="solid"/>
          </a:ln>
        </p:spPr>
      </p:sp>
      <p:sp>
        <p:nvSpPr>
          <p:cNvPr id="89" name="Text 86"/>
          <p:cNvSpPr/>
          <p:nvPr/>
        </p:nvSpPr>
        <p:spPr>
          <a:xfrm>
            <a:off x="7662672" y="3337560"/>
            <a:ext cx="640080" cy="237744"/>
          </a:xfrm>
          <a:prstGeom prst="rect">
            <a:avLst/>
          </a:prstGeom>
          <a:noFill/>
          <a:ln/>
        </p:spPr>
        <p:txBody>
          <a:bodyPr wrap="square" lIns="0" tIns="0" rIns="0" bIns="0" rtlCol="0" anchor="ctr"/>
          <a:lstStyle/>
          <a:p>
            <a:pPr marL="0" indent="0">
              <a:buNone/>
            </a:pPr>
            <a:endParaRPr lang="en-US" sz="900" dirty="0"/>
          </a:p>
        </p:txBody>
      </p:sp>
      <p:sp>
        <p:nvSpPr>
          <p:cNvPr id="90" name="Shape 87"/>
          <p:cNvSpPr/>
          <p:nvPr/>
        </p:nvSpPr>
        <p:spPr>
          <a:xfrm>
            <a:off x="8339328" y="3328416"/>
            <a:ext cx="566928" cy="256032"/>
          </a:xfrm>
          <a:prstGeom prst="rect">
            <a:avLst/>
          </a:prstGeom>
          <a:solidFill>
            <a:srgbClr val="FFFFFF"/>
          </a:solidFill>
          <a:ln w="6350">
            <a:solidFill>
              <a:srgbClr val="CCCCCC"/>
            </a:solidFill>
            <a:prstDash val="solid"/>
          </a:ln>
        </p:spPr>
      </p:sp>
      <p:sp>
        <p:nvSpPr>
          <p:cNvPr id="91" name="Text 88"/>
          <p:cNvSpPr/>
          <p:nvPr/>
        </p:nvSpPr>
        <p:spPr>
          <a:xfrm>
            <a:off x="8412480" y="3337560"/>
            <a:ext cx="45720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92" name="Shape 89"/>
          <p:cNvSpPr/>
          <p:nvPr/>
        </p:nvSpPr>
        <p:spPr>
          <a:xfrm>
            <a:off x="4663440" y="3584448"/>
            <a:ext cx="2286000" cy="256032"/>
          </a:xfrm>
          <a:prstGeom prst="rect">
            <a:avLst/>
          </a:prstGeom>
          <a:solidFill>
            <a:srgbClr val="F0EBF8"/>
          </a:solidFill>
          <a:ln w="6350">
            <a:solidFill>
              <a:srgbClr val="CCCCCC"/>
            </a:solidFill>
            <a:prstDash val="solid"/>
          </a:ln>
        </p:spPr>
      </p:sp>
      <p:sp>
        <p:nvSpPr>
          <p:cNvPr id="93" name="Text 90"/>
          <p:cNvSpPr/>
          <p:nvPr/>
        </p:nvSpPr>
        <p:spPr>
          <a:xfrm>
            <a:off x="4736592" y="3593592"/>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Otorgar UCoins a clientes</a:t>
            </a:r>
            <a:endParaRPr lang="en-US" sz="900" dirty="0"/>
          </a:p>
        </p:txBody>
      </p:sp>
      <p:sp>
        <p:nvSpPr>
          <p:cNvPr id="94" name="Shape 91"/>
          <p:cNvSpPr/>
          <p:nvPr/>
        </p:nvSpPr>
        <p:spPr>
          <a:xfrm>
            <a:off x="6949440" y="3584448"/>
            <a:ext cx="640080" cy="256032"/>
          </a:xfrm>
          <a:prstGeom prst="rect">
            <a:avLst/>
          </a:prstGeom>
          <a:solidFill>
            <a:srgbClr val="F0EBF8"/>
          </a:solidFill>
          <a:ln w="6350">
            <a:solidFill>
              <a:srgbClr val="CCCCCC"/>
            </a:solidFill>
            <a:prstDash val="solid"/>
          </a:ln>
        </p:spPr>
      </p:sp>
      <p:sp>
        <p:nvSpPr>
          <p:cNvPr id="95" name="Text 92"/>
          <p:cNvSpPr/>
          <p:nvPr/>
        </p:nvSpPr>
        <p:spPr>
          <a:xfrm>
            <a:off x="7022592" y="3593592"/>
            <a:ext cx="530352" cy="237744"/>
          </a:xfrm>
          <a:prstGeom prst="rect">
            <a:avLst/>
          </a:prstGeom>
          <a:noFill/>
          <a:ln/>
        </p:spPr>
        <p:txBody>
          <a:bodyPr wrap="square" lIns="0" tIns="0" rIns="0" bIns="0" rtlCol="0" anchor="ctr"/>
          <a:lstStyle/>
          <a:p>
            <a:pPr marL="0" indent="0">
              <a:buNone/>
            </a:pPr>
            <a:endParaRPr lang="en-US" sz="900" dirty="0"/>
          </a:p>
        </p:txBody>
      </p:sp>
      <p:sp>
        <p:nvSpPr>
          <p:cNvPr id="96" name="Shape 93"/>
          <p:cNvSpPr/>
          <p:nvPr/>
        </p:nvSpPr>
        <p:spPr>
          <a:xfrm>
            <a:off x="7589520" y="3584448"/>
            <a:ext cx="749808" cy="256032"/>
          </a:xfrm>
          <a:prstGeom prst="rect">
            <a:avLst/>
          </a:prstGeom>
          <a:solidFill>
            <a:srgbClr val="F0EBF8"/>
          </a:solidFill>
          <a:ln w="6350">
            <a:solidFill>
              <a:srgbClr val="CCCCCC"/>
            </a:solidFill>
            <a:prstDash val="solid"/>
          </a:ln>
        </p:spPr>
      </p:sp>
      <p:sp>
        <p:nvSpPr>
          <p:cNvPr id="97" name="Text 94"/>
          <p:cNvSpPr/>
          <p:nvPr/>
        </p:nvSpPr>
        <p:spPr>
          <a:xfrm>
            <a:off x="7662672" y="3593592"/>
            <a:ext cx="640080" cy="237744"/>
          </a:xfrm>
          <a:prstGeom prst="rect">
            <a:avLst/>
          </a:prstGeom>
          <a:noFill/>
          <a:ln/>
        </p:spPr>
        <p:txBody>
          <a:bodyPr wrap="square" lIns="0" tIns="0" rIns="0" bIns="0" rtlCol="0" anchor="ctr"/>
          <a:lstStyle/>
          <a:p>
            <a:pPr marL="0" indent="0">
              <a:buNone/>
            </a:pPr>
            <a:endParaRPr lang="en-US" sz="900" dirty="0"/>
          </a:p>
        </p:txBody>
      </p:sp>
      <p:sp>
        <p:nvSpPr>
          <p:cNvPr id="98" name="Shape 95"/>
          <p:cNvSpPr/>
          <p:nvPr/>
        </p:nvSpPr>
        <p:spPr>
          <a:xfrm>
            <a:off x="8339328" y="3584448"/>
            <a:ext cx="566928" cy="256032"/>
          </a:xfrm>
          <a:prstGeom prst="rect">
            <a:avLst/>
          </a:prstGeom>
          <a:solidFill>
            <a:srgbClr val="F0EBF8"/>
          </a:solidFill>
          <a:ln w="6350">
            <a:solidFill>
              <a:srgbClr val="CCCCCC"/>
            </a:solidFill>
            <a:prstDash val="solid"/>
          </a:ln>
        </p:spPr>
      </p:sp>
      <p:sp>
        <p:nvSpPr>
          <p:cNvPr id="99" name="Text 96"/>
          <p:cNvSpPr/>
          <p:nvPr/>
        </p:nvSpPr>
        <p:spPr>
          <a:xfrm>
            <a:off x="8412480" y="3593592"/>
            <a:ext cx="45720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100" name="Shape 97"/>
          <p:cNvSpPr/>
          <p:nvPr/>
        </p:nvSpPr>
        <p:spPr>
          <a:xfrm>
            <a:off x="4663440" y="3840480"/>
            <a:ext cx="2286000" cy="256032"/>
          </a:xfrm>
          <a:prstGeom prst="rect">
            <a:avLst/>
          </a:prstGeom>
          <a:solidFill>
            <a:srgbClr val="FFFFFF"/>
          </a:solidFill>
          <a:ln w="6350">
            <a:solidFill>
              <a:srgbClr val="CCCCCC"/>
            </a:solidFill>
            <a:prstDash val="solid"/>
          </a:ln>
        </p:spPr>
      </p:sp>
      <p:sp>
        <p:nvSpPr>
          <p:cNvPr id="101" name="Text 98"/>
          <p:cNvSpPr/>
          <p:nvPr/>
        </p:nvSpPr>
        <p:spPr>
          <a:xfrm>
            <a:off x="4736592" y="3849624"/>
            <a:ext cx="2176272"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Ver bitácora de auditoría</a:t>
            </a:r>
            <a:endParaRPr lang="en-US" sz="900" dirty="0"/>
          </a:p>
        </p:txBody>
      </p:sp>
      <p:sp>
        <p:nvSpPr>
          <p:cNvPr id="102" name="Shape 99"/>
          <p:cNvSpPr/>
          <p:nvPr/>
        </p:nvSpPr>
        <p:spPr>
          <a:xfrm>
            <a:off x="6949440" y="3840480"/>
            <a:ext cx="640080" cy="256032"/>
          </a:xfrm>
          <a:prstGeom prst="rect">
            <a:avLst/>
          </a:prstGeom>
          <a:solidFill>
            <a:srgbClr val="FFFFFF"/>
          </a:solidFill>
          <a:ln w="6350">
            <a:solidFill>
              <a:srgbClr val="CCCCCC"/>
            </a:solidFill>
            <a:prstDash val="solid"/>
          </a:ln>
        </p:spPr>
      </p:sp>
      <p:sp>
        <p:nvSpPr>
          <p:cNvPr id="103" name="Text 100"/>
          <p:cNvSpPr/>
          <p:nvPr/>
        </p:nvSpPr>
        <p:spPr>
          <a:xfrm>
            <a:off x="7022592" y="3849624"/>
            <a:ext cx="530352" cy="237744"/>
          </a:xfrm>
          <a:prstGeom prst="rect">
            <a:avLst/>
          </a:prstGeom>
          <a:noFill/>
          <a:ln/>
        </p:spPr>
        <p:txBody>
          <a:bodyPr wrap="square" lIns="0" tIns="0" rIns="0" bIns="0" rtlCol="0" anchor="ctr"/>
          <a:lstStyle/>
          <a:p>
            <a:pPr marL="0" indent="0">
              <a:buNone/>
            </a:pPr>
            <a:endParaRPr lang="en-US" sz="900" dirty="0"/>
          </a:p>
        </p:txBody>
      </p:sp>
      <p:sp>
        <p:nvSpPr>
          <p:cNvPr id="104" name="Shape 101"/>
          <p:cNvSpPr/>
          <p:nvPr/>
        </p:nvSpPr>
        <p:spPr>
          <a:xfrm>
            <a:off x="7589520" y="3840480"/>
            <a:ext cx="749808" cy="256032"/>
          </a:xfrm>
          <a:prstGeom prst="rect">
            <a:avLst/>
          </a:prstGeom>
          <a:solidFill>
            <a:srgbClr val="FFFFFF"/>
          </a:solidFill>
          <a:ln w="6350">
            <a:solidFill>
              <a:srgbClr val="CCCCCC"/>
            </a:solidFill>
            <a:prstDash val="solid"/>
          </a:ln>
        </p:spPr>
      </p:sp>
      <p:sp>
        <p:nvSpPr>
          <p:cNvPr id="105" name="Text 102"/>
          <p:cNvSpPr/>
          <p:nvPr/>
        </p:nvSpPr>
        <p:spPr>
          <a:xfrm>
            <a:off x="7662672" y="3849624"/>
            <a:ext cx="640080" cy="237744"/>
          </a:xfrm>
          <a:prstGeom prst="rect">
            <a:avLst/>
          </a:prstGeom>
          <a:noFill/>
          <a:ln/>
        </p:spPr>
        <p:txBody>
          <a:bodyPr wrap="square" lIns="0" tIns="0" rIns="0" bIns="0" rtlCol="0" anchor="ctr"/>
          <a:lstStyle/>
          <a:p>
            <a:pPr marL="0" indent="0">
              <a:buNone/>
            </a:pPr>
            <a:endParaRPr lang="en-US" sz="900" dirty="0"/>
          </a:p>
        </p:txBody>
      </p:sp>
      <p:sp>
        <p:nvSpPr>
          <p:cNvPr id="106" name="Shape 103"/>
          <p:cNvSpPr/>
          <p:nvPr/>
        </p:nvSpPr>
        <p:spPr>
          <a:xfrm>
            <a:off x="8339328" y="3840480"/>
            <a:ext cx="566928" cy="256032"/>
          </a:xfrm>
          <a:prstGeom prst="rect">
            <a:avLst/>
          </a:prstGeom>
          <a:solidFill>
            <a:srgbClr val="FFFFFF"/>
          </a:solidFill>
          <a:ln w="6350">
            <a:solidFill>
              <a:srgbClr val="CCCCCC"/>
            </a:solidFill>
            <a:prstDash val="solid"/>
          </a:ln>
        </p:spPr>
      </p:sp>
      <p:sp>
        <p:nvSpPr>
          <p:cNvPr id="107" name="Text 104"/>
          <p:cNvSpPr/>
          <p:nvPr/>
        </p:nvSpPr>
        <p:spPr>
          <a:xfrm>
            <a:off x="8412480" y="3849624"/>
            <a:ext cx="457200" cy="237744"/>
          </a:xfrm>
          <a:prstGeom prst="rect">
            <a:avLst/>
          </a:prstGeom>
          <a:noFill/>
          <a:ln/>
        </p:spPr>
        <p:txBody>
          <a:bodyPr wrap="square" lIns="0" tIns="0" rIns="0" bIns="0" rtlCol="0" anchor="ctr"/>
          <a:lstStyle/>
          <a:p>
            <a:pPr marL="0" indent="0">
              <a:buNone/>
            </a:pPr>
            <a:r>
              <a:rPr lang="en-US" sz="900" dirty="0">
                <a:solidFill>
                  <a:srgbClr val="1A1A2E"/>
                </a:solidFill>
                <a:latin typeface="Calibri" pitchFamily="34" charset="0"/>
                <a:ea typeface="Calibri" pitchFamily="34" charset="-122"/>
                <a:cs typeface="Calibri" pitchFamily="34" charset="-120"/>
              </a:rPr>
              <a:t>✓</a:t>
            </a:r>
            <a:endParaRPr lang="en-US" sz="900" dirty="0"/>
          </a:p>
        </p:txBody>
      </p:sp>
      <p:sp>
        <p:nvSpPr>
          <p:cNvPr id="108" name="Text 105"/>
          <p:cNvSpPr/>
          <p:nvPr/>
        </p:nvSpPr>
        <p:spPr>
          <a:xfrm>
            <a:off x="4700016" y="4151376"/>
            <a:ext cx="4206240" cy="365760"/>
          </a:xfrm>
          <a:prstGeom prst="rect">
            <a:avLst/>
          </a:prstGeom>
          <a:noFill/>
          <a:ln/>
        </p:spPr>
        <p:txBody>
          <a:bodyPr wrap="square" lIns="0" tIns="0" rIns="0" bIns="0" rtlCol="0" anchor="ctr"/>
          <a:lstStyle/>
          <a:p>
            <a:pPr marL="0" indent="0">
              <a:buNone/>
            </a:pPr>
            <a:r>
              <a:rPr lang="en-US" sz="900" i="1" dirty="0">
                <a:solidFill>
                  <a:srgbClr val="666666"/>
                </a:solidFill>
                <a:latin typeface="Calibri" pitchFamily="34" charset="0"/>
                <a:ea typeface="Calibri" pitchFamily="34" charset="-122"/>
                <a:cs typeface="Calibri" pitchFamily="34" charset="-120"/>
              </a:rPr>
              <a:t>El mismo usuario puede tener distinto rol en cada evento — los permisos son por evento, no globales.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888888"/>
                </a:solidFill>
                <a:latin typeface="Calibri" pitchFamily="34" charset="0"/>
                <a:ea typeface="Calibri" pitchFamily="34" charset="-122"/>
                <a:cs typeface="Calibri" pitchFamily="34" charset="-120"/>
              </a:rPr>
              <a:t>FLUJO DE COMPRA — QUÉ PASA POR DENTRO</a:t>
            </a:r>
            <a:endParaRPr lang="en-US" sz="900" dirty="0"/>
          </a:p>
        </p:txBody>
      </p:sp>
      <p:sp>
        <p:nvSpPr>
          <p:cNvPr id="5" name="Text 2"/>
          <p:cNvSpPr/>
          <p:nvPr/>
        </p:nvSpPr>
        <p:spPr>
          <a:xfrm>
            <a:off x="457200" y="475488"/>
            <a:ext cx="82296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Cuando el cliente paga, el sistema hace 7 cosas en menos de 1 segundo</a:t>
            </a:r>
            <a:endParaRPr lang="en-US" sz="2400" dirty="0"/>
          </a:p>
        </p:txBody>
      </p:sp>
      <p:sp>
        <p:nvSpPr>
          <p:cNvPr id="6" name="Shape 3"/>
          <p:cNvSpPr/>
          <p:nvPr/>
        </p:nvSpPr>
        <p:spPr>
          <a:xfrm>
            <a:off x="374904" y="1133856"/>
            <a:ext cx="2029968" cy="1572768"/>
          </a:xfrm>
          <a:prstGeom prst="rect">
            <a:avLst/>
          </a:prstGeom>
          <a:solidFill>
            <a:srgbClr val="2A1050"/>
          </a:solidFill>
          <a:ln w="19050">
            <a:solidFill>
              <a:srgbClr val="4A1D8A"/>
            </a:solidFill>
            <a:prstDash val="solid"/>
          </a:ln>
        </p:spPr>
      </p:sp>
      <p:sp>
        <p:nvSpPr>
          <p:cNvPr id="7" name="Shape 4"/>
          <p:cNvSpPr/>
          <p:nvPr/>
        </p:nvSpPr>
        <p:spPr>
          <a:xfrm>
            <a:off x="1179576" y="1271016"/>
            <a:ext cx="420624" cy="420624"/>
          </a:xfrm>
          <a:prstGeom prst="ellipse">
            <a:avLst/>
          </a:prstGeom>
          <a:solidFill>
            <a:srgbClr val="F5A623"/>
          </a:solidFill>
          <a:ln w="12700">
            <a:solidFill>
              <a:srgbClr val="F5A623"/>
            </a:solidFill>
            <a:prstDash val="solid"/>
          </a:ln>
        </p:spPr>
      </p:sp>
      <p:sp>
        <p:nvSpPr>
          <p:cNvPr id="8" name="Text 5"/>
          <p:cNvSpPr/>
          <p:nvPr/>
        </p:nvSpPr>
        <p:spPr>
          <a:xfrm>
            <a:off x="1179576" y="1289304"/>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1</a:t>
            </a:r>
            <a:endParaRPr lang="en-US" sz="1600" dirty="0"/>
          </a:p>
        </p:txBody>
      </p:sp>
      <p:sp>
        <p:nvSpPr>
          <p:cNvPr id="9" name="Text 6"/>
          <p:cNvSpPr/>
          <p:nvPr/>
        </p:nvSpPr>
        <p:spPr>
          <a:xfrm>
            <a:off x="466344" y="1755648"/>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Bloquea el carrito</a:t>
            </a:r>
            <a:endParaRPr lang="en-US" sz="1050" dirty="0"/>
          </a:p>
        </p:txBody>
      </p:sp>
      <p:sp>
        <p:nvSpPr>
          <p:cNvPr id="10" name="Text 7"/>
          <p:cNvSpPr/>
          <p:nvPr/>
        </p:nvSpPr>
        <p:spPr>
          <a:xfrm>
            <a:off x="466344" y="2121408"/>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Evita que dos personas compren el mismo último producto al mismo tiempo.</a:t>
            </a:r>
            <a:endParaRPr lang="en-US" sz="850" dirty="0"/>
          </a:p>
        </p:txBody>
      </p:sp>
      <p:sp>
        <p:nvSpPr>
          <p:cNvPr id="11" name="Shape 8"/>
          <p:cNvSpPr/>
          <p:nvPr/>
        </p:nvSpPr>
        <p:spPr>
          <a:xfrm>
            <a:off x="2496312" y="1133856"/>
            <a:ext cx="2029968" cy="1572768"/>
          </a:xfrm>
          <a:prstGeom prst="rect">
            <a:avLst/>
          </a:prstGeom>
          <a:solidFill>
            <a:srgbClr val="2A1050"/>
          </a:solidFill>
          <a:ln w="19050">
            <a:solidFill>
              <a:srgbClr val="8A4A1D"/>
            </a:solidFill>
            <a:prstDash val="solid"/>
          </a:ln>
        </p:spPr>
      </p:sp>
      <p:sp>
        <p:nvSpPr>
          <p:cNvPr id="12" name="Shape 9"/>
          <p:cNvSpPr/>
          <p:nvPr/>
        </p:nvSpPr>
        <p:spPr>
          <a:xfrm>
            <a:off x="3300984" y="1271016"/>
            <a:ext cx="420624" cy="420624"/>
          </a:xfrm>
          <a:prstGeom prst="ellipse">
            <a:avLst/>
          </a:prstGeom>
          <a:solidFill>
            <a:srgbClr val="F5A623"/>
          </a:solidFill>
          <a:ln w="12700">
            <a:solidFill>
              <a:srgbClr val="F5A623"/>
            </a:solidFill>
            <a:prstDash val="solid"/>
          </a:ln>
        </p:spPr>
      </p:sp>
      <p:sp>
        <p:nvSpPr>
          <p:cNvPr id="13" name="Text 10"/>
          <p:cNvSpPr/>
          <p:nvPr/>
        </p:nvSpPr>
        <p:spPr>
          <a:xfrm>
            <a:off x="3300984" y="1289304"/>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2</a:t>
            </a:r>
            <a:endParaRPr lang="en-US" sz="1600" dirty="0"/>
          </a:p>
        </p:txBody>
      </p:sp>
      <p:sp>
        <p:nvSpPr>
          <p:cNvPr id="14" name="Text 11"/>
          <p:cNvSpPr/>
          <p:nvPr/>
        </p:nvSpPr>
        <p:spPr>
          <a:xfrm>
            <a:off x="2587752" y="1755648"/>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Valida el puesto</a:t>
            </a:r>
            <a:endParaRPr lang="en-US" sz="1050" dirty="0"/>
          </a:p>
        </p:txBody>
      </p:sp>
      <p:sp>
        <p:nvSpPr>
          <p:cNvPr id="15" name="Text 12"/>
          <p:cNvSpPr/>
          <p:nvPr/>
        </p:nvSpPr>
        <p:spPr>
          <a:xfrm>
            <a:off x="2587752" y="2121408"/>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El carrito solo puede tener productos de un mismo puesto por transacción.</a:t>
            </a:r>
            <a:endParaRPr lang="en-US" sz="850" dirty="0"/>
          </a:p>
        </p:txBody>
      </p:sp>
      <p:sp>
        <p:nvSpPr>
          <p:cNvPr id="16" name="Shape 13"/>
          <p:cNvSpPr/>
          <p:nvPr/>
        </p:nvSpPr>
        <p:spPr>
          <a:xfrm>
            <a:off x="4617720" y="1133856"/>
            <a:ext cx="2029968" cy="1572768"/>
          </a:xfrm>
          <a:prstGeom prst="rect">
            <a:avLst/>
          </a:prstGeom>
          <a:solidFill>
            <a:srgbClr val="2A1050"/>
          </a:solidFill>
          <a:ln w="19050">
            <a:solidFill>
              <a:srgbClr val="1D8A4A"/>
            </a:solidFill>
            <a:prstDash val="solid"/>
          </a:ln>
        </p:spPr>
      </p:sp>
      <p:sp>
        <p:nvSpPr>
          <p:cNvPr id="17" name="Shape 14"/>
          <p:cNvSpPr/>
          <p:nvPr/>
        </p:nvSpPr>
        <p:spPr>
          <a:xfrm>
            <a:off x="5422392" y="1271016"/>
            <a:ext cx="420624" cy="420624"/>
          </a:xfrm>
          <a:prstGeom prst="ellipse">
            <a:avLst/>
          </a:prstGeom>
          <a:solidFill>
            <a:srgbClr val="F5A623"/>
          </a:solidFill>
          <a:ln w="12700">
            <a:solidFill>
              <a:srgbClr val="F5A623"/>
            </a:solidFill>
            <a:prstDash val="solid"/>
          </a:ln>
        </p:spPr>
      </p:sp>
      <p:sp>
        <p:nvSpPr>
          <p:cNvPr id="18" name="Text 15"/>
          <p:cNvSpPr/>
          <p:nvPr/>
        </p:nvSpPr>
        <p:spPr>
          <a:xfrm>
            <a:off x="5422392" y="1289304"/>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3</a:t>
            </a:r>
            <a:endParaRPr lang="en-US" sz="1600" dirty="0"/>
          </a:p>
        </p:txBody>
      </p:sp>
      <p:sp>
        <p:nvSpPr>
          <p:cNvPr id="19" name="Text 16"/>
          <p:cNvSpPr/>
          <p:nvPr/>
        </p:nvSpPr>
        <p:spPr>
          <a:xfrm>
            <a:off x="4709160" y="1755648"/>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Verifica el saldo</a:t>
            </a:r>
            <a:endParaRPr lang="en-US" sz="1050" dirty="0"/>
          </a:p>
        </p:txBody>
      </p:sp>
      <p:sp>
        <p:nvSpPr>
          <p:cNvPr id="20" name="Text 17"/>
          <p:cNvSpPr/>
          <p:nvPr/>
        </p:nvSpPr>
        <p:spPr>
          <a:xfrm>
            <a:off x="4709160" y="2121408"/>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Confirma que el cliente tiene suficientes UCoins antes de seguir.</a:t>
            </a:r>
            <a:endParaRPr lang="en-US" sz="850" dirty="0"/>
          </a:p>
        </p:txBody>
      </p:sp>
      <p:sp>
        <p:nvSpPr>
          <p:cNvPr id="21" name="Shape 18"/>
          <p:cNvSpPr/>
          <p:nvPr/>
        </p:nvSpPr>
        <p:spPr>
          <a:xfrm>
            <a:off x="6739128" y="1133856"/>
            <a:ext cx="2029968" cy="1572768"/>
          </a:xfrm>
          <a:prstGeom prst="rect">
            <a:avLst/>
          </a:prstGeom>
          <a:solidFill>
            <a:srgbClr val="2A1050"/>
          </a:solidFill>
          <a:ln w="19050">
            <a:solidFill>
              <a:srgbClr val="1D4A8A"/>
            </a:solidFill>
            <a:prstDash val="solid"/>
          </a:ln>
        </p:spPr>
      </p:sp>
      <p:sp>
        <p:nvSpPr>
          <p:cNvPr id="22" name="Shape 19"/>
          <p:cNvSpPr/>
          <p:nvPr/>
        </p:nvSpPr>
        <p:spPr>
          <a:xfrm>
            <a:off x="7543800" y="1271016"/>
            <a:ext cx="420624" cy="420624"/>
          </a:xfrm>
          <a:prstGeom prst="ellipse">
            <a:avLst/>
          </a:prstGeom>
          <a:solidFill>
            <a:srgbClr val="F5A623"/>
          </a:solidFill>
          <a:ln w="12700">
            <a:solidFill>
              <a:srgbClr val="F5A623"/>
            </a:solidFill>
            <a:prstDash val="solid"/>
          </a:ln>
        </p:spPr>
      </p:sp>
      <p:sp>
        <p:nvSpPr>
          <p:cNvPr id="23" name="Text 20"/>
          <p:cNvSpPr/>
          <p:nvPr/>
        </p:nvSpPr>
        <p:spPr>
          <a:xfrm>
            <a:off x="7543800" y="1289304"/>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4</a:t>
            </a:r>
            <a:endParaRPr lang="en-US" sz="1600" dirty="0"/>
          </a:p>
        </p:txBody>
      </p:sp>
      <p:sp>
        <p:nvSpPr>
          <p:cNvPr id="24" name="Text 21"/>
          <p:cNvSpPr/>
          <p:nvPr/>
        </p:nvSpPr>
        <p:spPr>
          <a:xfrm>
            <a:off x="6830568" y="1755648"/>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Crea la orden de venta</a:t>
            </a:r>
            <a:endParaRPr lang="en-US" sz="1050" dirty="0"/>
          </a:p>
        </p:txBody>
      </p:sp>
      <p:sp>
        <p:nvSpPr>
          <p:cNvPr id="25" name="Text 22"/>
          <p:cNvSpPr/>
          <p:nvPr/>
        </p:nvSpPr>
        <p:spPr>
          <a:xfrm>
            <a:off x="6830568" y="2121408"/>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Genera un número de orden único y guarda cada producto comprado.</a:t>
            </a:r>
            <a:endParaRPr lang="en-US" sz="850" dirty="0"/>
          </a:p>
        </p:txBody>
      </p:sp>
      <p:sp>
        <p:nvSpPr>
          <p:cNvPr id="26" name="Shape 23"/>
          <p:cNvSpPr/>
          <p:nvPr/>
        </p:nvSpPr>
        <p:spPr>
          <a:xfrm>
            <a:off x="1435608" y="2926080"/>
            <a:ext cx="2029968" cy="1572768"/>
          </a:xfrm>
          <a:prstGeom prst="rect">
            <a:avLst/>
          </a:prstGeom>
          <a:solidFill>
            <a:srgbClr val="2A1050"/>
          </a:solidFill>
          <a:ln w="19050">
            <a:solidFill>
              <a:srgbClr val="5A1D8A"/>
            </a:solidFill>
            <a:prstDash val="solid"/>
          </a:ln>
        </p:spPr>
      </p:sp>
      <p:sp>
        <p:nvSpPr>
          <p:cNvPr id="27" name="Shape 24"/>
          <p:cNvSpPr/>
          <p:nvPr/>
        </p:nvSpPr>
        <p:spPr>
          <a:xfrm>
            <a:off x="2240280" y="3063240"/>
            <a:ext cx="420624" cy="420624"/>
          </a:xfrm>
          <a:prstGeom prst="ellipse">
            <a:avLst/>
          </a:prstGeom>
          <a:solidFill>
            <a:srgbClr val="F5A623"/>
          </a:solidFill>
          <a:ln w="12700">
            <a:solidFill>
              <a:srgbClr val="F5A623"/>
            </a:solidFill>
            <a:prstDash val="solid"/>
          </a:ln>
        </p:spPr>
      </p:sp>
      <p:sp>
        <p:nvSpPr>
          <p:cNvPr id="28" name="Text 25"/>
          <p:cNvSpPr/>
          <p:nvPr/>
        </p:nvSpPr>
        <p:spPr>
          <a:xfrm>
            <a:off x="2240280" y="3081528"/>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5</a:t>
            </a:r>
            <a:endParaRPr lang="en-US" sz="1600" dirty="0"/>
          </a:p>
        </p:txBody>
      </p:sp>
      <p:sp>
        <p:nvSpPr>
          <p:cNvPr id="29" name="Text 26"/>
          <p:cNvSpPr/>
          <p:nvPr/>
        </p:nvSpPr>
        <p:spPr>
          <a:xfrm>
            <a:off x="1527048" y="3547872"/>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Descuenta el inventario</a:t>
            </a:r>
            <a:endParaRPr lang="en-US" sz="1050" dirty="0"/>
          </a:p>
        </p:txBody>
      </p:sp>
      <p:sp>
        <p:nvSpPr>
          <p:cNvPr id="30" name="Text 27"/>
          <p:cNvSpPr/>
          <p:nvPr/>
        </p:nvSpPr>
        <p:spPr>
          <a:xfrm>
            <a:off x="1527048" y="3913632"/>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Resta el stock de cada producto y registra el movimiento.</a:t>
            </a:r>
            <a:endParaRPr lang="en-US" sz="850" dirty="0"/>
          </a:p>
        </p:txBody>
      </p:sp>
      <p:sp>
        <p:nvSpPr>
          <p:cNvPr id="31" name="Shape 28"/>
          <p:cNvSpPr/>
          <p:nvPr/>
        </p:nvSpPr>
        <p:spPr>
          <a:xfrm>
            <a:off x="3557016" y="2926080"/>
            <a:ext cx="2029968" cy="1572768"/>
          </a:xfrm>
          <a:prstGeom prst="rect">
            <a:avLst/>
          </a:prstGeom>
          <a:solidFill>
            <a:srgbClr val="2A1050"/>
          </a:solidFill>
          <a:ln w="19050">
            <a:solidFill>
              <a:srgbClr val="8A1D4A"/>
            </a:solidFill>
            <a:prstDash val="solid"/>
          </a:ln>
        </p:spPr>
      </p:sp>
      <p:sp>
        <p:nvSpPr>
          <p:cNvPr id="32" name="Shape 29"/>
          <p:cNvSpPr/>
          <p:nvPr/>
        </p:nvSpPr>
        <p:spPr>
          <a:xfrm>
            <a:off x="4361688" y="3063240"/>
            <a:ext cx="420624" cy="420624"/>
          </a:xfrm>
          <a:prstGeom prst="ellipse">
            <a:avLst/>
          </a:prstGeom>
          <a:solidFill>
            <a:srgbClr val="F5A623"/>
          </a:solidFill>
          <a:ln w="12700">
            <a:solidFill>
              <a:srgbClr val="F5A623"/>
            </a:solidFill>
            <a:prstDash val="solid"/>
          </a:ln>
        </p:spPr>
      </p:sp>
      <p:sp>
        <p:nvSpPr>
          <p:cNvPr id="33" name="Text 30"/>
          <p:cNvSpPr/>
          <p:nvPr/>
        </p:nvSpPr>
        <p:spPr>
          <a:xfrm>
            <a:off x="4361688" y="3081528"/>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6</a:t>
            </a:r>
            <a:endParaRPr lang="en-US" sz="1600" dirty="0"/>
          </a:p>
        </p:txBody>
      </p:sp>
      <p:sp>
        <p:nvSpPr>
          <p:cNvPr id="34" name="Text 31"/>
          <p:cNvSpPr/>
          <p:nvPr/>
        </p:nvSpPr>
        <p:spPr>
          <a:xfrm>
            <a:off x="3648456" y="3547872"/>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Registra el movimiento</a:t>
            </a:r>
            <a:endParaRPr lang="en-US" sz="1050" dirty="0"/>
          </a:p>
        </p:txBody>
      </p:sp>
      <p:sp>
        <p:nvSpPr>
          <p:cNvPr id="35" name="Text 32"/>
          <p:cNvSpPr/>
          <p:nvPr/>
        </p:nvSpPr>
        <p:spPr>
          <a:xfrm>
            <a:off x="3648456" y="3913632"/>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Crea la transacción contable: descuenta la billetera del cliente.</a:t>
            </a:r>
            <a:endParaRPr lang="en-US" sz="850" dirty="0"/>
          </a:p>
        </p:txBody>
      </p:sp>
      <p:sp>
        <p:nvSpPr>
          <p:cNvPr id="36" name="Shape 33"/>
          <p:cNvSpPr/>
          <p:nvPr/>
        </p:nvSpPr>
        <p:spPr>
          <a:xfrm>
            <a:off x="5678424" y="2926080"/>
            <a:ext cx="2029968" cy="1572768"/>
          </a:xfrm>
          <a:prstGeom prst="rect">
            <a:avLst/>
          </a:prstGeom>
          <a:solidFill>
            <a:srgbClr val="2A1050"/>
          </a:solidFill>
          <a:ln w="19050">
            <a:solidFill>
              <a:srgbClr val="1D8A8A"/>
            </a:solidFill>
            <a:prstDash val="solid"/>
          </a:ln>
        </p:spPr>
      </p:sp>
      <p:sp>
        <p:nvSpPr>
          <p:cNvPr id="37" name="Shape 34"/>
          <p:cNvSpPr/>
          <p:nvPr/>
        </p:nvSpPr>
        <p:spPr>
          <a:xfrm>
            <a:off x="6483096" y="3063240"/>
            <a:ext cx="420624" cy="420624"/>
          </a:xfrm>
          <a:prstGeom prst="ellipse">
            <a:avLst/>
          </a:prstGeom>
          <a:solidFill>
            <a:srgbClr val="F5A623"/>
          </a:solidFill>
          <a:ln w="12700">
            <a:solidFill>
              <a:srgbClr val="F5A623"/>
            </a:solidFill>
            <a:prstDash val="solid"/>
          </a:ln>
        </p:spPr>
      </p:sp>
      <p:sp>
        <p:nvSpPr>
          <p:cNvPr id="38" name="Text 35"/>
          <p:cNvSpPr/>
          <p:nvPr/>
        </p:nvSpPr>
        <p:spPr>
          <a:xfrm>
            <a:off x="6483096" y="3081528"/>
            <a:ext cx="420624" cy="384048"/>
          </a:xfrm>
          <a:prstGeom prst="rect">
            <a:avLst/>
          </a:prstGeom>
          <a:noFill/>
          <a:ln/>
        </p:spPr>
        <p:txBody>
          <a:bodyPr wrap="square" lIns="0" tIns="0" rIns="0" bIns="0" rtlCol="0" anchor="ctr"/>
          <a:lstStyle/>
          <a:p>
            <a:pPr marL="0" indent="0" algn="ctr">
              <a:buNone/>
            </a:pPr>
            <a:r>
              <a:rPr lang="en-US" sz="1600" b="1" dirty="0">
                <a:solidFill>
                  <a:srgbClr val="3D1A6E"/>
                </a:solidFill>
                <a:latin typeface="Trebuchet MS" pitchFamily="34" charset="0"/>
                <a:ea typeface="Trebuchet MS" pitchFamily="34" charset="-122"/>
                <a:cs typeface="Trebuchet MS" pitchFamily="34" charset="-120"/>
              </a:rPr>
              <a:t>7</a:t>
            </a:r>
            <a:endParaRPr lang="en-US" sz="1600" dirty="0"/>
          </a:p>
        </p:txBody>
      </p:sp>
      <p:sp>
        <p:nvSpPr>
          <p:cNvPr id="39" name="Text 36"/>
          <p:cNvSpPr/>
          <p:nvPr/>
        </p:nvSpPr>
        <p:spPr>
          <a:xfrm>
            <a:off x="5769864" y="3547872"/>
            <a:ext cx="1865376" cy="347472"/>
          </a:xfrm>
          <a:prstGeom prst="rect">
            <a:avLst/>
          </a:prstGeom>
          <a:noFill/>
          <a:ln/>
        </p:spPr>
        <p:txBody>
          <a:bodyPr wrap="square" lIns="0" tIns="0" rIns="0" bIns="0" rtlCol="0" anchor="ctr"/>
          <a:lstStyle/>
          <a:p>
            <a:pPr marL="0" indent="0" algn="ctr">
              <a:buNone/>
            </a:pPr>
            <a:r>
              <a:rPr lang="en-US" sz="1050" b="1" dirty="0">
                <a:solidFill>
                  <a:srgbClr val="F5A623"/>
                </a:solidFill>
                <a:latin typeface="Trebuchet MS" pitchFamily="34" charset="0"/>
                <a:ea typeface="Trebuchet MS" pitchFamily="34" charset="-122"/>
                <a:cs typeface="Trebuchet MS" pitchFamily="34" charset="-120"/>
              </a:rPr>
              <a:t>Genera el código QR</a:t>
            </a:r>
            <a:endParaRPr lang="en-US" sz="1050" dirty="0"/>
          </a:p>
        </p:txBody>
      </p:sp>
      <p:sp>
        <p:nvSpPr>
          <p:cNvPr id="40" name="Text 37"/>
          <p:cNvSpPr/>
          <p:nvPr/>
        </p:nvSpPr>
        <p:spPr>
          <a:xfrm>
            <a:off x="5769864" y="3913632"/>
            <a:ext cx="1865376" cy="530352"/>
          </a:xfrm>
          <a:prstGeom prst="rect">
            <a:avLst/>
          </a:prstGeom>
          <a:noFill/>
          <a:ln/>
        </p:spPr>
        <p:txBody>
          <a:bodyPr wrap="square" lIns="0" tIns="0" rIns="0" bIns="0" rtlCol="0" anchor="ctr"/>
          <a:lstStyle/>
          <a:p>
            <a:pPr marL="0" indent="0" algn="ctr">
              <a:buNone/>
            </a:pPr>
            <a:r>
              <a:rPr lang="en-US" sz="850" dirty="0">
                <a:solidFill>
                  <a:srgbClr val="D4C0F0"/>
                </a:solidFill>
                <a:latin typeface="Calibri" pitchFamily="34" charset="0"/>
                <a:ea typeface="Calibri" pitchFamily="34" charset="-122"/>
                <a:cs typeface="Calibri" pitchFamily="34" charset="-120"/>
              </a:rPr>
              <a:t>Crea un código único para que el vendedor confirme la entrega.</a:t>
            </a:r>
            <a:endParaRPr lang="en-US" sz="850" dirty="0"/>
          </a:p>
        </p:txBody>
      </p:sp>
      <p:sp>
        <p:nvSpPr>
          <p:cNvPr id="41" name="Text 38"/>
          <p:cNvSpPr/>
          <p:nvPr/>
        </p:nvSpPr>
        <p:spPr>
          <a:xfrm>
            <a:off x="457200" y="4626864"/>
            <a:ext cx="8229600" cy="256032"/>
          </a:xfrm>
          <a:prstGeom prst="rect">
            <a:avLst/>
          </a:prstGeom>
          <a:noFill/>
          <a:ln/>
        </p:spPr>
        <p:txBody>
          <a:bodyPr wrap="square" lIns="0" tIns="0" rIns="0" bIns="0" rtlCol="0" anchor="ctr"/>
          <a:lstStyle/>
          <a:p>
            <a:pPr marL="0" indent="0" algn="ctr">
              <a:buNone/>
            </a:pPr>
            <a:r>
              <a:rPr lang="en-US" sz="1000" i="1" dirty="0">
                <a:solidFill>
                  <a:srgbClr val="C4A8E8"/>
                </a:solidFill>
                <a:latin typeface="Calibri" pitchFamily="34" charset="0"/>
                <a:ea typeface="Calibri" pitchFamily="34" charset="-122"/>
                <a:cs typeface="Calibri" pitchFamily="34" charset="-120"/>
              </a:rPr>
              <a:t>Si cualquiera de estos pasos falla (saldo insuficiente, stock agotado, etc.) el sistema revierte todo. Nada queda a medias.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3D1A6E"/>
          </a:solidFill>
          <a:ln w="12700">
            <a:solidFill>
              <a:srgbClr val="3D1A6E"/>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F5A623"/>
                </a:solidFill>
                <a:latin typeface="Calibri" pitchFamily="34" charset="0"/>
                <a:ea typeface="Calibri" pitchFamily="34" charset="-122"/>
                <a:cs typeface="Calibri" pitchFamily="34" charset="-120"/>
              </a:rPr>
              <a:t>SISTEMA DE SALDO Y CONTABILIDAD</a:t>
            </a:r>
            <a:endParaRPr lang="en-US" sz="900" dirty="0"/>
          </a:p>
        </p:txBody>
      </p:sp>
      <p:sp>
        <p:nvSpPr>
          <p:cNvPr id="5" name="Text 2"/>
          <p:cNvSpPr/>
          <p:nvPr/>
        </p:nvSpPr>
        <p:spPr>
          <a:xfrm>
            <a:off x="457200" y="502920"/>
            <a:ext cx="8229600" cy="594360"/>
          </a:xfrm>
          <a:prstGeom prst="rect">
            <a:avLst/>
          </a:prstGeom>
          <a:noFill/>
          <a:ln/>
        </p:spPr>
        <p:txBody>
          <a:bodyPr wrap="square" lIns="0" tIns="0" rIns="0" bIns="0" rtlCol="0" anchor="ctr"/>
          <a:lstStyle/>
          <a:p>
            <a:pPr marL="0" indent="0" algn="ctr">
              <a:buNone/>
            </a:pPr>
            <a:r>
              <a:rPr lang="en-US" sz="2700" b="1" dirty="0">
                <a:solidFill>
                  <a:srgbClr val="3D1A6E"/>
                </a:solidFill>
                <a:latin typeface="Trebuchet MS" pitchFamily="34" charset="0"/>
                <a:ea typeface="Trebuchet MS" pitchFamily="34" charset="-122"/>
                <a:cs typeface="Trebuchet MS" pitchFamily="34" charset="-120"/>
              </a:rPr>
              <a:t>Cada peso que entra y sale queda registrado con dos apuntes contables</a:t>
            </a:r>
            <a:endParaRPr lang="en-US" sz="2700" dirty="0"/>
          </a:p>
        </p:txBody>
      </p:sp>
      <p:sp>
        <p:nvSpPr>
          <p:cNvPr id="6" name="Text 3"/>
          <p:cNvSpPr/>
          <p:nvPr/>
        </p:nvSpPr>
        <p:spPr>
          <a:xfrm>
            <a:off x="384048" y="1225296"/>
            <a:ext cx="2286000" cy="256032"/>
          </a:xfrm>
          <a:prstGeom prst="rect">
            <a:avLst/>
          </a:prstGeom>
          <a:noFill/>
          <a:ln/>
        </p:spPr>
        <p:txBody>
          <a:bodyPr wrap="square" lIns="0" tIns="0" rIns="0" bIns="0" rtlCol="0" anchor="ctr"/>
          <a:lstStyle/>
          <a:p>
            <a:pPr marL="0" indent="0">
              <a:buNone/>
            </a:pPr>
            <a:r>
              <a:rPr lang="en-US" sz="1100" b="1" dirty="0">
                <a:solidFill>
                  <a:srgbClr val="3D1A6E"/>
                </a:solidFill>
                <a:latin typeface="Trebuchet MS" pitchFamily="34" charset="0"/>
                <a:ea typeface="Trebuchet MS" pitchFamily="34" charset="-122"/>
                <a:cs typeface="Trebuchet MS" pitchFamily="34" charset="-120"/>
              </a:rPr>
              <a:t>La analogía:</a:t>
            </a:r>
            <a:endParaRPr lang="en-US" sz="1100" dirty="0"/>
          </a:p>
        </p:txBody>
      </p:sp>
      <p:sp>
        <p:nvSpPr>
          <p:cNvPr id="7" name="Text 4"/>
          <p:cNvSpPr/>
          <p:nvPr/>
        </p:nvSpPr>
        <p:spPr>
          <a:xfrm>
            <a:off x="384048" y="1517904"/>
            <a:ext cx="8412480" cy="475488"/>
          </a:xfrm>
          <a:prstGeom prst="rect">
            <a:avLst/>
          </a:prstGeom>
          <a:noFill/>
          <a:ln/>
        </p:spPr>
        <p:txBody>
          <a:bodyPr wrap="square" lIns="0" tIns="0" rIns="0" bIns="0" rtlCol="0" anchor="ctr"/>
          <a:lstStyle/>
          <a:p>
            <a:pPr marL="0" indent="0">
              <a:buNone/>
            </a:pPr>
            <a:r>
              <a:rPr lang="en-US" sz="1050" i="1" dirty="0">
                <a:solidFill>
                  <a:srgbClr val="444444"/>
                </a:solidFill>
                <a:latin typeface="Calibri" pitchFamily="34" charset="0"/>
                <a:ea typeface="Calibri" pitchFamily="34" charset="-122"/>
                <a:cs typeface="Calibri" pitchFamily="34" charset="-120"/>
              </a:rPr>
              <a:t>Es como la contabilidad de un banco: cuando alguien recarga $100, al mismo tiempo se suman $100 a su cuenta Y se registran $100 en la caja de la plataforma. La suma siempre es cero.</a:t>
            </a:r>
            <a:endParaRPr lang="en-US" sz="1050" dirty="0"/>
          </a:p>
        </p:txBody>
      </p:sp>
      <p:sp>
        <p:nvSpPr>
          <p:cNvPr id="8" name="Text 5"/>
          <p:cNvSpPr/>
          <p:nvPr/>
        </p:nvSpPr>
        <p:spPr>
          <a:xfrm>
            <a:off x="384048" y="2103120"/>
            <a:ext cx="4114800" cy="256032"/>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Los 6 tipos de movimiento de dinero:</a:t>
            </a:r>
            <a:endParaRPr lang="en-US" sz="1200" dirty="0"/>
          </a:p>
        </p:txBody>
      </p:sp>
      <p:sp>
        <p:nvSpPr>
          <p:cNvPr id="9" name="Shape 6"/>
          <p:cNvSpPr/>
          <p:nvPr/>
        </p:nvSpPr>
        <p:spPr>
          <a:xfrm>
            <a:off x="384048" y="2395728"/>
            <a:ext cx="1536192" cy="274320"/>
          </a:xfrm>
          <a:prstGeom prst="rect">
            <a:avLst/>
          </a:prstGeom>
          <a:solidFill>
            <a:srgbClr val="3D1A6E"/>
          </a:solidFill>
          <a:ln w="6350">
            <a:solidFill>
              <a:srgbClr val="CCCCCC"/>
            </a:solidFill>
            <a:prstDash val="solid"/>
          </a:ln>
        </p:spPr>
      </p:sp>
      <p:sp>
        <p:nvSpPr>
          <p:cNvPr id="10" name="Text 7"/>
          <p:cNvSpPr/>
          <p:nvPr/>
        </p:nvSpPr>
        <p:spPr>
          <a:xfrm>
            <a:off x="457200" y="2404872"/>
            <a:ext cx="1426464"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Tipo</a:t>
            </a:r>
            <a:endParaRPr lang="en-US" sz="950" dirty="0"/>
          </a:p>
        </p:txBody>
      </p:sp>
      <p:sp>
        <p:nvSpPr>
          <p:cNvPr id="11" name="Shape 8"/>
          <p:cNvSpPr/>
          <p:nvPr/>
        </p:nvSpPr>
        <p:spPr>
          <a:xfrm>
            <a:off x="1920240" y="2395728"/>
            <a:ext cx="1417320" cy="274320"/>
          </a:xfrm>
          <a:prstGeom prst="rect">
            <a:avLst/>
          </a:prstGeom>
          <a:solidFill>
            <a:srgbClr val="3D1A6E"/>
          </a:solidFill>
          <a:ln w="6350">
            <a:solidFill>
              <a:srgbClr val="CCCCCC"/>
            </a:solidFill>
            <a:prstDash val="solid"/>
          </a:ln>
        </p:spPr>
      </p:sp>
      <p:sp>
        <p:nvSpPr>
          <p:cNvPr id="12" name="Text 9"/>
          <p:cNvSpPr/>
          <p:nvPr/>
        </p:nvSpPr>
        <p:spPr>
          <a:xfrm>
            <a:off x="1993392" y="2404872"/>
            <a:ext cx="1307592"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¿Quién lo genera?</a:t>
            </a:r>
            <a:endParaRPr lang="en-US" sz="950" dirty="0"/>
          </a:p>
        </p:txBody>
      </p:sp>
      <p:sp>
        <p:nvSpPr>
          <p:cNvPr id="13" name="Shape 10"/>
          <p:cNvSpPr/>
          <p:nvPr/>
        </p:nvSpPr>
        <p:spPr>
          <a:xfrm>
            <a:off x="3337560" y="2395728"/>
            <a:ext cx="2304288" cy="274320"/>
          </a:xfrm>
          <a:prstGeom prst="rect">
            <a:avLst/>
          </a:prstGeom>
          <a:solidFill>
            <a:srgbClr val="3D1A6E"/>
          </a:solidFill>
          <a:ln w="6350">
            <a:solidFill>
              <a:srgbClr val="CCCCCC"/>
            </a:solidFill>
            <a:prstDash val="solid"/>
          </a:ln>
        </p:spPr>
      </p:sp>
      <p:sp>
        <p:nvSpPr>
          <p:cNvPr id="14" name="Text 11"/>
          <p:cNvSpPr/>
          <p:nvPr/>
        </p:nvSpPr>
        <p:spPr>
          <a:xfrm>
            <a:off x="3410712" y="2404872"/>
            <a:ext cx="2194560" cy="256032"/>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¿Qué hace?</a:t>
            </a:r>
            <a:endParaRPr lang="en-US" sz="950" dirty="0"/>
          </a:p>
        </p:txBody>
      </p:sp>
      <p:sp>
        <p:nvSpPr>
          <p:cNvPr id="15" name="Shape 12"/>
          <p:cNvSpPr/>
          <p:nvPr/>
        </p:nvSpPr>
        <p:spPr>
          <a:xfrm>
            <a:off x="384048" y="2670048"/>
            <a:ext cx="1536192" cy="274320"/>
          </a:xfrm>
          <a:prstGeom prst="rect">
            <a:avLst/>
          </a:prstGeom>
          <a:solidFill>
            <a:srgbClr val="FFFFFF"/>
          </a:solidFill>
          <a:ln w="6350">
            <a:solidFill>
              <a:srgbClr val="CCCCCC"/>
            </a:solidFill>
            <a:prstDash val="solid"/>
          </a:ln>
        </p:spPr>
      </p:sp>
      <p:sp>
        <p:nvSpPr>
          <p:cNvPr id="16" name="Text 13"/>
          <p:cNvSpPr/>
          <p:nvPr/>
        </p:nvSpPr>
        <p:spPr>
          <a:xfrm>
            <a:off x="457200" y="2679192"/>
            <a:ext cx="1426464"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Recarga online</a:t>
            </a:r>
            <a:endParaRPr lang="en-US" sz="950" dirty="0"/>
          </a:p>
        </p:txBody>
      </p:sp>
      <p:sp>
        <p:nvSpPr>
          <p:cNvPr id="17" name="Shape 14"/>
          <p:cNvSpPr/>
          <p:nvPr/>
        </p:nvSpPr>
        <p:spPr>
          <a:xfrm>
            <a:off x="1920240" y="2670048"/>
            <a:ext cx="1417320" cy="274320"/>
          </a:xfrm>
          <a:prstGeom prst="rect">
            <a:avLst/>
          </a:prstGeom>
          <a:solidFill>
            <a:srgbClr val="FFFFFF"/>
          </a:solidFill>
          <a:ln w="6350">
            <a:solidFill>
              <a:srgbClr val="CCCCCC"/>
            </a:solidFill>
            <a:prstDash val="solid"/>
          </a:ln>
        </p:spPr>
      </p:sp>
      <p:sp>
        <p:nvSpPr>
          <p:cNvPr id="18" name="Text 15"/>
          <p:cNvSpPr/>
          <p:nvPr/>
        </p:nvSpPr>
        <p:spPr>
          <a:xfrm>
            <a:off x="1993392" y="2679192"/>
            <a:ext cx="1307592"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cliente</a:t>
            </a:r>
            <a:endParaRPr lang="en-US" sz="950" dirty="0"/>
          </a:p>
        </p:txBody>
      </p:sp>
      <p:sp>
        <p:nvSpPr>
          <p:cNvPr id="19" name="Shape 16"/>
          <p:cNvSpPr/>
          <p:nvPr/>
        </p:nvSpPr>
        <p:spPr>
          <a:xfrm>
            <a:off x="3337560" y="2670048"/>
            <a:ext cx="2304288" cy="274320"/>
          </a:xfrm>
          <a:prstGeom prst="rect">
            <a:avLst/>
          </a:prstGeom>
          <a:solidFill>
            <a:srgbClr val="FFFFFF"/>
          </a:solidFill>
          <a:ln w="6350">
            <a:solidFill>
              <a:srgbClr val="CCCCCC"/>
            </a:solidFill>
            <a:prstDash val="solid"/>
          </a:ln>
        </p:spPr>
      </p:sp>
      <p:sp>
        <p:nvSpPr>
          <p:cNvPr id="20" name="Text 17"/>
          <p:cNvSpPr/>
          <p:nvPr/>
        </p:nvSpPr>
        <p:spPr>
          <a:xfrm>
            <a:off x="3410712" y="2679192"/>
            <a:ext cx="2194560"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Suma UCoins a su billetera desde la app</a:t>
            </a:r>
            <a:endParaRPr lang="en-US" sz="950" dirty="0"/>
          </a:p>
        </p:txBody>
      </p:sp>
      <p:sp>
        <p:nvSpPr>
          <p:cNvPr id="21" name="Shape 18"/>
          <p:cNvSpPr/>
          <p:nvPr/>
        </p:nvSpPr>
        <p:spPr>
          <a:xfrm>
            <a:off x="384048" y="2944368"/>
            <a:ext cx="1536192" cy="274320"/>
          </a:xfrm>
          <a:prstGeom prst="rect">
            <a:avLst/>
          </a:prstGeom>
          <a:solidFill>
            <a:srgbClr val="F0EBF8"/>
          </a:solidFill>
          <a:ln w="6350">
            <a:solidFill>
              <a:srgbClr val="CCCCCC"/>
            </a:solidFill>
            <a:prstDash val="solid"/>
          </a:ln>
        </p:spPr>
      </p:sp>
      <p:sp>
        <p:nvSpPr>
          <p:cNvPr id="22" name="Text 19"/>
          <p:cNvSpPr/>
          <p:nvPr/>
        </p:nvSpPr>
        <p:spPr>
          <a:xfrm>
            <a:off x="457200" y="2953512"/>
            <a:ext cx="1426464"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Recarga en efectivo</a:t>
            </a:r>
            <a:endParaRPr lang="en-US" sz="950" dirty="0"/>
          </a:p>
        </p:txBody>
      </p:sp>
      <p:sp>
        <p:nvSpPr>
          <p:cNvPr id="23" name="Shape 20"/>
          <p:cNvSpPr/>
          <p:nvPr/>
        </p:nvSpPr>
        <p:spPr>
          <a:xfrm>
            <a:off x="1920240" y="2944368"/>
            <a:ext cx="1417320" cy="274320"/>
          </a:xfrm>
          <a:prstGeom prst="rect">
            <a:avLst/>
          </a:prstGeom>
          <a:solidFill>
            <a:srgbClr val="F0EBF8"/>
          </a:solidFill>
          <a:ln w="6350">
            <a:solidFill>
              <a:srgbClr val="CCCCCC"/>
            </a:solidFill>
            <a:prstDash val="solid"/>
          </a:ln>
        </p:spPr>
      </p:sp>
      <p:sp>
        <p:nvSpPr>
          <p:cNvPr id="24" name="Text 21"/>
          <p:cNvSpPr/>
          <p:nvPr/>
        </p:nvSpPr>
        <p:spPr>
          <a:xfrm>
            <a:off x="1993392" y="2953512"/>
            <a:ext cx="1307592"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staff</a:t>
            </a:r>
            <a:endParaRPr lang="en-US" sz="950" dirty="0"/>
          </a:p>
        </p:txBody>
      </p:sp>
      <p:sp>
        <p:nvSpPr>
          <p:cNvPr id="25" name="Shape 22"/>
          <p:cNvSpPr/>
          <p:nvPr/>
        </p:nvSpPr>
        <p:spPr>
          <a:xfrm>
            <a:off x="3337560" y="2944368"/>
            <a:ext cx="2304288" cy="274320"/>
          </a:xfrm>
          <a:prstGeom prst="rect">
            <a:avLst/>
          </a:prstGeom>
          <a:solidFill>
            <a:srgbClr val="F0EBF8"/>
          </a:solidFill>
          <a:ln w="6350">
            <a:solidFill>
              <a:srgbClr val="CCCCCC"/>
            </a:solidFill>
            <a:prstDash val="solid"/>
          </a:ln>
        </p:spPr>
      </p:sp>
      <p:sp>
        <p:nvSpPr>
          <p:cNvPr id="26" name="Text 23"/>
          <p:cNvSpPr/>
          <p:nvPr/>
        </p:nvSpPr>
        <p:spPr>
          <a:xfrm>
            <a:off x="3410712" y="2953512"/>
            <a:ext cx="2194560"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organizador acredita UCoins manualmente</a:t>
            </a:r>
            <a:endParaRPr lang="en-US" sz="950" dirty="0"/>
          </a:p>
        </p:txBody>
      </p:sp>
      <p:sp>
        <p:nvSpPr>
          <p:cNvPr id="27" name="Shape 24"/>
          <p:cNvSpPr/>
          <p:nvPr/>
        </p:nvSpPr>
        <p:spPr>
          <a:xfrm>
            <a:off x="384048" y="3218688"/>
            <a:ext cx="1536192" cy="274320"/>
          </a:xfrm>
          <a:prstGeom prst="rect">
            <a:avLst/>
          </a:prstGeom>
          <a:solidFill>
            <a:srgbClr val="FFFFFF"/>
          </a:solidFill>
          <a:ln w="6350">
            <a:solidFill>
              <a:srgbClr val="CCCCCC"/>
            </a:solidFill>
            <a:prstDash val="solid"/>
          </a:ln>
        </p:spPr>
      </p:sp>
      <p:sp>
        <p:nvSpPr>
          <p:cNvPr id="28" name="Text 25"/>
          <p:cNvSpPr/>
          <p:nvPr/>
        </p:nvSpPr>
        <p:spPr>
          <a:xfrm>
            <a:off x="457200" y="3227832"/>
            <a:ext cx="1426464"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Compra</a:t>
            </a:r>
            <a:endParaRPr lang="en-US" sz="950" dirty="0"/>
          </a:p>
        </p:txBody>
      </p:sp>
      <p:sp>
        <p:nvSpPr>
          <p:cNvPr id="29" name="Shape 26"/>
          <p:cNvSpPr/>
          <p:nvPr/>
        </p:nvSpPr>
        <p:spPr>
          <a:xfrm>
            <a:off x="1920240" y="3218688"/>
            <a:ext cx="1417320" cy="274320"/>
          </a:xfrm>
          <a:prstGeom prst="rect">
            <a:avLst/>
          </a:prstGeom>
          <a:solidFill>
            <a:srgbClr val="FFFFFF"/>
          </a:solidFill>
          <a:ln w="6350">
            <a:solidFill>
              <a:srgbClr val="CCCCCC"/>
            </a:solidFill>
            <a:prstDash val="solid"/>
          </a:ln>
        </p:spPr>
      </p:sp>
      <p:sp>
        <p:nvSpPr>
          <p:cNvPr id="30" name="Text 27"/>
          <p:cNvSpPr/>
          <p:nvPr/>
        </p:nvSpPr>
        <p:spPr>
          <a:xfrm>
            <a:off x="1993392" y="3227832"/>
            <a:ext cx="1307592"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sistema</a:t>
            </a:r>
            <a:endParaRPr lang="en-US" sz="950" dirty="0"/>
          </a:p>
        </p:txBody>
      </p:sp>
      <p:sp>
        <p:nvSpPr>
          <p:cNvPr id="31" name="Shape 28"/>
          <p:cNvSpPr/>
          <p:nvPr/>
        </p:nvSpPr>
        <p:spPr>
          <a:xfrm>
            <a:off x="3337560" y="3218688"/>
            <a:ext cx="2304288" cy="274320"/>
          </a:xfrm>
          <a:prstGeom prst="rect">
            <a:avLst/>
          </a:prstGeom>
          <a:solidFill>
            <a:srgbClr val="FFFFFF"/>
          </a:solidFill>
          <a:ln w="6350">
            <a:solidFill>
              <a:srgbClr val="CCCCCC"/>
            </a:solidFill>
            <a:prstDash val="solid"/>
          </a:ln>
        </p:spPr>
      </p:sp>
      <p:sp>
        <p:nvSpPr>
          <p:cNvPr id="32" name="Text 29"/>
          <p:cNvSpPr/>
          <p:nvPr/>
        </p:nvSpPr>
        <p:spPr>
          <a:xfrm>
            <a:off x="3410712" y="3227832"/>
            <a:ext cx="2194560"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Descuenta UCoins al pagar el carrito</a:t>
            </a:r>
            <a:endParaRPr lang="en-US" sz="950" dirty="0"/>
          </a:p>
        </p:txBody>
      </p:sp>
      <p:sp>
        <p:nvSpPr>
          <p:cNvPr id="33" name="Shape 30"/>
          <p:cNvSpPr/>
          <p:nvPr/>
        </p:nvSpPr>
        <p:spPr>
          <a:xfrm>
            <a:off x="384048" y="3493008"/>
            <a:ext cx="1536192" cy="274320"/>
          </a:xfrm>
          <a:prstGeom prst="rect">
            <a:avLst/>
          </a:prstGeom>
          <a:solidFill>
            <a:srgbClr val="F0EBF8"/>
          </a:solidFill>
          <a:ln w="6350">
            <a:solidFill>
              <a:srgbClr val="CCCCCC"/>
            </a:solidFill>
            <a:prstDash val="solid"/>
          </a:ln>
        </p:spPr>
      </p:sp>
      <p:sp>
        <p:nvSpPr>
          <p:cNvPr id="34" name="Text 31"/>
          <p:cNvSpPr/>
          <p:nvPr/>
        </p:nvSpPr>
        <p:spPr>
          <a:xfrm>
            <a:off x="457200" y="3502152"/>
            <a:ext cx="1426464"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Reembolso</a:t>
            </a:r>
            <a:endParaRPr lang="en-US" sz="950" dirty="0"/>
          </a:p>
        </p:txBody>
      </p:sp>
      <p:sp>
        <p:nvSpPr>
          <p:cNvPr id="35" name="Shape 32"/>
          <p:cNvSpPr/>
          <p:nvPr/>
        </p:nvSpPr>
        <p:spPr>
          <a:xfrm>
            <a:off x="1920240" y="3493008"/>
            <a:ext cx="1417320" cy="274320"/>
          </a:xfrm>
          <a:prstGeom prst="rect">
            <a:avLst/>
          </a:prstGeom>
          <a:solidFill>
            <a:srgbClr val="F0EBF8"/>
          </a:solidFill>
          <a:ln w="6350">
            <a:solidFill>
              <a:srgbClr val="CCCCCC"/>
            </a:solidFill>
            <a:prstDash val="solid"/>
          </a:ln>
        </p:spPr>
      </p:sp>
      <p:sp>
        <p:nvSpPr>
          <p:cNvPr id="36" name="Text 33"/>
          <p:cNvSpPr/>
          <p:nvPr/>
        </p:nvSpPr>
        <p:spPr>
          <a:xfrm>
            <a:off x="1993392" y="3502152"/>
            <a:ext cx="1307592"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staff</a:t>
            </a:r>
            <a:endParaRPr lang="en-US" sz="950" dirty="0"/>
          </a:p>
        </p:txBody>
      </p:sp>
      <p:sp>
        <p:nvSpPr>
          <p:cNvPr id="37" name="Shape 34"/>
          <p:cNvSpPr/>
          <p:nvPr/>
        </p:nvSpPr>
        <p:spPr>
          <a:xfrm>
            <a:off x="3337560" y="3493008"/>
            <a:ext cx="2304288" cy="274320"/>
          </a:xfrm>
          <a:prstGeom prst="rect">
            <a:avLst/>
          </a:prstGeom>
          <a:solidFill>
            <a:srgbClr val="F0EBF8"/>
          </a:solidFill>
          <a:ln w="6350">
            <a:solidFill>
              <a:srgbClr val="CCCCCC"/>
            </a:solidFill>
            <a:prstDash val="solid"/>
          </a:ln>
        </p:spPr>
      </p:sp>
      <p:sp>
        <p:nvSpPr>
          <p:cNvPr id="38" name="Text 35"/>
          <p:cNvSpPr/>
          <p:nvPr/>
        </p:nvSpPr>
        <p:spPr>
          <a:xfrm>
            <a:off x="3410712" y="3502152"/>
            <a:ext cx="2194560"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Devuelve UCoins a la billetera del cliente</a:t>
            </a:r>
            <a:endParaRPr lang="en-US" sz="950" dirty="0"/>
          </a:p>
        </p:txBody>
      </p:sp>
      <p:sp>
        <p:nvSpPr>
          <p:cNvPr id="39" name="Shape 36"/>
          <p:cNvSpPr/>
          <p:nvPr/>
        </p:nvSpPr>
        <p:spPr>
          <a:xfrm>
            <a:off x="384048" y="3767328"/>
            <a:ext cx="1536192" cy="274320"/>
          </a:xfrm>
          <a:prstGeom prst="rect">
            <a:avLst/>
          </a:prstGeom>
          <a:solidFill>
            <a:srgbClr val="FFFFFF"/>
          </a:solidFill>
          <a:ln w="6350">
            <a:solidFill>
              <a:srgbClr val="CCCCCC"/>
            </a:solidFill>
            <a:prstDash val="solid"/>
          </a:ln>
        </p:spPr>
      </p:sp>
      <p:sp>
        <p:nvSpPr>
          <p:cNvPr id="40" name="Text 37"/>
          <p:cNvSpPr/>
          <p:nvPr/>
        </p:nvSpPr>
        <p:spPr>
          <a:xfrm>
            <a:off x="457200" y="3776472"/>
            <a:ext cx="1426464"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Ajuste</a:t>
            </a:r>
            <a:endParaRPr lang="en-US" sz="950" dirty="0"/>
          </a:p>
        </p:txBody>
      </p:sp>
      <p:sp>
        <p:nvSpPr>
          <p:cNvPr id="41" name="Shape 38"/>
          <p:cNvSpPr/>
          <p:nvPr/>
        </p:nvSpPr>
        <p:spPr>
          <a:xfrm>
            <a:off x="1920240" y="3767328"/>
            <a:ext cx="1417320" cy="274320"/>
          </a:xfrm>
          <a:prstGeom prst="rect">
            <a:avLst/>
          </a:prstGeom>
          <a:solidFill>
            <a:srgbClr val="FFFFFF"/>
          </a:solidFill>
          <a:ln w="6350">
            <a:solidFill>
              <a:srgbClr val="CCCCCC"/>
            </a:solidFill>
            <a:prstDash val="solid"/>
          </a:ln>
        </p:spPr>
      </p:sp>
      <p:sp>
        <p:nvSpPr>
          <p:cNvPr id="42" name="Text 39"/>
          <p:cNvSpPr/>
          <p:nvPr/>
        </p:nvSpPr>
        <p:spPr>
          <a:xfrm>
            <a:off x="1993392" y="3776472"/>
            <a:ext cx="1307592"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staff</a:t>
            </a:r>
            <a:endParaRPr lang="en-US" sz="950" dirty="0"/>
          </a:p>
        </p:txBody>
      </p:sp>
      <p:sp>
        <p:nvSpPr>
          <p:cNvPr id="43" name="Shape 40"/>
          <p:cNvSpPr/>
          <p:nvPr/>
        </p:nvSpPr>
        <p:spPr>
          <a:xfrm>
            <a:off x="3337560" y="3767328"/>
            <a:ext cx="2304288" cy="274320"/>
          </a:xfrm>
          <a:prstGeom prst="rect">
            <a:avLst/>
          </a:prstGeom>
          <a:solidFill>
            <a:srgbClr val="FFFFFF"/>
          </a:solidFill>
          <a:ln w="6350">
            <a:solidFill>
              <a:srgbClr val="CCCCCC"/>
            </a:solidFill>
            <a:prstDash val="solid"/>
          </a:ln>
        </p:spPr>
      </p:sp>
      <p:sp>
        <p:nvSpPr>
          <p:cNvPr id="44" name="Text 41"/>
          <p:cNvSpPr/>
          <p:nvPr/>
        </p:nvSpPr>
        <p:spPr>
          <a:xfrm>
            <a:off x="3410712" y="3776472"/>
            <a:ext cx="2194560"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Corrección manual de saldo</a:t>
            </a:r>
            <a:endParaRPr lang="en-US" sz="950" dirty="0"/>
          </a:p>
        </p:txBody>
      </p:sp>
      <p:sp>
        <p:nvSpPr>
          <p:cNvPr id="45" name="Shape 42"/>
          <p:cNvSpPr/>
          <p:nvPr/>
        </p:nvSpPr>
        <p:spPr>
          <a:xfrm>
            <a:off x="384048" y="4041648"/>
            <a:ext cx="1536192" cy="274320"/>
          </a:xfrm>
          <a:prstGeom prst="rect">
            <a:avLst/>
          </a:prstGeom>
          <a:solidFill>
            <a:srgbClr val="F0EBF8"/>
          </a:solidFill>
          <a:ln w="6350">
            <a:solidFill>
              <a:srgbClr val="CCCCCC"/>
            </a:solidFill>
            <a:prstDash val="solid"/>
          </a:ln>
        </p:spPr>
      </p:sp>
      <p:sp>
        <p:nvSpPr>
          <p:cNvPr id="46" name="Text 43"/>
          <p:cNvSpPr/>
          <p:nvPr/>
        </p:nvSpPr>
        <p:spPr>
          <a:xfrm>
            <a:off x="457200" y="4050792"/>
            <a:ext cx="1426464"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Expiración</a:t>
            </a:r>
            <a:endParaRPr lang="en-US" sz="950" dirty="0"/>
          </a:p>
        </p:txBody>
      </p:sp>
      <p:sp>
        <p:nvSpPr>
          <p:cNvPr id="47" name="Shape 44"/>
          <p:cNvSpPr/>
          <p:nvPr/>
        </p:nvSpPr>
        <p:spPr>
          <a:xfrm>
            <a:off x="1920240" y="4041648"/>
            <a:ext cx="1417320" cy="274320"/>
          </a:xfrm>
          <a:prstGeom prst="rect">
            <a:avLst/>
          </a:prstGeom>
          <a:solidFill>
            <a:srgbClr val="F0EBF8"/>
          </a:solidFill>
          <a:ln w="6350">
            <a:solidFill>
              <a:srgbClr val="CCCCCC"/>
            </a:solidFill>
            <a:prstDash val="solid"/>
          </a:ln>
        </p:spPr>
      </p:sp>
      <p:sp>
        <p:nvSpPr>
          <p:cNvPr id="48" name="Text 45"/>
          <p:cNvSpPr/>
          <p:nvPr/>
        </p:nvSpPr>
        <p:spPr>
          <a:xfrm>
            <a:off x="1993392" y="4050792"/>
            <a:ext cx="1307592"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Al cerrar evento</a:t>
            </a:r>
            <a:endParaRPr lang="en-US" sz="950" dirty="0"/>
          </a:p>
        </p:txBody>
      </p:sp>
      <p:sp>
        <p:nvSpPr>
          <p:cNvPr id="49" name="Shape 46"/>
          <p:cNvSpPr/>
          <p:nvPr/>
        </p:nvSpPr>
        <p:spPr>
          <a:xfrm>
            <a:off x="3337560" y="4041648"/>
            <a:ext cx="2304288" cy="274320"/>
          </a:xfrm>
          <a:prstGeom prst="rect">
            <a:avLst/>
          </a:prstGeom>
          <a:solidFill>
            <a:srgbClr val="F0EBF8"/>
          </a:solidFill>
          <a:ln w="6350">
            <a:solidFill>
              <a:srgbClr val="CCCCCC"/>
            </a:solidFill>
            <a:prstDash val="solid"/>
          </a:ln>
        </p:spPr>
      </p:sp>
      <p:sp>
        <p:nvSpPr>
          <p:cNvPr id="50" name="Text 47"/>
          <p:cNvSpPr/>
          <p:nvPr/>
        </p:nvSpPr>
        <p:spPr>
          <a:xfrm>
            <a:off x="3410712" y="4050792"/>
            <a:ext cx="2194560" cy="256032"/>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El saldo restante expira y se registra</a:t>
            </a:r>
            <a:endParaRPr lang="en-US" sz="950" dirty="0"/>
          </a:p>
        </p:txBody>
      </p:sp>
      <p:sp>
        <p:nvSpPr>
          <p:cNvPr id="51" name="Text 48"/>
          <p:cNvSpPr/>
          <p:nvPr/>
        </p:nvSpPr>
        <p:spPr>
          <a:xfrm>
            <a:off x="5303520" y="2103120"/>
            <a:ext cx="3566160" cy="256032"/>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Protección anti-duplicados</a:t>
            </a:r>
            <a:endParaRPr lang="en-US" sz="1200" dirty="0"/>
          </a:p>
        </p:txBody>
      </p:sp>
      <p:sp>
        <p:nvSpPr>
          <p:cNvPr id="52" name="Shape 49"/>
          <p:cNvSpPr/>
          <p:nvPr/>
        </p:nvSpPr>
        <p:spPr>
          <a:xfrm>
            <a:off x="5440680" y="2390799"/>
            <a:ext cx="3566160" cy="1188720"/>
          </a:xfrm>
          <a:prstGeom prst="rect">
            <a:avLst/>
          </a:prstGeom>
          <a:solidFill>
            <a:srgbClr val="FFFFFF"/>
          </a:solidFill>
          <a:ln/>
          <a:effectLst>
            <a:outerShdw blurRad="88900" dist="38100" dir="8100000" algn="bl" rotWithShape="0">
              <a:srgbClr val="000000">
                <a:alpha val="12000"/>
              </a:srgbClr>
            </a:outerShdw>
          </a:effectLst>
        </p:spPr>
      </p:sp>
      <p:sp>
        <p:nvSpPr>
          <p:cNvPr id="53" name="Shape 50"/>
          <p:cNvSpPr/>
          <p:nvPr/>
        </p:nvSpPr>
        <p:spPr>
          <a:xfrm>
            <a:off x="5303520" y="2395728"/>
            <a:ext cx="182880" cy="1188720"/>
          </a:xfrm>
          <a:prstGeom prst="rect">
            <a:avLst/>
          </a:prstGeom>
          <a:solidFill>
            <a:srgbClr val="F5A623"/>
          </a:solidFill>
          <a:ln w="12700">
            <a:solidFill>
              <a:srgbClr val="F5A623"/>
            </a:solidFill>
            <a:prstDash val="solid"/>
          </a:ln>
        </p:spPr>
      </p:sp>
      <p:sp>
        <p:nvSpPr>
          <p:cNvPr id="54" name="Text 51"/>
          <p:cNvSpPr/>
          <p:nvPr/>
        </p:nvSpPr>
        <p:spPr>
          <a:xfrm>
            <a:off x="5559552" y="2487168"/>
            <a:ext cx="3236976" cy="320040"/>
          </a:xfrm>
          <a:prstGeom prst="rect">
            <a:avLst/>
          </a:prstGeom>
          <a:noFill/>
          <a:ln/>
        </p:spPr>
        <p:txBody>
          <a:bodyPr wrap="square" lIns="0" tIns="0" rIns="0" bIns="0" rtlCol="0" anchor="ctr"/>
          <a:lstStyle/>
          <a:p>
            <a:pPr marL="0" indent="0">
              <a:buNone/>
            </a:pPr>
            <a:r>
              <a:rPr lang="en-US" sz="1300" b="1" dirty="0">
                <a:solidFill>
                  <a:srgbClr val="3D1A6E"/>
                </a:solidFill>
                <a:latin typeface="Trebuchet MS" pitchFamily="34" charset="0"/>
                <a:ea typeface="Trebuchet MS" pitchFamily="34" charset="-122"/>
                <a:cs typeface="Trebuchet MS" pitchFamily="34" charset="-120"/>
              </a:rPr>
              <a:t>Idempotency Key (llave única)</a:t>
            </a:r>
            <a:endParaRPr lang="en-US" sz="1300" dirty="0"/>
          </a:p>
        </p:txBody>
      </p:sp>
      <p:sp>
        <p:nvSpPr>
          <p:cNvPr id="55" name="Text 52"/>
          <p:cNvSpPr/>
          <p:nvPr/>
        </p:nvSpPr>
        <p:spPr>
          <a:xfrm>
            <a:off x="5559552" y="2816352"/>
            <a:ext cx="3236976" cy="685800"/>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Cada transacción tiene una llave única. Si el usuario hace doble clic en 'Pagar' o hay un problema de red y la petición se repite, el sistema detecta que ya existe esa transacción y no la registra dos veces. El cobro nunca se duplica.</a:t>
            </a:r>
            <a:endParaRPr lang="en-US" sz="1050" dirty="0"/>
          </a:p>
        </p:txBody>
      </p:sp>
      <p:sp>
        <p:nvSpPr>
          <p:cNvPr id="56" name="Shape 53"/>
          <p:cNvSpPr/>
          <p:nvPr/>
        </p:nvSpPr>
        <p:spPr>
          <a:xfrm>
            <a:off x="5303520" y="3703320"/>
            <a:ext cx="3566160" cy="1024128"/>
          </a:xfrm>
          <a:prstGeom prst="rect">
            <a:avLst/>
          </a:prstGeom>
          <a:solidFill>
            <a:srgbClr val="FFFFFF"/>
          </a:solidFill>
          <a:ln/>
          <a:effectLst>
            <a:outerShdw blurRad="88900" dist="38100" dir="8100000" algn="bl" rotWithShape="0">
              <a:srgbClr val="000000">
                <a:alpha val="12000"/>
              </a:srgbClr>
            </a:outerShdw>
          </a:effectLst>
        </p:spPr>
      </p:sp>
      <p:sp>
        <p:nvSpPr>
          <p:cNvPr id="57" name="Shape 54"/>
          <p:cNvSpPr/>
          <p:nvPr/>
        </p:nvSpPr>
        <p:spPr>
          <a:xfrm>
            <a:off x="5303520" y="3703320"/>
            <a:ext cx="182880" cy="1024128"/>
          </a:xfrm>
          <a:prstGeom prst="rect">
            <a:avLst/>
          </a:prstGeom>
          <a:solidFill>
            <a:srgbClr val="1A5A9A"/>
          </a:solidFill>
          <a:ln w="12700">
            <a:solidFill>
              <a:srgbClr val="1A5A9A"/>
            </a:solidFill>
            <a:prstDash val="solid"/>
          </a:ln>
        </p:spPr>
      </p:sp>
      <p:sp>
        <p:nvSpPr>
          <p:cNvPr id="58" name="Text 55"/>
          <p:cNvSpPr/>
          <p:nvPr/>
        </p:nvSpPr>
        <p:spPr>
          <a:xfrm>
            <a:off x="5559552" y="3794760"/>
            <a:ext cx="3236976" cy="320040"/>
          </a:xfrm>
          <a:prstGeom prst="rect">
            <a:avLst/>
          </a:prstGeom>
          <a:noFill/>
          <a:ln/>
        </p:spPr>
        <p:txBody>
          <a:bodyPr wrap="square" lIns="0" tIns="0" rIns="0" bIns="0" rtlCol="0" anchor="ctr"/>
          <a:lstStyle/>
          <a:p>
            <a:pPr marL="0" indent="0">
              <a:buNone/>
            </a:pPr>
            <a:r>
              <a:rPr lang="en-US" sz="1300" b="1" dirty="0">
                <a:solidFill>
                  <a:srgbClr val="3D1A6E"/>
                </a:solidFill>
                <a:latin typeface="Trebuchet MS" pitchFamily="34" charset="0"/>
                <a:ea typeface="Trebuchet MS" pitchFamily="34" charset="-122"/>
                <a:cs typeface="Trebuchet MS" pitchFamily="34" charset="-120"/>
              </a:rPr>
              <a:t>WalletBalanceCache</a:t>
            </a:r>
            <a:endParaRPr lang="en-US" sz="1300" dirty="0"/>
          </a:p>
        </p:txBody>
      </p:sp>
      <p:sp>
        <p:nvSpPr>
          <p:cNvPr id="59" name="Text 56"/>
          <p:cNvSpPr/>
          <p:nvPr/>
        </p:nvSpPr>
        <p:spPr>
          <a:xfrm>
            <a:off x="5559552" y="4123944"/>
            <a:ext cx="3236976" cy="521208"/>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El saldo no se recalcula desde cero en cada consulta. Se mantiene un caché actualizado con cada movimiento. Esto hace que mostrar el saldo sea instantáneo sin importar cuántas transacciones tenga el usuario.</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888888"/>
                </a:solidFill>
                <a:latin typeface="Calibri" pitchFamily="34" charset="0"/>
                <a:ea typeface="Calibri" pitchFamily="34" charset="-122"/>
                <a:cs typeface="Calibri" pitchFamily="34" charset="-120"/>
              </a:rPr>
              <a:t>GESTIÓN DE INVENTARIO</a:t>
            </a:r>
            <a:endParaRPr lang="en-US" sz="900" dirty="0"/>
          </a:p>
        </p:txBody>
      </p:sp>
      <p:sp>
        <p:nvSpPr>
          <p:cNvPr id="5" name="Text 2"/>
          <p:cNvSpPr/>
          <p:nvPr/>
        </p:nvSpPr>
        <p:spPr>
          <a:xfrm>
            <a:off x="457200" y="475488"/>
            <a:ext cx="8229600" cy="502920"/>
          </a:xfrm>
          <a:prstGeom prst="rect">
            <a:avLst/>
          </a:prstGeom>
          <a:noFill/>
          <a:ln/>
        </p:spPr>
        <p:txBody>
          <a:bodyPr wrap="square" lIns="0" tIns="0" rIns="0" bIns="0" rtlCol="0" anchor="ctr"/>
          <a:lstStyle/>
          <a:p>
            <a:pPr marL="0" indent="0" algn="ctr">
              <a:buNone/>
            </a:pPr>
            <a:r>
              <a:rPr lang="en-US" sz="2400" b="1" dirty="0">
                <a:solidFill>
                  <a:srgbClr val="FFFFFF"/>
                </a:solidFill>
                <a:latin typeface="Trebuchet MS" pitchFamily="34" charset="0"/>
                <a:ea typeface="Trebuchet MS" pitchFamily="34" charset="-122"/>
                <a:cs typeface="Trebuchet MS" pitchFamily="34" charset="-120"/>
              </a:rPr>
              <a:t>El sistema controla el stock automáticamente y avisa cuando queda poco</a:t>
            </a:r>
            <a:endParaRPr lang="en-US" sz="2400" dirty="0"/>
          </a:p>
        </p:txBody>
      </p:sp>
      <p:sp>
        <p:nvSpPr>
          <p:cNvPr id="6" name="Text 3"/>
          <p:cNvSpPr/>
          <p:nvPr/>
        </p:nvSpPr>
        <p:spPr>
          <a:xfrm>
            <a:off x="365760" y="1115568"/>
            <a:ext cx="8229600" cy="256032"/>
          </a:xfrm>
          <a:prstGeom prst="rect">
            <a:avLst/>
          </a:prstGeom>
          <a:noFill/>
          <a:ln/>
        </p:spPr>
        <p:txBody>
          <a:bodyPr wrap="square" lIns="0" tIns="0" rIns="0" bIns="0" rtlCol="0" anchor="ctr"/>
          <a:lstStyle/>
          <a:p>
            <a:pPr marL="0" indent="0">
              <a:buNone/>
            </a:pPr>
            <a:r>
              <a:rPr lang="en-US" sz="1200" b="1" dirty="0">
                <a:solidFill>
                  <a:srgbClr val="F5A623"/>
                </a:solidFill>
                <a:latin typeface="Trebuchet MS" pitchFamily="34" charset="0"/>
                <a:ea typeface="Trebuchet MS" pitchFamily="34" charset="-122"/>
                <a:cs typeface="Trebuchet MS" pitchFamily="34" charset="-120"/>
              </a:rPr>
              <a:t>Tipos de producto:</a:t>
            </a:r>
            <a:endParaRPr lang="en-US" sz="1200" dirty="0"/>
          </a:p>
        </p:txBody>
      </p:sp>
      <p:sp>
        <p:nvSpPr>
          <p:cNvPr id="7" name="Shape 4"/>
          <p:cNvSpPr/>
          <p:nvPr/>
        </p:nvSpPr>
        <p:spPr>
          <a:xfrm>
            <a:off x="365760" y="1408176"/>
            <a:ext cx="4023360" cy="1536192"/>
          </a:xfrm>
          <a:prstGeom prst="rect">
            <a:avLst/>
          </a:prstGeom>
          <a:solidFill>
            <a:srgbClr val="2A1050"/>
          </a:solidFill>
          <a:ln w="25400">
            <a:solidFill>
              <a:srgbClr val="F59E0B"/>
            </a:solidFill>
            <a:prstDash val="solid"/>
          </a:ln>
        </p:spPr>
      </p:sp>
      <p:sp>
        <p:nvSpPr>
          <p:cNvPr id="8" name="Text 5"/>
          <p:cNvSpPr/>
          <p:nvPr/>
        </p:nvSpPr>
        <p:spPr>
          <a:xfrm>
            <a:off x="457200" y="1463040"/>
            <a:ext cx="3840480" cy="365760"/>
          </a:xfrm>
          <a:prstGeom prst="rect">
            <a:avLst/>
          </a:prstGeom>
          <a:noFill/>
          <a:ln/>
        </p:spPr>
        <p:txBody>
          <a:bodyPr wrap="square" lIns="0" tIns="0" rIns="0" bIns="0" rtlCol="0" anchor="ctr"/>
          <a:lstStyle/>
          <a:p>
            <a:pPr marL="0" indent="0">
              <a:buNone/>
            </a:pPr>
            <a:r>
              <a:rPr lang="en-US" sz="1400" b="1" dirty="0">
                <a:solidFill>
                  <a:srgbClr val="F5A623"/>
                </a:solidFill>
                <a:latin typeface="Trebuchet MS" pitchFamily="34" charset="0"/>
                <a:ea typeface="Trebuchet MS" pitchFamily="34" charset="-122"/>
                <a:cs typeface="Trebuchet MS" pitchFamily="34" charset="-120"/>
              </a:rPr>
              <a:t>📦  Inventariable</a:t>
            </a:r>
            <a:endParaRPr lang="en-US" sz="1400" dirty="0"/>
          </a:p>
        </p:txBody>
      </p:sp>
      <p:sp>
        <p:nvSpPr>
          <p:cNvPr id="9" name="Text 6"/>
          <p:cNvSpPr/>
          <p:nvPr/>
        </p:nvSpPr>
        <p:spPr>
          <a:xfrm>
            <a:off x="457200" y="1865376"/>
            <a:ext cx="3840480" cy="1005840"/>
          </a:xfrm>
          <a:prstGeom prst="rect">
            <a:avLst/>
          </a:prstGeom>
          <a:noFill/>
          <a:ln/>
        </p:spPr>
        <p:txBody>
          <a:bodyPr wrap="square" lIns="0" tIns="0" rIns="0" bIns="0" rtlCol="0" anchor="ctr"/>
          <a:lstStyle/>
          <a:p>
            <a:pPr marL="0" indent="0">
              <a:buNone/>
            </a:pPr>
            <a:r>
              <a:rPr lang="en-US" sz="1000" dirty="0">
                <a:solidFill>
                  <a:srgbClr val="D4C0F0"/>
                </a:solidFill>
                <a:latin typeface="Calibri" pitchFamily="34" charset="0"/>
                <a:ea typeface="Calibri" pitchFamily="34" charset="-122"/>
                <a:cs typeface="Calibri" pitchFamily="34" charset="-120"/>
              </a:rPr>
              <a:t>Tiene stock contado (ej: 50 tacos). El sistema descuenta uno cada vez que alguien compra. Cuando llega al 15% del stock inicial, aparece la etiqueta "Próximo a agotarse" en el menú del cliente.</a:t>
            </a:r>
            <a:endParaRPr lang="en-US" sz="1000" dirty="0"/>
          </a:p>
        </p:txBody>
      </p:sp>
      <p:sp>
        <p:nvSpPr>
          <p:cNvPr id="10" name="Shape 7"/>
          <p:cNvSpPr/>
          <p:nvPr/>
        </p:nvSpPr>
        <p:spPr>
          <a:xfrm>
            <a:off x="4754880" y="1408176"/>
            <a:ext cx="4023360" cy="1536192"/>
          </a:xfrm>
          <a:prstGeom prst="rect">
            <a:avLst/>
          </a:prstGeom>
          <a:solidFill>
            <a:srgbClr val="2A1050"/>
          </a:solidFill>
          <a:ln w="25400">
            <a:solidFill>
              <a:srgbClr val="10B981"/>
            </a:solidFill>
            <a:prstDash val="solid"/>
          </a:ln>
        </p:spPr>
      </p:sp>
      <p:sp>
        <p:nvSpPr>
          <p:cNvPr id="11" name="Text 8"/>
          <p:cNvSpPr/>
          <p:nvPr/>
        </p:nvSpPr>
        <p:spPr>
          <a:xfrm>
            <a:off x="4846320" y="1463040"/>
            <a:ext cx="3840480" cy="365760"/>
          </a:xfrm>
          <a:prstGeom prst="rect">
            <a:avLst/>
          </a:prstGeom>
          <a:noFill/>
          <a:ln/>
        </p:spPr>
        <p:txBody>
          <a:bodyPr wrap="square" lIns="0" tIns="0" rIns="0" bIns="0" rtlCol="0" anchor="ctr"/>
          <a:lstStyle/>
          <a:p>
            <a:pPr marL="0" indent="0">
              <a:buNone/>
            </a:pPr>
            <a:r>
              <a:rPr lang="en-US" sz="1400" b="1" dirty="0">
                <a:solidFill>
                  <a:srgbClr val="10B981"/>
                </a:solidFill>
                <a:latin typeface="Trebuchet MS" pitchFamily="34" charset="0"/>
                <a:ea typeface="Trebuchet MS" pitchFamily="34" charset="-122"/>
                <a:cs typeface="Trebuchet MS" pitchFamily="34" charset="-120"/>
              </a:rPr>
              <a:t>♾️  No inventariable</a:t>
            </a:r>
            <a:endParaRPr lang="en-US" sz="1400" dirty="0"/>
          </a:p>
        </p:txBody>
      </p:sp>
      <p:sp>
        <p:nvSpPr>
          <p:cNvPr id="12" name="Text 9"/>
          <p:cNvSpPr/>
          <p:nvPr/>
        </p:nvSpPr>
        <p:spPr>
          <a:xfrm>
            <a:off x="4846320" y="1865376"/>
            <a:ext cx="3840480" cy="1005840"/>
          </a:xfrm>
          <a:prstGeom prst="rect">
            <a:avLst/>
          </a:prstGeom>
          <a:noFill/>
          <a:ln/>
        </p:spPr>
        <p:txBody>
          <a:bodyPr wrap="square" lIns="0" tIns="0" rIns="0" bIns="0" rtlCol="0" anchor="ctr"/>
          <a:lstStyle/>
          <a:p>
            <a:pPr marL="0" indent="0">
              <a:buNone/>
            </a:pPr>
            <a:r>
              <a:rPr lang="en-US" sz="1000" dirty="0">
                <a:solidFill>
                  <a:srgbClr val="D4C0F0"/>
                </a:solidFill>
                <a:latin typeface="Calibri" pitchFamily="34" charset="0"/>
                <a:ea typeface="Calibri" pitchFamily="34" charset="-122"/>
                <a:cs typeface="Calibri" pitchFamily="34" charset="-120"/>
              </a:rPr>
              <a:t>Sin límite de stock (ej: servicio de impresión). No se descuenta nada al vender. El sistema lo marca como disponible indefinidamente.</a:t>
            </a:r>
            <a:endParaRPr lang="en-US" sz="1000" dirty="0"/>
          </a:p>
        </p:txBody>
      </p:sp>
      <p:sp>
        <p:nvSpPr>
          <p:cNvPr id="13" name="Text 10"/>
          <p:cNvSpPr/>
          <p:nvPr/>
        </p:nvSpPr>
        <p:spPr>
          <a:xfrm>
            <a:off x="365760" y="3072384"/>
            <a:ext cx="8229600" cy="256032"/>
          </a:xfrm>
          <a:prstGeom prst="rect">
            <a:avLst/>
          </a:prstGeom>
          <a:noFill/>
          <a:ln/>
        </p:spPr>
        <p:txBody>
          <a:bodyPr wrap="square" lIns="0" tIns="0" rIns="0" bIns="0" rtlCol="0" anchor="ctr"/>
          <a:lstStyle/>
          <a:p>
            <a:pPr marL="0" indent="0">
              <a:buNone/>
            </a:pPr>
            <a:r>
              <a:rPr lang="en-US" sz="1200" b="1" dirty="0">
                <a:solidFill>
                  <a:srgbClr val="F5A623"/>
                </a:solidFill>
                <a:latin typeface="Trebuchet MS" pitchFamily="34" charset="0"/>
                <a:ea typeface="Trebuchet MS" pitchFamily="34" charset="-122"/>
                <a:cs typeface="Trebuchet MS" pitchFamily="34" charset="-120"/>
              </a:rPr>
              <a:t>¿De dónde viene el 15%?</a:t>
            </a:r>
            <a:endParaRPr lang="en-US" sz="1200" dirty="0"/>
          </a:p>
        </p:txBody>
      </p:sp>
      <p:sp>
        <p:nvSpPr>
          <p:cNvPr id="14" name="Text 11"/>
          <p:cNvSpPr/>
          <p:nvPr/>
        </p:nvSpPr>
        <p:spPr>
          <a:xfrm>
            <a:off x="365760" y="3364992"/>
            <a:ext cx="8412480" cy="822960"/>
          </a:xfrm>
          <a:prstGeom prst="rect">
            <a:avLst/>
          </a:prstGeom>
          <a:noFill/>
          <a:ln/>
        </p:spPr>
        <p:txBody>
          <a:bodyPr wrap="square" lIns="0" tIns="0" rIns="0" bIns="0" rtlCol="0" anchor="ctr"/>
          <a:lstStyle/>
          <a:p>
            <a:pPr marL="0" indent="0">
              <a:buNone/>
            </a:pPr>
            <a:r>
              <a:rPr lang="en-US" sz="1050" dirty="0">
                <a:solidFill>
                  <a:srgbClr val="C4A8E8"/>
                </a:solidFill>
                <a:latin typeface="Calibri" pitchFamily="34" charset="0"/>
                <a:ea typeface="Calibri" pitchFamily="34" charset="-122"/>
                <a:cs typeface="Calibri" pitchFamily="34" charset="-120"/>
              </a:rPr>
              <a:t>Cuando el vendedor registra un producto con, por ejemplo, 100 piezas de stock inicial, el sistema calcula automáticamente que el aviso de 'Próximo a agotarse' debe aparecer cuando queden 15 o menos (ceil(100 × 0.15) = 15). Este umbral se recalcula automáticamente cada vez que se actualiza el stock base. El vendedor nunca tiene que configurarlo manualmente.</a:t>
            </a:r>
            <a:endParaRPr lang="en-US" sz="1050" dirty="0"/>
          </a:p>
        </p:txBody>
      </p:sp>
      <p:sp>
        <p:nvSpPr>
          <p:cNvPr id="15" name="Text 12"/>
          <p:cNvSpPr/>
          <p:nvPr/>
        </p:nvSpPr>
        <p:spPr>
          <a:xfrm>
            <a:off x="365760" y="4315968"/>
            <a:ext cx="8412480" cy="329184"/>
          </a:xfrm>
          <a:prstGeom prst="rect">
            <a:avLst/>
          </a:prstGeom>
          <a:noFill/>
          <a:ln/>
        </p:spPr>
        <p:txBody>
          <a:bodyPr wrap="square" lIns="0" tIns="0" rIns="0" bIns="0" rtlCol="0" anchor="ctr"/>
          <a:lstStyle/>
          <a:p>
            <a:pPr marL="0" indent="0">
              <a:buNone/>
            </a:pPr>
            <a:r>
              <a:rPr lang="en-US" sz="950" i="1" dirty="0">
                <a:solidFill>
                  <a:srgbClr val="8A7AAA"/>
                </a:solidFill>
                <a:latin typeface="Calibri" pitchFamily="34" charset="0"/>
                <a:ea typeface="Calibri" pitchFamily="34" charset="-122"/>
                <a:cs typeface="Calibri" pitchFamily="34" charset="-120"/>
              </a:rPr>
              <a:t>Cada cambio en el inventario (venta, ajuste manual, incremento) queda registrado en StockMovement con fecha, cantidad y quién lo hizo.</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3D1A6E"/>
          </a:solidFill>
          <a:ln w="12700">
            <a:solidFill>
              <a:srgbClr val="3D1A6E"/>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F5A623"/>
                </a:solidFill>
                <a:latin typeface="Calibri" pitchFamily="34" charset="0"/>
                <a:ea typeface="Calibri" pitchFamily="34" charset="-122"/>
                <a:cs typeface="Calibri" pitchFamily="34" charset="-120"/>
              </a:rPr>
              <a:t>SEGURIDAD DEL SISTEMA</a:t>
            </a:r>
            <a:endParaRPr lang="en-US" sz="900" dirty="0"/>
          </a:p>
        </p:txBody>
      </p:sp>
      <p:sp>
        <p:nvSpPr>
          <p:cNvPr id="5" name="Text 2"/>
          <p:cNvSpPr/>
          <p:nvPr/>
        </p:nvSpPr>
        <p:spPr>
          <a:xfrm>
            <a:off x="457200" y="502920"/>
            <a:ext cx="8229600" cy="594360"/>
          </a:xfrm>
          <a:prstGeom prst="rect">
            <a:avLst/>
          </a:prstGeom>
          <a:noFill/>
          <a:ln/>
        </p:spPr>
        <p:txBody>
          <a:bodyPr wrap="square" lIns="0" tIns="0" rIns="0" bIns="0" rtlCol="0" anchor="ctr"/>
          <a:lstStyle/>
          <a:p>
            <a:pPr marL="0" indent="0" algn="ctr">
              <a:buNone/>
            </a:pPr>
            <a:r>
              <a:rPr lang="en-US" sz="2700" b="1" dirty="0">
                <a:solidFill>
                  <a:srgbClr val="3D1A6E"/>
                </a:solidFill>
                <a:latin typeface="Trebuchet MS" pitchFamily="34" charset="0"/>
                <a:ea typeface="Trebuchet MS" pitchFamily="34" charset="-122"/>
                <a:cs typeface="Trebuchet MS" pitchFamily="34" charset="-120"/>
              </a:rPr>
              <a:t>6 capas de protección implementadas en el código</a:t>
            </a:r>
            <a:endParaRPr lang="en-US" sz="2700" dirty="0"/>
          </a:p>
        </p:txBody>
      </p:sp>
      <p:sp>
        <p:nvSpPr>
          <p:cNvPr id="6" name="Shape 3"/>
          <p:cNvSpPr/>
          <p:nvPr/>
        </p:nvSpPr>
        <p:spPr>
          <a:xfrm>
            <a:off x="365760" y="1261872"/>
            <a:ext cx="4169664" cy="1042416"/>
          </a:xfrm>
          <a:prstGeom prst="rect">
            <a:avLst/>
          </a:prstGeom>
          <a:solidFill>
            <a:srgbClr val="FFFFFF"/>
          </a:solidFill>
          <a:ln/>
          <a:effectLst>
            <a:outerShdw blurRad="88900" dist="38100" dir="8100000" algn="bl" rotWithShape="0">
              <a:srgbClr val="000000">
                <a:alpha val="12000"/>
              </a:srgbClr>
            </a:outerShdw>
          </a:effectLst>
        </p:spPr>
      </p:sp>
      <p:sp>
        <p:nvSpPr>
          <p:cNvPr id="7" name="Shape 4"/>
          <p:cNvSpPr/>
          <p:nvPr/>
        </p:nvSpPr>
        <p:spPr>
          <a:xfrm>
            <a:off x="365760" y="1261872"/>
            <a:ext cx="530352" cy="1042416"/>
          </a:xfrm>
          <a:prstGeom prst="rect">
            <a:avLst/>
          </a:prstGeom>
          <a:solidFill>
            <a:srgbClr val="3D1A6E"/>
          </a:solidFill>
          <a:ln w="12700">
            <a:solidFill>
              <a:srgbClr val="3D1A6E"/>
            </a:solidFill>
            <a:prstDash val="solid"/>
          </a:ln>
        </p:spPr>
      </p:sp>
      <p:pic>
        <p:nvPicPr>
          <p:cNvPr id="8" name="Image 1" descr="preencoded.png"/>
          <p:cNvPicPr>
            <a:picLocks noChangeAspect="1"/>
          </p:cNvPicPr>
          <p:nvPr/>
        </p:nvPicPr>
        <p:blipFill>
          <a:blip r:embed="rId4"/>
          <a:stretch>
            <a:fillRect/>
          </a:stretch>
        </p:blipFill>
        <p:spPr>
          <a:xfrm>
            <a:off x="466344" y="1563624"/>
            <a:ext cx="329184" cy="329184"/>
          </a:xfrm>
          <a:prstGeom prst="rect">
            <a:avLst/>
          </a:prstGeom>
        </p:spPr>
      </p:pic>
      <p:sp>
        <p:nvSpPr>
          <p:cNvPr id="9" name="Text 5"/>
          <p:cNvSpPr/>
          <p:nvPr/>
        </p:nvSpPr>
        <p:spPr>
          <a:xfrm>
            <a:off x="1005840" y="1353312"/>
            <a:ext cx="3419856" cy="310896"/>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Login con matrícula o correo</a:t>
            </a:r>
            <a:endParaRPr lang="en-US" sz="1200" dirty="0"/>
          </a:p>
        </p:txBody>
      </p:sp>
      <p:sp>
        <p:nvSpPr>
          <p:cNvPr id="10" name="Text 6"/>
          <p:cNvSpPr/>
          <p:nvPr/>
        </p:nvSpPr>
        <p:spPr>
          <a:xfrm>
            <a:off x="1005840" y="1682496"/>
            <a:ext cx="3419856" cy="54864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El usuario puede autenticarse con cualquiera de los dos. No depende de un solo identificador.</a:t>
            </a:r>
            <a:endParaRPr lang="en-US" sz="950" dirty="0"/>
          </a:p>
        </p:txBody>
      </p:sp>
      <p:sp>
        <p:nvSpPr>
          <p:cNvPr id="11" name="Shape 7"/>
          <p:cNvSpPr/>
          <p:nvPr/>
        </p:nvSpPr>
        <p:spPr>
          <a:xfrm>
            <a:off x="4773168" y="1261872"/>
            <a:ext cx="4169664" cy="1042416"/>
          </a:xfrm>
          <a:prstGeom prst="rect">
            <a:avLst/>
          </a:prstGeom>
          <a:solidFill>
            <a:srgbClr val="FFFFFF"/>
          </a:solidFill>
          <a:ln/>
          <a:effectLst>
            <a:outerShdw blurRad="88900" dist="38100" dir="8100000" algn="bl" rotWithShape="0">
              <a:srgbClr val="000000">
                <a:alpha val="12000"/>
              </a:srgbClr>
            </a:outerShdw>
          </a:effectLst>
        </p:spPr>
      </p:sp>
      <p:sp>
        <p:nvSpPr>
          <p:cNvPr id="12" name="Shape 8"/>
          <p:cNvSpPr/>
          <p:nvPr/>
        </p:nvSpPr>
        <p:spPr>
          <a:xfrm>
            <a:off x="4773168" y="1261872"/>
            <a:ext cx="530352" cy="1042416"/>
          </a:xfrm>
          <a:prstGeom prst="rect">
            <a:avLst/>
          </a:prstGeom>
          <a:solidFill>
            <a:srgbClr val="3D1A6E"/>
          </a:solidFill>
          <a:ln w="12700">
            <a:solidFill>
              <a:srgbClr val="3D1A6E"/>
            </a:solidFill>
            <a:prstDash val="solid"/>
          </a:ln>
        </p:spPr>
      </p:sp>
      <p:pic>
        <p:nvPicPr>
          <p:cNvPr id="13" name="Image 2" descr="preencoded.png"/>
          <p:cNvPicPr>
            <a:picLocks noChangeAspect="1"/>
          </p:cNvPicPr>
          <p:nvPr/>
        </p:nvPicPr>
        <p:blipFill>
          <a:blip r:embed="rId5"/>
          <a:stretch>
            <a:fillRect/>
          </a:stretch>
        </p:blipFill>
        <p:spPr>
          <a:xfrm>
            <a:off x="4873752" y="1563624"/>
            <a:ext cx="329184" cy="329184"/>
          </a:xfrm>
          <a:prstGeom prst="rect">
            <a:avLst/>
          </a:prstGeom>
        </p:spPr>
      </p:pic>
      <p:sp>
        <p:nvSpPr>
          <p:cNvPr id="14" name="Text 9"/>
          <p:cNvSpPr/>
          <p:nvPr/>
        </p:nvSpPr>
        <p:spPr>
          <a:xfrm>
            <a:off x="5413248" y="1353312"/>
            <a:ext cx="3419856" cy="310896"/>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@login_required en todo</a:t>
            </a:r>
            <a:endParaRPr lang="en-US" sz="1200" dirty="0"/>
          </a:p>
        </p:txBody>
      </p:sp>
      <p:sp>
        <p:nvSpPr>
          <p:cNvPr id="15" name="Text 10"/>
          <p:cNvSpPr/>
          <p:nvPr/>
        </p:nvSpPr>
        <p:spPr>
          <a:xfrm>
            <a:off x="5413248" y="1682496"/>
            <a:ext cx="3419856" cy="54864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Cada pantalla privada tiene el decorador @login_required. Sin sesión activa, el sistema redirige automáticamente al login.</a:t>
            </a:r>
            <a:endParaRPr lang="en-US" sz="950" dirty="0"/>
          </a:p>
        </p:txBody>
      </p:sp>
      <p:sp>
        <p:nvSpPr>
          <p:cNvPr id="16" name="Shape 11"/>
          <p:cNvSpPr/>
          <p:nvPr/>
        </p:nvSpPr>
        <p:spPr>
          <a:xfrm>
            <a:off x="365760" y="2432304"/>
            <a:ext cx="4169664" cy="1042416"/>
          </a:xfrm>
          <a:prstGeom prst="rect">
            <a:avLst/>
          </a:prstGeom>
          <a:solidFill>
            <a:srgbClr val="FFFFFF"/>
          </a:solidFill>
          <a:ln/>
          <a:effectLst>
            <a:outerShdw blurRad="88900" dist="38100" dir="8100000" algn="bl" rotWithShape="0">
              <a:srgbClr val="000000">
                <a:alpha val="12000"/>
              </a:srgbClr>
            </a:outerShdw>
          </a:effectLst>
        </p:spPr>
      </p:sp>
      <p:sp>
        <p:nvSpPr>
          <p:cNvPr id="17" name="Shape 12"/>
          <p:cNvSpPr/>
          <p:nvPr/>
        </p:nvSpPr>
        <p:spPr>
          <a:xfrm>
            <a:off x="365760" y="2432304"/>
            <a:ext cx="530352" cy="1042416"/>
          </a:xfrm>
          <a:prstGeom prst="rect">
            <a:avLst/>
          </a:prstGeom>
          <a:solidFill>
            <a:srgbClr val="3D1A6E"/>
          </a:solidFill>
          <a:ln w="12700">
            <a:solidFill>
              <a:srgbClr val="3D1A6E"/>
            </a:solidFill>
            <a:prstDash val="solid"/>
          </a:ln>
        </p:spPr>
      </p:sp>
      <p:pic>
        <p:nvPicPr>
          <p:cNvPr id="18" name="Image 3" descr="preencoded.png"/>
          <p:cNvPicPr>
            <a:picLocks noChangeAspect="1"/>
          </p:cNvPicPr>
          <p:nvPr/>
        </p:nvPicPr>
        <p:blipFill>
          <a:blip r:embed="rId6"/>
          <a:stretch>
            <a:fillRect/>
          </a:stretch>
        </p:blipFill>
        <p:spPr>
          <a:xfrm>
            <a:off x="466344" y="2734056"/>
            <a:ext cx="329184" cy="329184"/>
          </a:xfrm>
          <a:prstGeom prst="rect">
            <a:avLst/>
          </a:prstGeom>
        </p:spPr>
      </p:pic>
      <p:sp>
        <p:nvSpPr>
          <p:cNvPr id="19" name="Text 13"/>
          <p:cNvSpPr/>
          <p:nvPr/>
        </p:nvSpPr>
        <p:spPr>
          <a:xfrm>
            <a:off x="1005840" y="2523744"/>
            <a:ext cx="3419856" cy="310896"/>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Permisos por evento</a:t>
            </a:r>
            <a:endParaRPr lang="en-US" sz="1200" dirty="0"/>
          </a:p>
        </p:txBody>
      </p:sp>
      <p:sp>
        <p:nvSpPr>
          <p:cNvPr id="20" name="Text 14"/>
          <p:cNvSpPr/>
          <p:nvPr/>
        </p:nvSpPr>
        <p:spPr>
          <a:xfrm>
            <a:off x="1005840" y="2852928"/>
            <a:ext cx="3419856" cy="54864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Un usuario puede ser cliente en un evento y staff en otro. Los permisos no son globales, son por evento específico.</a:t>
            </a:r>
            <a:endParaRPr lang="en-US" sz="950" dirty="0"/>
          </a:p>
        </p:txBody>
      </p:sp>
      <p:sp>
        <p:nvSpPr>
          <p:cNvPr id="21" name="Shape 15"/>
          <p:cNvSpPr/>
          <p:nvPr/>
        </p:nvSpPr>
        <p:spPr>
          <a:xfrm>
            <a:off x="4773168" y="2432304"/>
            <a:ext cx="4169664" cy="1042416"/>
          </a:xfrm>
          <a:prstGeom prst="rect">
            <a:avLst/>
          </a:prstGeom>
          <a:solidFill>
            <a:srgbClr val="FFFFFF"/>
          </a:solidFill>
          <a:ln/>
          <a:effectLst>
            <a:outerShdw blurRad="88900" dist="38100" dir="8100000" algn="bl" rotWithShape="0">
              <a:srgbClr val="000000">
                <a:alpha val="12000"/>
              </a:srgbClr>
            </a:outerShdw>
          </a:effectLst>
        </p:spPr>
      </p:sp>
      <p:sp>
        <p:nvSpPr>
          <p:cNvPr id="22" name="Shape 16"/>
          <p:cNvSpPr/>
          <p:nvPr/>
        </p:nvSpPr>
        <p:spPr>
          <a:xfrm>
            <a:off x="4773168" y="2432304"/>
            <a:ext cx="530352" cy="1042416"/>
          </a:xfrm>
          <a:prstGeom prst="rect">
            <a:avLst/>
          </a:prstGeom>
          <a:solidFill>
            <a:srgbClr val="3D1A6E"/>
          </a:solidFill>
          <a:ln w="12700">
            <a:solidFill>
              <a:srgbClr val="3D1A6E"/>
            </a:solidFill>
            <a:prstDash val="solid"/>
          </a:ln>
        </p:spPr>
      </p:sp>
      <p:pic>
        <p:nvPicPr>
          <p:cNvPr id="23" name="Image 4" descr="preencoded.png"/>
          <p:cNvPicPr>
            <a:picLocks noChangeAspect="1"/>
          </p:cNvPicPr>
          <p:nvPr/>
        </p:nvPicPr>
        <p:blipFill>
          <a:blip r:embed="rId7"/>
          <a:stretch>
            <a:fillRect/>
          </a:stretch>
        </p:blipFill>
        <p:spPr>
          <a:xfrm>
            <a:off x="4873752" y="2734056"/>
            <a:ext cx="329184" cy="329184"/>
          </a:xfrm>
          <a:prstGeom prst="rect">
            <a:avLst/>
          </a:prstGeom>
        </p:spPr>
      </p:pic>
      <p:sp>
        <p:nvSpPr>
          <p:cNvPr id="24" name="Text 17"/>
          <p:cNvSpPr/>
          <p:nvPr/>
        </p:nvSpPr>
        <p:spPr>
          <a:xfrm>
            <a:off x="5413248" y="2523744"/>
            <a:ext cx="3419856" cy="310896"/>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Transacciones atómicas</a:t>
            </a:r>
            <a:endParaRPr lang="en-US" sz="1200" dirty="0"/>
          </a:p>
        </p:txBody>
      </p:sp>
      <p:sp>
        <p:nvSpPr>
          <p:cNvPr id="25" name="Text 18"/>
          <p:cNvSpPr/>
          <p:nvPr/>
        </p:nvSpPr>
        <p:spPr>
          <a:xfrm>
            <a:off x="5413248" y="2852928"/>
            <a:ext cx="3419856" cy="54864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Si el pago falla a mitad del proceso, todo se revierte. Nunca queda el dinero descontado sin generar la orden.</a:t>
            </a:r>
            <a:endParaRPr lang="en-US" sz="950" dirty="0"/>
          </a:p>
        </p:txBody>
      </p:sp>
      <p:sp>
        <p:nvSpPr>
          <p:cNvPr id="26" name="Shape 19"/>
          <p:cNvSpPr/>
          <p:nvPr/>
        </p:nvSpPr>
        <p:spPr>
          <a:xfrm>
            <a:off x="365760" y="3602736"/>
            <a:ext cx="4169664" cy="1042416"/>
          </a:xfrm>
          <a:prstGeom prst="rect">
            <a:avLst/>
          </a:prstGeom>
          <a:solidFill>
            <a:srgbClr val="FFFFFF"/>
          </a:solidFill>
          <a:ln/>
          <a:effectLst>
            <a:outerShdw blurRad="88900" dist="38100" dir="8100000" algn="bl" rotWithShape="0">
              <a:srgbClr val="000000">
                <a:alpha val="12000"/>
              </a:srgbClr>
            </a:outerShdw>
          </a:effectLst>
        </p:spPr>
      </p:sp>
      <p:sp>
        <p:nvSpPr>
          <p:cNvPr id="27" name="Shape 20"/>
          <p:cNvSpPr/>
          <p:nvPr/>
        </p:nvSpPr>
        <p:spPr>
          <a:xfrm>
            <a:off x="365760" y="3602736"/>
            <a:ext cx="530352" cy="1042416"/>
          </a:xfrm>
          <a:prstGeom prst="rect">
            <a:avLst/>
          </a:prstGeom>
          <a:solidFill>
            <a:srgbClr val="3D1A6E"/>
          </a:solidFill>
          <a:ln w="12700">
            <a:solidFill>
              <a:srgbClr val="3D1A6E"/>
            </a:solidFill>
            <a:prstDash val="solid"/>
          </a:ln>
        </p:spPr>
      </p:sp>
      <p:pic>
        <p:nvPicPr>
          <p:cNvPr id="28" name="Image 5" descr="preencoded.png"/>
          <p:cNvPicPr>
            <a:picLocks noChangeAspect="1"/>
          </p:cNvPicPr>
          <p:nvPr/>
        </p:nvPicPr>
        <p:blipFill>
          <a:blip r:embed="rId8"/>
          <a:stretch>
            <a:fillRect/>
          </a:stretch>
        </p:blipFill>
        <p:spPr>
          <a:xfrm>
            <a:off x="466344" y="3904488"/>
            <a:ext cx="329184" cy="329184"/>
          </a:xfrm>
          <a:prstGeom prst="rect">
            <a:avLst/>
          </a:prstGeom>
        </p:spPr>
      </p:pic>
      <p:sp>
        <p:nvSpPr>
          <p:cNvPr id="29" name="Text 21"/>
          <p:cNvSpPr/>
          <p:nvPr/>
        </p:nvSpPr>
        <p:spPr>
          <a:xfrm>
            <a:off x="1005840" y="3694176"/>
            <a:ext cx="3419856" cy="310896"/>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Validación en la base de datos</a:t>
            </a:r>
            <a:endParaRPr lang="en-US" sz="1200" dirty="0"/>
          </a:p>
        </p:txBody>
      </p:sp>
      <p:sp>
        <p:nvSpPr>
          <p:cNvPr id="30" name="Text 22"/>
          <p:cNvSpPr/>
          <p:nvPr/>
        </p:nvSpPr>
        <p:spPr>
          <a:xfrm>
            <a:off x="1005840" y="4023360"/>
            <a:ext cx="3419856" cy="54864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Las restricciones existen tanto en el código Python como en la BD. Nadie puede guardar datos inválidos aunque el código falle.</a:t>
            </a:r>
            <a:endParaRPr lang="en-US" sz="950" dirty="0"/>
          </a:p>
        </p:txBody>
      </p:sp>
      <p:sp>
        <p:nvSpPr>
          <p:cNvPr id="31" name="Shape 23"/>
          <p:cNvSpPr/>
          <p:nvPr/>
        </p:nvSpPr>
        <p:spPr>
          <a:xfrm>
            <a:off x="4773168" y="3602736"/>
            <a:ext cx="4169664" cy="1042416"/>
          </a:xfrm>
          <a:prstGeom prst="rect">
            <a:avLst/>
          </a:prstGeom>
          <a:solidFill>
            <a:srgbClr val="FFFFFF"/>
          </a:solidFill>
          <a:ln/>
          <a:effectLst>
            <a:outerShdw blurRad="88900" dist="38100" dir="8100000" algn="bl" rotWithShape="0">
              <a:srgbClr val="000000">
                <a:alpha val="12000"/>
              </a:srgbClr>
            </a:outerShdw>
          </a:effectLst>
        </p:spPr>
      </p:sp>
      <p:sp>
        <p:nvSpPr>
          <p:cNvPr id="32" name="Shape 24"/>
          <p:cNvSpPr/>
          <p:nvPr/>
        </p:nvSpPr>
        <p:spPr>
          <a:xfrm>
            <a:off x="4773168" y="3602736"/>
            <a:ext cx="530352" cy="1042416"/>
          </a:xfrm>
          <a:prstGeom prst="rect">
            <a:avLst/>
          </a:prstGeom>
          <a:solidFill>
            <a:srgbClr val="3D1A6E"/>
          </a:solidFill>
          <a:ln w="12700">
            <a:solidFill>
              <a:srgbClr val="3D1A6E"/>
            </a:solidFill>
            <a:prstDash val="solid"/>
          </a:ln>
        </p:spPr>
      </p:sp>
      <p:pic>
        <p:nvPicPr>
          <p:cNvPr id="33" name="Image 6" descr="preencoded.png"/>
          <p:cNvPicPr>
            <a:picLocks noChangeAspect="1"/>
          </p:cNvPicPr>
          <p:nvPr/>
        </p:nvPicPr>
        <p:blipFill>
          <a:blip r:embed="rId9"/>
          <a:stretch>
            <a:fillRect/>
          </a:stretch>
        </p:blipFill>
        <p:spPr>
          <a:xfrm>
            <a:off x="4873752" y="3904488"/>
            <a:ext cx="329184" cy="329184"/>
          </a:xfrm>
          <a:prstGeom prst="rect">
            <a:avLst/>
          </a:prstGeom>
        </p:spPr>
      </p:pic>
      <p:sp>
        <p:nvSpPr>
          <p:cNvPr id="34" name="Text 25"/>
          <p:cNvSpPr/>
          <p:nvPr/>
        </p:nvSpPr>
        <p:spPr>
          <a:xfrm>
            <a:off x="5413248" y="3694176"/>
            <a:ext cx="3419856" cy="310896"/>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Llave secreta en producción</a:t>
            </a:r>
            <a:endParaRPr lang="en-US" sz="1200" dirty="0"/>
          </a:p>
        </p:txBody>
      </p:sp>
      <p:sp>
        <p:nvSpPr>
          <p:cNvPr id="35" name="Text 26"/>
          <p:cNvSpPr/>
          <p:nvPr/>
        </p:nvSpPr>
        <p:spPr>
          <a:xfrm>
            <a:off x="5413248" y="4023360"/>
            <a:ext cx="3419856" cy="548640"/>
          </a:xfrm>
          <a:prstGeom prst="rect">
            <a:avLst/>
          </a:prstGeom>
          <a:noFill/>
          <a:ln/>
        </p:spPr>
        <p:txBody>
          <a:bodyPr wrap="square" lIns="0" tIns="0" rIns="0" bIns="0" rtlCol="0" anchor="ctr"/>
          <a:lstStyle/>
          <a:p>
            <a:pPr marL="0" indent="0">
              <a:buNone/>
            </a:pPr>
            <a:r>
              <a:rPr lang="en-US" sz="950" dirty="0">
                <a:solidFill>
                  <a:srgbClr val="444444"/>
                </a:solidFill>
                <a:latin typeface="Calibri" pitchFamily="34" charset="0"/>
                <a:ea typeface="Calibri" pitchFamily="34" charset="-122"/>
                <a:cs typeface="Calibri" pitchFamily="34" charset="-120"/>
              </a:rPr>
              <a:t>El sistema lanza error si se detecta una clave insegura (muy corta o con el prefijo 'django-insecure'). Protege contra errores de configuración.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888888"/>
                </a:solidFill>
                <a:latin typeface="Calibri" pitchFamily="34" charset="0"/>
                <a:ea typeface="Calibri" pitchFamily="34" charset="-122"/>
                <a:cs typeface="Calibri" pitchFamily="34" charset="-120"/>
              </a:rPr>
              <a:t>INTERFAZ DE USUARIO</a:t>
            </a:r>
            <a:endParaRPr lang="en-US" sz="900" dirty="0"/>
          </a:p>
        </p:txBody>
      </p:sp>
      <p:sp>
        <p:nvSpPr>
          <p:cNvPr id="5" name="Text 2"/>
          <p:cNvSpPr/>
          <p:nvPr/>
        </p:nvSpPr>
        <p:spPr>
          <a:xfrm>
            <a:off x="457200" y="475488"/>
            <a:ext cx="8229600" cy="502920"/>
          </a:xfrm>
          <a:prstGeom prst="rect">
            <a:avLst/>
          </a:prstGeom>
          <a:noFill/>
          <a:ln/>
        </p:spPr>
        <p:txBody>
          <a:bodyPr wrap="square" lIns="0" tIns="0" rIns="0" bIns="0" rtlCol="0" anchor="ctr"/>
          <a:lstStyle/>
          <a:p>
            <a:pPr marL="0" indent="0" algn="ctr">
              <a:buNone/>
            </a:pPr>
            <a:r>
              <a:rPr lang="en-US" sz="2500" b="1" dirty="0">
                <a:solidFill>
                  <a:srgbClr val="FFFFFF"/>
                </a:solidFill>
                <a:latin typeface="Trebuchet MS" pitchFamily="34" charset="0"/>
                <a:ea typeface="Trebuchet MS" pitchFamily="34" charset="-122"/>
                <a:cs typeface="Trebuchet MS" pitchFamily="34" charset="-120"/>
              </a:rPr>
              <a:t>La misma app, tres experiencias distintas según el rol</a:t>
            </a:r>
            <a:endParaRPr lang="en-US" sz="2500" dirty="0"/>
          </a:p>
        </p:txBody>
      </p:sp>
      <p:sp>
        <p:nvSpPr>
          <p:cNvPr id="6" name="Shape 3"/>
          <p:cNvSpPr/>
          <p:nvPr/>
        </p:nvSpPr>
        <p:spPr>
          <a:xfrm>
            <a:off x="320040" y="1115568"/>
            <a:ext cx="1828800" cy="3547872"/>
          </a:xfrm>
          <a:prstGeom prst="rect">
            <a:avLst/>
          </a:prstGeom>
          <a:solidFill>
            <a:srgbClr val="5C2D9E"/>
          </a:solidFill>
          <a:ln/>
          <a:effectLst>
            <a:outerShdw blurRad="88900" dist="38100" dir="8100000" algn="bl" rotWithShape="0">
              <a:srgbClr val="000000">
                <a:alpha val="12000"/>
              </a:srgbClr>
            </a:outerShdw>
          </a:effectLst>
        </p:spPr>
      </p:sp>
      <p:pic>
        <p:nvPicPr>
          <p:cNvPr id="7" name="Image 1" descr="/home/claude/UPBCash/Proyecto UPBCASH/Wireframes&amp;Mockups/Modckups/2.0 mockup_cliente.PNG"/>
          <p:cNvPicPr>
            <a:picLocks noChangeAspect="1"/>
          </p:cNvPicPr>
          <p:nvPr/>
        </p:nvPicPr>
        <p:blipFill>
          <a:blip r:embed="rId4"/>
          <a:srcRect/>
          <a:stretch/>
        </p:blipFill>
        <p:spPr>
          <a:xfrm>
            <a:off x="374904" y="1170432"/>
            <a:ext cx="1719072" cy="3438144"/>
          </a:xfrm>
          <a:prstGeom prst="rect">
            <a:avLst/>
          </a:prstGeom>
        </p:spPr>
      </p:pic>
      <p:sp>
        <p:nvSpPr>
          <p:cNvPr id="8" name="Text 4"/>
          <p:cNvSpPr/>
          <p:nvPr/>
        </p:nvSpPr>
        <p:spPr>
          <a:xfrm>
            <a:off x="320040" y="4700016"/>
            <a:ext cx="1828800" cy="256032"/>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Móvil — Cliente</a:t>
            </a:r>
            <a:endParaRPr lang="en-US" sz="900" dirty="0"/>
          </a:p>
        </p:txBody>
      </p:sp>
      <p:sp>
        <p:nvSpPr>
          <p:cNvPr id="9" name="Shape 5"/>
          <p:cNvSpPr/>
          <p:nvPr/>
        </p:nvSpPr>
        <p:spPr>
          <a:xfrm>
            <a:off x="2331720" y="1115568"/>
            <a:ext cx="6510528" cy="3547872"/>
          </a:xfrm>
          <a:prstGeom prst="rect">
            <a:avLst/>
          </a:prstGeom>
          <a:solidFill>
            <a:srgbClr val="5C2D9E"/>
          </a:solidFill>
          <a:ln/>
          <a:effectLst>
            <a:outerShdw blurRad="88900" dist="38100" dir="8100000" algn="bl" rotWithShape="0">
              <a:srgbClr val="000000">
                <a:alpha val="12000"/>
              </a:srgbClr>
            </a:outerShdw>
          </a:effectLst>
        </p:spPr>
      </p:sp>
      <p:pic>
        <p:nvPicPr>
          <p:cNvPr id="10" name="Image 2" descr="/home/claude/UPBCash/Proyecto UPBCASH/Wireframes&amp;Mockups/Modckups/2.1 mockup_cliente_layout.PNG"/>
          <p:cNvPicPr>
            <a:picLocks noChangeAspect="1"/>
          </p:cNvPicPr>
          <p:nvPr/>
        </p:nvPicPr>
        <p:blipFill>
          <a:blip r:embed="rId5"/>
          <a:srcRect/>
          <a:stretch/>
        </p:blipFill>
        <p:spPr>
          <a:xfrm>
            <a:off x="2386584" y="1170432"/>
            <a:ext cx="6400800" cy="3438144"/>
          </a:xfrm>
          <a:prstGeom prst="rect">
            <a:avLst/>
          </a:prstGeom>
        </p:spPr>
      </p:pic>
      <p:sp>
        <p:nvSpPr>
          <p:cNvPr id="11" name="Text 6"/>
          <p:cNvSpPr/>
          <p:nvPr/>
        </p:nvSpPr>
        <p:spPr>
          <a:xfrm>
            <a:off x="2331720" y="4700016"/>
            <a:ext cx="6510528" cy="256032"/>
          </a:xfrm>
          <a:prstGeom prst="rect">
            <a:avLst/>
          </a:prstGeom>
          <a:noFill/>
          <a:ln/>
        </p:spPr>
        <p:txBody>
          <a:bodyPr wrap="square" lIns="0" tIns="0" rIns="0" bIns="0" rtlCol="0" anchor="ctr"/>
          <a:lstStyle/>
          <a:p>
            <a:pPr marL="0" indent="0" algn="ctr">
              <a:buNone/>
            </a:pPr>
            <a:r>
              <a:rPr lang="en-US" sz="900" b="1" dirty="0">
                <a:solidFill>
                  <a:srgbClr val="F5A623"/>
                </a:solidFill>
                <a:latin typeface="Calibri" pitchFamily="34" charset="0"/>
                <a:ea typeface="Calibri" pitchFamily="34" charset="-122"/>
                <a:cs typeface="Calibri" pitchFamily="34" charset="-120"/>
              </a:rPr>
              <a:t>Web — Cliente Layout</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5FB"/>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3D1A6E"/>
          </a:solidFill>
          <a:ln w="12700">
            <a:solidFill>
              <a:srgbClr val="3D1A6E"/>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F5A623"/>
                </a:solidFill>
                <a:latin typeface="Calibri" pitchFamily="34" charset="0"/>
                <a:ea typeface="Calibri" pitchFamily="34" charset="-122"/>
                <a:cs typeface="Calibri" pitchFamily="34" charset="-120"/>
              </a:rPr>
              <a:t>RUTAS WEB Y API REST</a:t>
            </a:r>
            <a:endParaRPr lang="en-US" sz="900" dirty="0"/>
          </a:p>
        </p:txBody>
      </p:sp>
      <p:sp>
        <p:nvSpPr>
          <p:cNvPr id="5" name="Text 2"/>
          <p:cNvSpPr/>
          <p:nvPr/>
        </p:nvSpPr>
        <p:spPr>
          <a:xfrm>
            <a:off x="457200" y="567836"/>
            <a:ext cx="8229600" cy="594360"/>
          </a:xfrm>
          <a:prstGeom prst="rect">
            <a:avLst/>
          </a:prstGeom>
          <a:noFill/>
          <a:ln/>
        </p:spPr>
        <p:txBody>
          <a:bodyPr wrap="square" lIns="0" tIns="0" rIns="0" bIns="0" rtlCol="0" anchor="ctr"/>
          <a:lstStyle/>
          <a:p>
            <a:pPr marL="0" indent="0" algn="ctr">
              <a:buNone/>
            </a:pPr>
            <a:r>
              <a:rPr lang="en-US" sz="2700" b="1" dirty="0">
                <a:solidFill>
                  <a:srgbClr val="3D1A6E"/>
                </a:solidFill>
                <a:latin typeface="Trebuchet MS" pitchFamily="34" charset="0"/>
                <a:ea typeface="Trebuchet MS" pitchFamily="34" charset="-122"/>
                <a:cs typeface="Trebuchet MS" pitchFamily="34" charset="-120"/>
              </a:rPr>
              <a:t>Qué URL hace qué — y cómo el mapa interactivo se comunica en tiempo real</a:t>
            </a:r>
            <a:endParaRPr lang="en-US" sz="2700" dirty="0"/>
          </a:p>
        </p:txBody>
      </p:sp>
      <p:sp>
        <p:nvSpPr>
          <p:cNvPr id="6" name="Text 3"/>
          <p:cNvSpPr/>
          <p:nvPr/>
        </p:nvSpPr>
        <p:spPr>
          <a:xfrm>
            <a:off x="384048" y="1225296"/>
            <a:ext cx="4206240" cy="256032"/>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Rutas web principales</a:t>
            </a:r>
            <a:endParaRPr lang="en-US" sz="1200" dirty="0"/>
          </a:p>
        </p:txBody>
      </p:sp>
      <p:sp>
        <p:nvSpPr>
          <p:cNvPr id="7" name="Shape 4"/>
          <p:cNvSpPr/>
          <p:nvPr/>
        </p:nvSpPr>
        <p:spPr>
          <a:xfrm>
            <a:off x="384048" y="1517904"/>
            <a:ext cx="1828800" cy="256032"/>
          </a:xfrm>
          <a:prstGeom prst="rect">
            <a:avLst/>
          </a:prstGeom>
          <a:solidFill>
            <a:srgbClr val="3D1A6E"/>
          </a:solidFill>
          <a:ln w="6350">
            <a:solidFill>
              <a:srgbClr val="CCCCCC"/>
            </a:solidFill>
            <a:prstDash val="solid"/>
          </a:ln>
        </p:spPr>
      </p:sp>
      <p:sp>
        <p:nvSpPr>
          <p:cNvPr id="8" name="Text 5"/>
          <p:cNvSpPr/>
          <p:nvPr/>
        </p:nvSpPr>
        <p:spPr>
          <a:xfrm>
            <a:off x="457200" y="1527048"/>
            <a:ext cx="1719072"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URL</a:t>
            </a:r>
            <a:endParaRPr lang="en-US" sz="950" dirty="0"/>
          </a:p>
        </p:txBody>
      </p:sp>
      <p:sp>
        <p:nvSpPr>
          <p:cNvPr id="9" name="Shape 6"/>
          <p:cNvSpPr/>
          <p:nvPr/>
        </p:nvSpPr>
        <p:spPr>
          <a:xfrm>
            <a:off x="2212848" y="1517904"/>
            <a:ext cx="2834640" cy="256032"/>
          </a:xfrm>
          <a:prstGeom prst="rect">
            <a:avLst/>
          </a:prstGeom>
          <a:solidFill>
            <a:srgbClr val="3D1A6E"/>
          </a:solidFill>
          <a:ln w="6350">
            <a:solidFill>
              <a:srgbClr val="CCCCCC"/>
            </a:solidFill>
            <a:prstDash val="solid"/>
          </a:ln>
        </p:spPr>
      </p:sp>
      <p:sp>
        <p:nvSpPr>
          <p:cNvPr id="10" name="Text 7"/>
          <p:cNvSpPr/>
          <p:nvPr/>
        </p:nvSpPr>
        <p:spPr>
          <a:xfrm>
            <a:off x="2286000" y="1527048"/>
            <a:ext cx="2724912"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¿Qué hace?</a:t>
            </a:r>
            <a:endParaRPr lang="en-US" sz="950" dirty="0"/>
          </a:p>
        </p:txBody>
      </p:sp>
      <p:sp>
        <p:nvSpPr>
          <p:cNvPr id="11" name="Shape 8"/>
          <p:cNvSpPr/>
          <p:nvPr/>
        </p:nvSpPr>
        <p:spPr>
          <a:xfrm>
            <a:off x="5065776" y="1517904"/>
            <a:ext cx="731520" cy="256032"/>
          </a:xfrm>
          <a:prstGeom prst="rect">
            <a:avLst/>
          </a:prstGeom>
          <a:solidFill>
            <a:srgbClr val="3D1A6E"/>
          </a:solidFill>
          <a:ln w="6350">
            <a:solidFill>
              <a:srgbClr val="CCCCCC"/>
            </a:solidFill>
            <a:prstDash val="solid"/>
          </a:ln>
        </p:spPr>
      </p:sp>
      <p:sp>
        <p:nvSpPr>
          <p:cNvPr id="12" name="Text 9"/>
          <p:cNvSpPr/>
          <p:nvPr/>
        </p:nvSpPr>
        <p:spPr>
          <a:xfrm>
            <a:off x="5138928" y="1527048"/>
            <a:ext cx="621792" cy="237744"/>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Acceso</a:t>
            </a:r>
            <a:endParaRPr lang="en-US" sz="950" dirty="0"/>
          </a:p>
        </p:txBody>
      </p:sp>
      <p:sp>
        <p:nvSpPr>
          <p:cNvPr id="13" name="Shape 10"/>
          <p:cNvSpPr/>
          <p:nvPr/>
        </p:nvSpPr>
        <p:spPr>
          <a:xfrm>
            <a:off x="384048" y="1773936"/>
            <a:ext cx="1828800" cy="256032"/>
          </a:xfrm>
          <a:prstGeom prst="rect">
            <a:avLst/>
          </a:prstGeom>
          <a:solidFill>
            <a:srgbClr val="FFFFFF"/>
          </a:solidFill>
          <a:ln w="6350">
            <a:solidFill>
              <a:srgbClr val="CCCCCC"/>
            </a:solidFill>
            <a:prstDash val="solid"/>
          </a:ln>
        </p:spPr>
      </p:sp>
      <p:sp>
        <p:nvSpPr>
          <p:cNvPr id="14" name="Text 11"/>
          <p:cNvSpPr/>
          <p:nvPr/>
        </p:nvSpPr>
        <p:spPr>
          <a:xfrm>
            <a:off x="457200" y="1783080"/>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/cliente/menu/</a:t>
            </a:r>
            <a:endParaRPr lang="en-US" sz="950" dirty="0"/>
          </a:p>
        </p:txBody>
      </p:sp>
      <p:sp>
        <p:nvSpPr>
          <p:cNvPr id="15" name="Shape 12"/>
          <p:cNvSpPr/>
          <p:nvPr/>
        </p:nvSpPr>
        <p:spPr>
          <a:xfrm>
            <a:off x="2212848" y="1773936"/>
            <a:ext cx="2834640" cy="256032"/>
          </a:xfrm>
          <a:prstGeom prst="rect">
            <a:avLst/>
          </a:prstGeom>
          <a:solidFill>
            <a:srgbClr val="FFFFFF"/>
          </a:solidFill>
          <a:ln w="6350">
            <a:solidFill>
              <a:srgbClr val="CCCCCC"/>
            </a:solidFill>
            <a:prstDash val="solid"/>
          </a:ln>
        </p:spPr>
      </p:sp>
      <p:sp>
        <p:nvSpPr>
          <p:cNvPr id="16" name="Text 13"/>
          <p:cNvSpPr/>
          <p:nvPr/>
        </p:nvSpPr>
        <p:spPr>
          <a:xfrm>
            <a:off x="2286000" y="1783080"/>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Muestra el menú de puestos con filtros</a:t>
            </a:r>
            <a:endParaRPr lang="en-US" sz="950" dirty="0"/>
          </a:p>
        </p:txBody>
      </p:sp>
      <p:sp>
        <p:nvSpPr>
          <p:cNvPr id="17" name="Shape 14"/>
          <p:cNvSpPr/>
          <p:nvPr/>
        </p:nvSpPr>
        <p:spPr>
          <a:xfrm>
            <a:off x="5065776" y="1773936"/>
            <a:ext cx="731520" cy="256032"/>
          </a:xfrm>
          <a:prstGeom prst="rect">
            <a:avLst/>
          </a:prstGeom>
          <a:solidFill>
            <a:srgbClr val="FFFFFF"/>
          </a:solidFill>
          <a:ln w="6350">
            <a:solidFill>
              <a:srgbClr val="CCCCCC"/>
            </a:solidFill>
            <a:prstDash val="solid"/>
          </a:ln>
        </p:spPr>
      </p:sp>
      <p:sp>
        <p:nvSpPr>
          <p:cNvPr id="18" name="Text 15"/>
          <p:cNvSpPr/>
          <p:nvPr/>
        </p:nvSpPr>
        <p:spPr>
          <a:xfrm>
            <a:off x="5138928" y="1783080"/>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Cliente</a:t>
            </a:r>
            <a:endParaRPr lang="en-US" sz="950" dirty="0"/>
          </a:p>
        </p:txBody>
      </p:sp>
      <p:sp>
        <p:nvSpPr>
          <p:cNvPr id="19" name="Shape 16"/>
          <p:cNvSpPr/>
          <p:nvPr/>
        </p:nvSpPr>
        <p:spPr>
          <a:xfrm>
            <a:off x="384048" y="2029968"/>
            <a:ext cx="1828800" cy="256032"/>
          </a:xfrm>
          <a:prstGeom prst="rect">
            <a:avLst/>
          </a:prstGeom>
          <a:solidFill>
            <a:srgbClr val="F0EBF8"/>
          </a:solidFill>
          <a:ln w="6350">
            <a:solidFill>
              <a:srgbClr val="CCCCCC"/>
            </a:solidFill>
            <a:prstDash val="solid"/>
          </a:ln>
        </p:spPr>
      </p:sp>
      <p:sp>
        <p:nvSpPr>
          <p:cNvPr id="20" name="Text 17"/>
          <p:cNvSpPr/>
          <p:nvPr/>
        </p:nvSpPr>
        <p:spPr>
          <a:xfrm>
            <a:off x="457200" y="2039112"/>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/cliente/carrito/</a:t>
            </a:r>
            <a:endParaRPr lang="en-US" sz="950" dirty="0"/>
          </a:p>
        </p:txBody>
      </p:sp>
      <p:sp>
        <p:nvSpPr>
          <p:cNvPr id="21" name="Shape 18"/>
          <p:cNvSpPr/>
          <p:nvPr/>
        </p:nvSpPr>
        <p:spPr>
          <a:xfrm>
            <a:off x="2212848" y="2029968"/>
            <a:ext cx="2834640" cy="256032"/>
          </a:xfrm>
          <a:prstGeom prst="rect">
            <a:avLst/>
          </a:prstGeom>
          <a:solidFill>
            <a:srgbClr val="F0EBF8"/>
          </a:solidFill>
          <a:ln w="6350">
            <a:solidFill>
              <a:srgbClr val="CCCCCC"/>
            </a:solidFill>
            <a:prstDash val="solid"/>
          </a:ln>
        </p:spPr>
      </p:sp>
      <p:sp>
        <p:nvSpPr>
          <p:cNvPr id="22" name="Text 19"/>
          <p:cNvSpPr/>
          <p:nvPr/>
        </p:nvSpPr>
        <p:spPr>
          <a:xfrm>
            <a:off x="2286000" y="2039112"/>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Revisa el carrito y confirma el pago</a:t>
            </a:r>
            <a:endParaRPr lang="en-US" sz="950" dirty="0"/>
          </a:p>
        </p:txBody>
      </p:sp>
      <p:sp>
        <p:nvSpPr>
          <p:cNvPr id="23" name="Shape 20"/>
          <p:cNvSpPr/>
          <p:nvPr/>
        </p:nvSpPr>
        <p:spPr>
          <a:xfrm>
            <a:off x="5065776" y="2029968"/>
            <a:ext cx="731520" cy="256032"/>
          </a:xfrm>
          <a:prstGeom prst="rect">
            <a:avLst/>
          </a:prstGeom>
          <a:solidFill>
            <a:srgbClr val="F0EBF8"/>
          </a:solidFill>
          <a:ln w="6350">
            <a:solidFill>
              <a:srgbClr val="CCCCCC"/>
            </a:solidFill>
            <a:prstDash val="solid"/>
          </a:ln>
        </p:spPr>
      </p:sp>
      <p:sp>
        <p:nvSpPr>
          <p:cNvPr id="24" name="Text 21"/>
          <p:cNvSpPr/>
          <p:nvPr/>
        </p:nvSpPr>
        <p:spPr>
          <a:xfrm>
            <a:off x="5138928" y="2039112"/>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Cliente</a:t>
            </a:r>
            <a:endParaRPr lang="en-US" sz="950" dirty="0"/>
          </a:p>
        </p:txBody>
      </p:sp>
      <p:sp>
        <p:nvSpPr>
          <p:cNvPr id="25" name="Shape 22"/>
          <p:cNvSpPr/>
          <p:nvPr/>
        </p:nvSpPr>
        <p:spPr>
          <a:xfrm>
            <a:off x="384048" y="2286000"/>
            <a:ext cx="1828800" cy="256032"/>
          </a:xfrm>
          <a:prstGeom prst="rect">
            <a:avLst/>
          </a:prstGeom>
          <a:solidFill>
            <a:srgbClr val="FFFFFF"/>
          </a:solidFill>
          <a:ln w="6350">
            <a:solidFill>
              <a:srgbClr val="CCCCCC"/>
            </a:solidFill>
            <a:prstDash val="solid"/>
          </a:ln>
        </p:spPr>
      </p:sp>
      <p:sp>
        <p:nvSpPr>
          <p:cNvPr id="26" name="Text 23"/>
          <p:cNvSpPr/>
          <p:nvPr/>
        </p:nvSpPr>
        <p:spPr>
          <a:xfrm>
            <a:off x="457200" y="2295144"/>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/vendedor/productos/</a:t>
            </a:r>
            <a:endParaRPr lang="en-US" sz="950" dirty="0"/>
          </a:p>
        </p:txBody>
      </p:sp>
      <p:sp>
        <p:nvSpPr>
          <p:cNvPr id="27" name="Shape 24"/>
          <p:cNvSpPr/>
          <p:nvPr/>
        </p:nvSpPr>
        <p:spPr>
          <a:xfrm>
            <a:off x="2212848" y="2286000"/>
            <a:ext cx="2834640" cy="256032"/>
          </a:xfrm>
          <a:prstGeom prst="rect">
            <a:avLst/>
          </a:prstGeom>
          <a:solidFill>
            <a:srgbClr val="FFFFFF"/>
          </a:solidFill>
          <a:ln w="6350">
            <a:solidFill>
              <a:srgbClr val="CCCCCC"/>
            </a:solidFill>
            <a:prstDash val="solid"/>
          </a:ln>
        </p:spPr>
      </p:sp>
      <p:sp>
        <p:nvSpPr>
          <p:cNvPr id="28" name="Text 25"/>
          <p:cNvSpPr/>
          <p:nvPr/>
        </p:nvSpPr>
        <p:spPr>
          <a:xfrm>
            <a:off x="2286000" y="2295144"/>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Alta y edición de productos del puesto</a:t>
            </a:r>
            <a:endParaRPr lang="en-US" sz="950" dirty="0"/>
          </a:p>
        </p:txBody>
      </p:sp>
      <p:sp>
        <p:nvSpPr>
          <p:cNvPr id="29" name="Shape 26"/>
          <p:cNvSpPr/>
          <p:nvPr/>
        </p:nvSpPr>
        <p:spPr>
          <a:xfrm>
            <a:off x="5047488" y="2286000"/>
            <a:ext cx="731520" cy="256032"/>
          </a:xfrm>
          <a:prstGeom prst="rect">
            <a:avLst/>
          </a:prstGeom>
          <a:solidFill>
            <a:srgbClr val="FFFFFF"/>
          </a:solidFill>
          <a:ln w="6350">
            <a:solidFill>
              <a:srgbClr val="CCCCCC"/>
            </a:solidFill>
            <a:prstDash val="solid"/>
          </a:ln>
        </p:spPr>
      </p:sp>
      <p:sp>
        <p:nvSpPr>
          <p:cNvPr id="30" name="Text 27"/>
          <p:cNvSpPr/>
          <p:nvPr/>
        </p:nvSpPr>
        <p:spPr>
          <a:xfrm>
            <a:off x="5120640" y="2295144"/>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Vendedor</a:t>
            </a:r>
            <a:endParaRPr lang="en-US" sz="950" dirty="0"/>
          </a:p>
        </p:txBody>
      </p:sp>
      <p:sp>
        <p:nvSpPr>
          <p:cNvPr id="31" name="Shape 28"/>
          <p:cNvSpPr/>
          <p:nvPr/>
        </p:nvSpPr>
        <p:spPr>
          <a:xfrm>
            <a:off x="384048" y="2542032"/>
            <a:ext cx="1828800" cy="256032"/>
          </a:xfrm>
          <a:prstGeom prst="rect">
            <a:avLst/>
          </a:prstGeom>
          <a:solidFill>
            <a:srgbClr val="F0EBF8"/>
          </a:solidFill>
          <a:ln w="6350">
            <a:solidFill>
              <a:srgbClr val="CCCCCC"/>
            </a:solidFill>
            <a:prstDash val="solid"/>
          </a:ln>
        </p:spPr>
      </p:sp>
      <p:sp>
        <p:nvSpPr>
          <p:cNvPr id="32" name="Text 29"/>
          <p:cNvSpPr/>
          <p:nvPr/>
        </p:nvSpPr>
        <p:spPr>
          <a:xfrm>
            <a:off x="457200" y="2551176"/>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/vendedor/ventas/</a:t>
            </a:r>
            <a:endParaRPr lang="en-US" sz="950" dirty="0"/>
          </a:p>
        </p:txBody>
      </p:sp>
      <p:sp>
        <p:nvSpPr>
          <p:cNvPr id="33" name="Shape 30"/>
          <p:cNvSpPr/>
          <p:nvPr/>
        </p:nvSpPr>
        <p:spPr>
          <a:xfrm>
            <a:off x="2212848" y="2542032"/>
            <a:ext cx="2834640" cy="256032"/>
          </a:xfrm>
          <a:prstGeom prst="rect">
            <a:avLst/>
          </a:prstGeom>
          <a:solidFill>
            <a:srgbClr val="F0EBF8"/>
          </a:solidFill>
          <a:ln w="6350">
            <a:solidFill>
              <a:srgbClr val="CCCCCC"/>
            </a:solidFill>
            <a:prstDash val="solid"/>
          </a:ln>
        </p:spPr>
      </p:sp>
      <p:sp>
        <p:nvSpPr>
          <p:cNvPr id="34" name="Text 31"/>
          <p:cNvSpPr/>
          <p:nvPr/>
        </p:nvSpPr>
        <p:spPr>
          <a:xfrm>
            <a:off x="2286000" y="2551176"/>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Órdenes recibidas con estado actual</a:t>
            </a:r>
            <a:endParaRPr lang="en-US" sz="950" dirty="0"/>
          </a:p>
        </p:txBody>
      </p:sp>
      <p:sp>
        <p:nvSpPr>
          <p:cNvPr id="35" name="Shape 32"/>
          <p:cNvSpPr/>
          <p:nvPr/>
        </p:nvSpPr>
        <p:spPr>
          <a:xfrm>
            <a:off x="5047488" y="2542032"/>
            <a:ext cx="731520" cy="256032"/>
          </a:xfrm>
          <a:prstGeom prst="rect">
            <a:avLst/>
          </a:prstGeom>
          <a:solidFill>
            <a:srgbClr val="F0EBF8"/>
          </a:solidFill>
          <a:ln w="6350">
            <a:solidFill>
              <a:srgbClr val="CCCCCC"/>
            </a:solidFill>
            <a:prstDash val="solid"/>
          </a:ln>
        </p:spPr>
      </p:sp>
      <p:sp>
        <p:nvSpPr>
          <p:cNvPr id="36" name="Text 33"/>
          <p:cNvSpPr/>
          <p:nvPr/>
        </p:nvSpPr>
        <p:spPr>
          <a:xfrm>
            <a:off x="5120640" y="2551176"/>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Vendedor</a:t>
            </a:r>
            <a:endParaRPr lang="en-US" sz="950" dirty="0"/>
          </a:p>
        </p:txBody>
      </p:sp>
      <p:sp>
        <p:nvSpPr>
          <p:cNvPr id="37" name="Shape 34"/>
          <p:cNvSpPr/>
          <p:nvPr/>
        </p:nvSpPr>
        <p:spPr>
          <a:xfrm>
            <a:off x="384048" y="2798064"/>
            <a:ext cx="1828800" cy="256032"/>
          </a:xfrm>
          <a:prstGeom prst="rect">
            <a:avLst/>
          </a:prstGeom>
          <a:solidFill>
            <a:srgbClr val="FFFFFF"/>
          </a:solidFill>
          <a:ln w="6350">
            <a:solidFill>
              <a:srgbClr val="CCCCCC"/>
            </a:solidFill>
            <a:prstDash val="solid"/>
          </a:ln>
        </p:spPr>
      </p:sp>
      <p:sp>
        <p:nvSpPr>
          <p:cNvPr id="38" name="Text 35"/>
          <p:cNvSpPr/>
          <p:nvPr/>
        </p:nvSpPr>
        <p:spPr>
          <a:xfrm>
            <a:off x="457200" y="2807208"/>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/staff/</a:t>
            </a:r>
            <a:endParaRPr lang="en-US" sz="950" dirty="0"/>
          </a:p>
        </p:txBody>
      </p:sp>
      <p:sp>
        <p:nvSpPr>
          <p:cNvPr id="39" name="Shape 36"/>
          <p:cNvSpPr/>
          <p:nvPr/>
        </p:nvSpPr>
        <p:spPr>
          <a:xfrm>
            <a:off x="2212848" y="2798064"/>
            <a:ext cx="2834640" cy="256032"/>
          </a:xfrm>
          <a:prstGeom prst="rect">
            <a:avLst/>
          </a:prstGeom>
          <a:solidFill>
            <a:srgbClr val="FFFFFF"/>
          </a:solidFill>
          <a:ln w="6350">
            <a:solidFill>
              <a:srgbClr val="CCCCCC"/>
            </a:solidFill>
            <a:prstDash val="solid"/>
          </a:ln>
        </p:spPr>
      </p:sp>
      <p:sp>
        <p:nvSpPr>
          <p:cNvPr id="40" name="Text 37"/>
          <p:cNvSpPr/>
          <p:nvPr/>
        </p:nvSpPr>
        <p:spPr>
          <a:xfrm>
            <a:off x="2286000" y="2807208"/>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Panel de control: usuarios y roles</a:t>
            </a:r>
            <a:endParaRPr lang="en-US" sz="950" dirty="0"/>
          </a:p>
        </p:txBody>
      </p:sp>
      <p:sp>
        <p:nvSpPr>
          <p:cNvPr id="41" name="Shape 38"/>
          <p:cNvSpPr/>
          <p:nvPr/>
        </p:nvSpPr>
        <p:spPr>
          <a:xfrm>
            <a:off x="5047488" y="2798064"/>
            <a:ext cx="731520" cy="256032"/>
          </a:xfrm>
          <a:prstGeom prst="rect">
            <a:avLst/>
          </a:prstGeom>
          <a:solidFill>
            <a:srgbClr val="FFFFFF"/>
          </a:solidFill>
          <a:ln w="6350">
            <a:solidFill>
              <a:srgbClr val="CCCCCC"/>
            </a:solidFill>
            <a:prstDash val="solid"/>
          </a:ln>
        </p:spPr>
      </p:sp>
      <p:sp>
        <p:nvSpPr>
          <p:cNvPr id="42" name="Text 39"/>
          <p:cNvSpPr/>
          <p:nvPr/>
        </p:nvSpPr>
        <p:spPr>
          <a:xfrm>
            <a:off x="5120640" y="2807208"/>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Staff</a:t>
            </a:r>
            <a:endParaRPr lang="en-US" sz="950" dirty="0"/>
          </a:p>
        </p:txBody>
      </p:sp>
      <p:sp>
        <p:nvSpPr>
          <p:cNvPr id="43" name="Shape 40"/>
          <p:cNvSpPr/>
          <p:nvPr/>
        </p:nvSpPr>
        <p:spPr>
          <a:xfrm>
            <a:off x="384048" y="3054096"/>
            <a:ext cx="1828800" cy="256032"/>
          </a:xfrm>
          <a:prstGeom prst="rect">
            <a:avLst/>
          </a:prstGeom>
          <a:solidFill>
            <a:srgbClr val="F0EBF8"/>
          </a:solidFill>
          <a:ln w="6350">
            <a:solidFill>
              <a:srgbClr val="CCCCCC"/>
            </a:solidFill>
            <a:prstDash val="solid"/>
          </a:ln>
        </p:spPr>
      </p:sp>
      <p:sp>
        <p:nvSpPr>
          <p:cNvPr id="44" name="Text 41"/>
          <p:cNvSpPr/>
          <p:nvPr/>
        </p:nvSpPr>
        <p:spPr>
          <a:xfrm>
            <a:off x="457200" y="3063240"/>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/staff/eventos/</a:t>
            </a:r>
            <a:endParaRPr lang="en-US" sz="950" dirty="0"/>
          </a:p>
        </p:txBody>
      </p:sp>
      <p:sp>
        <p:nvSpPr>
          <p:cNvPr id="45" name="Shape 42"/>
          <p:cNvSpPr/>
          <p:nvPr/>
        </p:nvSpPr>
        <p:spPr>
          <a:xfrm>
            <a:off x="2212848" y="3054096"/>
            <a:ext cx="2834640" cy="256032"/>
          </a:xfrm>
          <a:prstGeom prst="rect">
            <a:avLst/>
          </a:prstGeom>
          <a:solidFill>
            <a:srgbClr val="F0EBF8"/>
          </a:solidFill>
          <a:ln w="6350">
            <a:solidFill>
              <a:srgbClr val="CCCCCC"/>
            </a:solidFill>
            <a:prstDash val="solid"/>
          </a:ln>
        </p:spPr>
      </p:sp>
      <p:sp>
        <p:nvSpPr>
          <p:cNvPr id="46" name="Text 43"/>
          <p:cNvSpPr/>
          <p:nvPr/>
        </p:nvSpPr>
        <p:spPr>
          <a:xfrm>
            <a:off x="2286000" y="3063240"/>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Crear o editar la campaña del evento</a:t>
            </a:r>
            <a:endParaRPr lang="en-US" sz="950" dirty="0"/>
          </a:p>
        </p:txBody>
      </p:sp>
      <p:sp>
        <p:nvSpPr>
          <p:cNvPr id="47" name="Shape 44"/>
          <p:cNvSpPr/>
          <p:nvPr/>
        </p:nvSpPr>
        <p:spPr>
          <a:xfrm>
            <a:off x="5047488" y="3054096"/>
            <a:ext cx="731520" cy="256032"/>
          </a:xfrm>
          <a:prstGeom prst="rect">
            <a:avLst/>
          </a:prstGeom>
          <a:solidFill>
            <a:srgbClr val="F0EBF8"/>
          </a:solidFill>
          <a:ln w="6350">
            <a:solidFill>
              <a:srgbClr val="CCCCCC"/>
            </a:solidFill>
            <a:prstDash val="solid"/>
          </a:ln>
        </p:spPr>
      </p:sp>
      <p:sp>
        <p:nvSpPr>
          <p:cNvPr id="48" name="Text 45"/>
          <p:cNvSpPr/>
          <p:nvPr/>
        </p:nvSpPr>
        <p:spPr>
          <a:xfrm>
            <a:off x="5120640" y="3063240"/>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Staff</a:t>
            </a:r>
            <a:endParaRPr lang="en-US" sz="950" dirty="0"/>
          </a:p>
        </p:txBody>
      </p:sp>
      <p:sp>
        <p:nvSpPr>
          <p:cNvPr id="49" name="Shape 46"/>
          <p:cNvSpPr/>
          <p:nvPr/>
        </p:nvSpPr>
        <p:spPr>
          <a:xfrm>
            <a:off x="384048" y="3310128"/>
            <a:ext cx="1828800" cy="256032"/>
          </a:xfrm>
          <a:prstGeom prst="rect">
            <a:avLst/>
          </a:prstGeom>
          <a:solidFill>
            <a:srgbClr val="FFFFFF"/>
          </a:solidFill>
          <a:ln w="6350">
            <a:solidFill>
              <a:srgbClr val="CCCCCC"/>
            </a:solidFill>
            <a:prstDash val="solid"/>
          </a:ln>
        </p:spPr>
      </p:sp>
      <p:sp>
        <p:nvSpPr>
          <p:cNvPr id="50" name="Text 47"/>
          <p:cNvSpPr/>
          <p:nvPr/>
        </p:nvSpPr>
        <p:spPr>
          <a:xfrm>
            <a:off x="457200" y="3319272"/>
            <a:ext cx="171907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/staff/mapa-asignacion/</a:t>
            </a:r>
            <a:endParaRPr lang="en-US" sz="950" dirty="0"/>
          </a:p>
        </p:txBody>
      </p:sp>
      <p:sp>
        <p:nvSpPr>
          <p:cNvPr id="51" name="Shape 48"/>
          <p:cNvSpPr/>
          <p:nvPr/>
        </p:nvSpPr>
        <p:spPr>
          <a:xfrm>
            <a:off x="2212848" y="3310128"/>
            <a:ext cx="2834640" cy="256032"/>
          </a:xfrm>
          <a:prstGeom prst="rect">
            <a:avLst/>
          </a:prstGeom>
          <a:solidFill>
            <a:srgbClr val="FFFFFF"/>
          </a:solidFill>
          <a:ln w="6350">
            <a:solidFill>
              <a:srgbClr val="CCCCCC"/>
            </a:solidFill>
            <a:prstDash val="solid"/>
          </a:ln>
        </p:spPr>
      </p:sp>
      <p:sp>
        <p:nvSpPr>
          <p:cNvPr id="52" name="Text 49"/>
          <p:cNvSpPr/>
          <p:nvPr/>
        </p:nvSpPr>
        <p:spPr>
          <a:xfrm>
            <a:off x="2286000" y="3319272"/>
            <a:ext cx="272491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Asignar puestos en el mapa del evento</a:t>
            </a:r>
            <a:endParaRPr lang="en-US" sz="950" dirty="0"/>
          </a:p>
        </p:txBody>
      </p:sp>
      <p:sp>
        <p:nvSpPr>
          <p:cNvPr id="53" name="Shape 50"/>
          <p:cNvSpPr/>
          <p:nvPr/>
        </p:nvSpPr>
        <p:spPr>
          <a:xfrm>
            <a:off x="5047488" y="3310128"/>
            <a:ext cx="731520" cy="256032"/>
          </a:xfrm>
          <a:prstGeom prst="rect">
            <a:avLst/>
          </a:prstGeom>
          <a:solidFill>
            <a:srgbClr val="FFFFFF"/>
          </a:solidFill>
          <a:ln w="6350">
            <a:solidFill>
              <a:srgbClr val="CCCCCC"/>
            </a:solidFill>
            <a:prstDash val="solid"/>
          </a:ln>
        </p:spPr>
      </p:sp>
      <p:sp>
        <p:nvSpPr>
          <p:cNvPr id="54" name="Text 51"/>
          <p:cNvSpPr/>
          <p:nvPr/>
        </p:nvSpPr>
        <p:spPr>
          <a:xfrm>
            <a:off x="5120640" y="3319272"/>
            <a:ext cx="621792" cy="237744"/>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Staff</a:t>
            </a:r>
            <a:endParaRPr lang="en-US" sz="950" dirty="0"/>
          </a:p>
        </p:txBody>
      </p:sp>
      <p:sp>
        <p:nvSpPr>
          <p:cNvPr id="55" name="Text 52"/>
          <p:cNvSpPr/>
          <p:nvPr/>
        </p:nvSpPr>
        <p:spPr>
          <a:xfrm>
            <a:off x="384048" y="3547872"/>
            <a:ext cx="5120640" cy="256032"/>
          </a:xfrm>
          <a:prstGeom prst="rect">
            <a:avLst/>
          </a:prstGeom>
          <a:noFill/>
          <a:ln/>
        </p:spPr>
        <p:txBody>
          <a:bodyPr wrap="square" lIns="0" tIns="0" rIns="0" bIns="0" rtlCol="0" anchor="ctr"/>
          <a:lstStyle/>
          <a:p>
            <a:pPr marL="0" indent="0">
              <a:buNone/>
            </a:pPr>
            <a:r>
              <a:rPr lang="en-US" sz="1200" b="1" dirty="0">
                <a:solidFill>
                  <a:srgbClr val="3D1A6E"/>
                </a:solidFill>
                <a:latin typeface="Trebuchet MS" pitchFamily="34" charset="0"/>
                <a:ea typeface="Trebuchet MS" pitchFamily="34" charset="-122"/>
                <a:cs typeface="Trebuchet MS" pitchFamily="34" charset="-120"/>
              </a:rPr>
              <a:t>API REST — para el mapa interactivo y acciones del staff</a:t>
            </a:r>
            <a:endParaRPr lang="en-US" sz="1200" dirty="0"/>
          </a:p>
        </p:txBody>
      </p:sp>
      <p:sp>
        <p:nvSpPr>
          <p:cNvPr id="56" name="Text 53"/>
          <p:cNvSpPr/>
          <p:nvPr/>
        </p:nvSpPr>
        <p:spPr>
          <a:xfrm>
            <a:off x="384048" y="3840480"/>
            <a:ext cx="8412480" cy="658368"/>
          </a:xfrm>
          <a:prstGeom prst="rect">
            <a:avLst/>
          </a:prstGeom>
          <a:noFill/>
          <a:ln/>
        </p:spPr>
        <p:txBody>
          <a:bodyPr wrap="square" lIns="0" tIns="0" rIns="0" bIns="0" rtlCol="0" anchor="ctr"/>
          <a:lstStyle/>
          <a:p>
            <a:pPr marL="0" indent="0">
              <a:buNone/>
            </a:pPr>
            <a:r>
              <a:rPr lang="en-US" sz="1050" dirty="0">
                <a:solidFill>
                  <a:srgbClr val="444444"/>
                </a:solidFill>
                <a:latin typeface="Calibri" pitchFamily="34" charset="0"/>
                <a:ea typeface="Calibri" pitchFamily="34" charset="-122"/>
                <a:cs typeface="Calibri" pitchFamily="34" charset="-120"/>
              </a:rPr>
              <a:t>Además de las pantallas web, el sistema tiene endpoints que responden en formato JSON. El mapa interactivo del staff usa estos endpoints: cuando el organizador mueve un puesto en el mapa, el navegador manda una petición a /api/events/{id}/map/spots/{spot_id} y el servidor actualiza la posición sin recargar la página.</a:t>
            </a:r>
            <a:endParaRPr lang="en-US" sz="1050" dirty="0"/>
          </a:p>
        </p:txBody>
      </p:sp>
      <p:sp>
        <p:nvSpPr>
          <p:cNvPr id="57" name="Shape 54"/>
          <p:cNvSpPr/>
          <p:nvPr/>
        </p:nvSpPr>
        <p:spPr>
          <a:xfrm>
            <a:off x="6364224" y="2260854"/>
            <a:ext cx="1298448" cy="310896"/>
          </a:xfrm>
          <a:prstGeom prst="rect">
            <a:avLst/>
          </a:prstGeom>
          <a:solidFill>
            <a:srgbClr val="2A1050"/>
          </a:solidFill>
          <a:ln w="12700">
            <a:solidFill>
              <a:srgbClr val="5C2D9E"/>
            </a:solidFill>
            <a:prstDash val="solid"/>
          </a:ln>
        </p:spPr>
      </p:sp>
      <p:sp>
        <p:nvSpPr>
          <p:cNvPr id="58" name="Text 55"/>
          <p:cNvSpPr/>
          <p:nvPr/>
        </p:nvSpPr>
        <p:spPr>
          <a:xfrm>
            <a:off x="6364224" y="2258568"/>
            <a:ext cx="1298448" cy="310896"/>
          </a:xfrm>
          <a:prstGeom prst="rect">
            <a:avLst/>
          </a:prstGeom>
          <a:noFill/>
          <a:ln/>
        </p:spPr>
        <p:txBody>
          <a:bodyPr wrap="square" lIns="0" tIns="0" rIns="0" bIns="0" rtlCol="0" anchor="ctr"/>
          <a:lstStyle/>
          <a:p>
            <a:pPr marL="0" indent="0" algn="ctr">
              <a:buNone/>
            </a:pPr>
            <a:r>
              <a:rPr lang="en-US" sz="700" dirty="0">
                <a:solidFill>
                  <a:srgbClr val="D4C0F0"/>
                </a:solidFill>
                <a:latin typeface="Consolas" pitchFamily="34" charset="0"/>
                <a:ea typeface="Consolas" pitchFamily="34" charset="-122"/>
                <a:cs typeface="Consolas" pitchFamily="34" charset="-120"/>
              </a:rPr>
              <a:t>POST  /cart/checkout</a:t>
            </a:r>
            <a:endParaRPr lang="en-US" sz="700" dirty="0"/>
          </a:p>
        </p:txBody>
      </p:sp>
      <p:sp>
        <p:nvSpPr>
          <p:cNvPr id="59" name="Shape 56"/>
          <p:cNvSpPr/>
          <p:nvPr/>
        </p:nvSpPr>
        <p:spPr>
          <a:xfrm>
            <a:off x="6364224" y="1517904"/>
            <a:ext cx="1298448" cy="310896"/>
          </a:xfrm>
          <a:prstGeom prst="rect">
            <a:avLst/>
          </a:prstGeom>
          <a:solidFill>
            <a:srgbClr val="2A1050"/>
          </a:solidFill>
          <a:ln w="12700">
            <a:solidFill>
              <a:srgbClr val="5C2D9E"/>
            </a:solidFill>
            <a:prstDash val="solid"/>
          </a:ln>
        </p:spPr>
      </p:sp>
      <p:sp>
        <p:nvSpPr>
          <p:cNvPr id="60" name="Text 57"/>
          <p:cNvSpPr/>
          <p:nvPr/>
        </p:nvSpPr>
        <p:spPr>
          <a:xfrm>
            <a:off x="6364224" y="1517904"/>
            <a:ext cx="1298448" cy="310896"/>
          </a:xfrm>
          <a:prstGeom prst="rect">
            <a:avLst/>
          </a:prstGeom>
          <a:noFill/>
          <a:ln/>
        </p:spPr>
        <p:txBody>
          <a:bodyPr wrap="square" lIns="0" tIns="0" rIns="0" bIns="0" rtlCol="0" anchor="ctr"/>
          <a:lstStyle/>
          <a:p>
            <a:pPr marL="0" indent="0" algn="ctr">
              <a:buNone/>
            </a:pPr>
            <a:r>
              <a:rPr lang="en-US" sz="700" dirty="0">
                <a:solidFill>
                  <a:srgbClr val="D4C0F0"/>
                </a:solidFill>
                <a:latin typeface="Consolas" pitchFamily="34" charset="0"/>
                <a:ea typeface="Consolas" pitchFamily="34" charset="-122"/>
                <a:cs typeface="Consolas" pitchFamily="34" charset="-120"/>
              </a:rPr>
              <a:t>POST  /orders/qr/verify</a:t>
            </a:r>
            <a:endParaRPr lang="en-US" sz="700" dirty="0"/>
          </a:p>
        </p:txBody>
      </p:sp>
      <p:sp>
        <p:nvSpPr>
          <p:cNvPr id="61" name="Shape 58"/>
          <p:cNvSpPr/>
          <p:nvPr/>
        </p:nvSpPr>
        <p:spPr>
          <a:xfrm>
            <a:off x="7735824" y="1517904"/>
            <a:ext cx="1298448" cy="310896"/>
          </a:xfrm>
          <a:prstGeom prst="rect">
            <a:avLst/>
          </a:prstGeom>
          <a:solidFill>
            <a:srgbClr val="2A1050"/>
          </a:solidFill>
          <a:ln w="12700">
            <a:solidFill>
              <a:srgbClr val="5C2D9E"/>
            </a:solidFill>
            <a:prstDash val="solid"/>
          </a:ln>
        </p:spPr>
      </p:sp>
      <p:sp>
        <p:nvSpPr>
          <p:cNvPr id="62" name="Text 59"/>
          <p:cNvSpPr/>
          <p:nvPr/>
        </p:nvSpPr>
        <p:spPr>
          <a:xfrm>
            <a:off x="7735824" y="1517904"/>
            <a:ext cx="1298448" cy="310896"/>
          </a:xfrm>
          <a:prstGeom prst="rect">
            <a:avLst/>
          </a:prstGeom>
          <a:noFill/>
          <a:ln/>
        </p:spPr>
        <p:txBody>
          <a:bodyPr wrap="square" lIns="0" tIns="0" rIns="0" bIns="0" rtlCol="0" anchor="ctr"/>
          <a:lstStyle/>
          <a:p>
            <a:pPr marL="0" indent="0" algn="ctr">
              <a:buNone/>
            </a:pPr>
            <a:r>
              <a:rPr lang="en-US" sz="700" dirty="0">
                <a:solidFill>
                  <a:srgbClr val="D4C0F0"/>
                </a:solidFill>
                <a:latin typeface="Consolas" pitchFamily="34" charset="0"/>
                <a:ea typeface="Consolas" pitchFamily="34" charset="-122"/>
                <a:cs typeface="Consolas" pitchFamily="34" charset="-120"/>
              </a:rPr>
              <a:t>GET   /map/state</a:t>
            </a:r>
            <a:endParaRPr lang="en-US" sz="700" dirty="0"/>
          </a:p>
        </p:txBody>
      </p:sp>
      <p:sp>
        <p:nvSpPr>
          <p:cNvPr id="63" name="Shape 60"/>
          <p:cNvSpPr/>
          <p:nvPr/>
        </p:nvSpPr>
        <p:spPr>
          <a:xfrm>
            <a:off x="7735824" y="2276856"/>
            <a:ext cx="1298448" cy="310896"/>
          </a:xfrm>
          <a:prstGeom prst="rect">
            <a:avLst/>
          </a:prstGeom>
          <a:solidFill>
            <a:srgbClr val="2A1050"/>
          </a:solidFill>
          <a:ln w="12700">
            <a:solidFill>
              <a:srgbClr val="5C2D9E"/>
            </a:solidFill>
            <a:prstDash val="solid"/>
          </a:ln>
        </p:spPr>
      </p:sp>
      <p:sp>
        <p:nvSpPr>
          <p:cNvPr id="64" name="Text 61"/>
          <p:cNvSpPr/>
          <p:nvPr/>
        </p:nvSpPr>
        <p:spPr>
          <a:xfrm>
            <a:off x="7735824" y="2258568"/>
            <a:ext cx="1298448" cy="310896"/>
          </a:xfrm>
          <a:prstGeom prst="rect">
            <a:avLst/>
          </a:prstGeom>
          <a:noFill/>
          <a:ln/>
        </p:spPr>
        <p:txBody>
          <a:bodyPr wrap="square" lIns="0" tIns="0" rIns="0" bIns="0" rtlCol="0" anchor="ctr"/>
          <a:lstStyle/>
          <a:p>
            <a:pPr marL="0" indent="0" algn="ctr">
              <a:buNone/>
            </a:pPr>
            <a:r>
              <a:rPr lang="en-US" sz="700" dirty="0">
                <a:solidFill>
                  <a:srgbClr val="D4C0F0"/>
                </a:solidFill>
                <a:latin typeface="Consolas" pitchFamily="34" charset="0"/>
                <a:ea typeface="Consolas" pitchFamily="34" charset="-122"/>
                <a:cs typeface="Consolas" pitchFamily="34" charset="-120"/>
              </a:rPr>
              <a:t>POST  /map/spots</a:t>
            </a:r>
            <a:endParaRPr lang="en-US" sz="700" dirty="0"/>
          </a:p>
        </p:txBody>
      </p:sp>
      <p:sp>
        <p:nvSpPr>
          <p:cNvPr id="65" name="Shape 62"/>
          <p:cNvSpPr/>
          <p:nvPr/>
        </p:nvSpPr>
        <p:spPr>
          <a:xfrm>
            <a:off x="6364224" y="1901952"/>
            <a:ext cx="1298448" cy="310896"/>
          </a:xfrm>
          <a:prstGeom prst="rect">
            <a:avLst/>
          </a:prstGeom>
          <a:solidFill>
            <a:srgbClr val="2A1050"/>
          </a:solidFill>
          <a:ln w="12700">
            <a:solidFill>
              <a:srgbClr val="5C2D9E"/>
            </a:solidFill>
            <a:prstDash val="solid"/>
          </a:ln>
        </p:spPr>
      </p:sp>
      <p:sp>
        <p:nvSpPr>
          <p:cNvPr id="66" name="Text 63"/>
          <p:cNvSpPr/>
          <p:nvPr/>
        </p:nvSpPr>
        <p:spPr>
          <a:xfrm>
            <a:off x="6364224" y="1901952"/>
            <a:ext cx="1298448" cy="310896"/>
          </a:xfrm>
          <a:prstGeom prst="rect">
            <a:avLst/>
          </a:prstGeom>
          <a:noFill/>
          <a:ln/>
        </p:spPr>
        <p:txBody>
          <a:bodyPr wrap="square" lIns="0" tIns="0" rIns="0" bIns="0" rtlCol="0" anchor="ctr"/>
          <a:lstStyle/>
          <a:p>
            <a:pPr marL="0" indent="0" algn="ctr">
              <a:buNone/>
            </a:pPr>
            <a:r>
              <a:rPr lang="en-US" sz="700" dirty="0">
                <a:solidFill>
                  <a:srgbClr val="D4C0F0"/>
                </a:solidFill>
                <a:latin typeface="Consolas" pitchFamily="34" charset="0"/>
                <a:ea typeface="Consolas" pitchFamily="34" charset="-122"/>
                <a:cs typeface="Consolas" pitchFamily="34" charset="-120"/>
              </a:rPr>
              <a:t>PATCH /map/spots/{id}</a:t>
            </a:r>
            <a:endParaRPr lang="en-US" sz="700" dirty="0"/>
          </a:p>
        </p:txBody>
      </p:sp>
      <p:sp>
        <p:nvSpPr>
          <p:cNvPr id="67" name="Shape 64"/>
          <p:cNvSpPr/>
          <p:nvPr/>
        </p:nvSpPr>
        <p:spPr>
          <a:xfrm>
            <a:off x="7735824" y="1901952"/>
            <a:ext cx="1298448" cy="310896"/>
          </a:xfrm>
          <a:prstGeom prst="rect">
            <a:avLst/>
          </a:prstGeom>
          <a:solidFill>
            <a:srgbClr val="2A1050"/>
          </a:solidFill>
          <a:ln w="12700">
            <a:solidFill>
              <a:srgbClr val="5C2D9E"/>
            </a:solidFill>
            <a:prstDash val="solid"/>
          </a:ln>
        </p:spPr>
      </p:sp>
      <p:sp>
        <p:nvSpPr>
          <p:cNvPr id="68" name="Text 65"/>
          <p:cNvSpPr/>
          <p:nvPr/>
        </p:nvSpPr>
        <p:spPr>
          <a:xfrm>
            <a:off x="7735824" y="1901952"/>
            <a:ext cx="1298448" cy="310896"/>
          </a:xfrm>
          <a:prstGeom prst="rect">
            <a:avLst/>
          </a:prstGeom>
          <a:noFill/>
          <a:ln/>
        </p:spPr>
        <p:txBody>
          <a:bodyPr wrap="square" lIns="0" tIns="0" rIns="0" bIns="0" rtlCol="0" anchor="ctr"/>
          <a:lstStyle/>
          <a:p>
            <a:pPr marL="0" indent="0" algn="ctr">
              <a:buNone/>
            </a:pPr>
            <a:r>
              <a:rPr lang="en-US" sz="700" dirty="0">
                <a:solidFill>
                  <a:srgbClr val="D4C0F0"/>
                </a:solidFill>
                <a:latin typeface="Consolas" pitchFamily="34" charset="0"/>
                <a:ea typeface="Consolas" pitchFamily="34" charset="-122"/>
                <a:cs typeface="Consolas" pitchFamily="34" charset="-120"/>
              </a:rPr>
              <a:t>POST  /stalls/{id}/assign-spot</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pic>
        <p:nvPicPr>
          <p:cNvPr id="3" name="Image 0" descr="/home/claude/UPBCash/Proyecto UPBCASH/upbcash_django/static/core/img/imgupbcash-logo-c.png"/>
          <p:cNvPicPr>
            <a:picLocks noChangeAspect="1"/>
          </p:cNvPicPr>
          <p:nvPr/>
        </p:nvPicPr>
        <p:blipFill>
          <a:blip r:embed="rId3"/>
          <a:stretch>
            <a:fillRect/>
          </a:stretch>
        </p:blipFill>
        <p:spPr>
          <a:xfrm>
            <a:off x="8430768" y="73152"/>
            <a:ext cx="548640" cy="347472"/>
          </a:xfrm>
          <a:prstGeom prst="rect">
            <a:avLst/>
          </a:prstGeom>
        </p:spPr>
      </p:pic>
      <p:sp>
        <p:nvSpPr>
          <p:cNvPr id="4" name="Text 1"/>
          <p:cNvSpPr/>
          <p:nvPr/>
        </p:nvSpPr>
        <p:spPr>
          <a:xfrm>
            <a:off x="457200" y="100584"/>
            <a:ext cx="7955280" cy="274320"/>
          </a:xfrm>
          <a:prstGeom prst="rect">
            <a:avLst/>
          </a:prstGeom>
          <a:noFill/>
          <a:ln/>
        </p:spPr>
        <p:txBody>
          <a:bodyPr wrap="square" lIns="0" tIns="0" rIns="0" bIns="0" rtlCol="0" anchor="ctr"/>
          <a:lstStyle/>
          <a:p>
            <a:pPr marL="0" indent="0" algn="ctr">
              <a:buNone/>
            </a:pPr>
            <a:r>
              <a:rPr lang="en-US" sz="900" kern="0" spc="350" dirty="0">
                <a:solidFill>
                  <a:srgbClr val="888888"/>
                </a:solidFill>
                <a:latin typeface="Calibri" pitchFamily="34" charset="0"/>
                <a:ea typeface="Calibri" pitchFamily="34" charset="-122"/>
                <a:cs typeface="Calibri" pitchFamily="34" charset="-120"/>
              </a:rPr>
              <a:t>DESPLIEGUE Y CONFIGURACIÓN</a:t>
            </a:r>
            <a:endParaRPr lang="en-US" sz="900" dirty="0"/>
          </a:p>
        </p:txBody>
      </p:sp>
      <p:sp>
        <p:nvSpPr>
          <p:cNvPr id="5" name="Text 2"/>
          <p:cNvSpPr/>
          <p:nvPr/>
        </p:nvSpPr>
        <p:spPr>
          <a:xfrm>
            <a:off x="457200" y="475488"/>
            <a:ext cx="822960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Trebuchet MS" pitchFamily="34" charset="0"/>
                <a:ea typeface="Trebuchet MS" pitchFamily="34" charset="-122"/>
                <a:cs typeface="Trebuchet MS" pitchFamily="34" charset="-120"/>
              </a:rPr>
              <a:t>De cero a funcionando en 4 comandos</a:t>
            </a:r>
            <a:endParaRPr lang="en-US" sz="2600" dirty="0"/>
          </a:p>
        </p:txBody>
      </p:sp>
      <p:sp>
        <p:nvSpPr>
          <p:cNvPr id="6" name="Shape 3"/>
          <p:cNvSpPr/>
          <p:nvPr/>
        </p:nvSpPr>
        <p:spPr>
          <a:xfrm>
            <a:off x="347472" y="1371600"/>
            <a:ext cx="384048" cy="384048"/>
          </a:xfrm>
          <a:prstGeom prst="ellipse">
            <a:avLst/>
          </a:prstGeom>
          <a:solidFill>
            <a:srgbClr val="F5A623"/>
          </a:solidFill>
          <a:ln w="12700">
            <a:solidFill>
              <a:srgbClr val="F5A623"/>
            </a:solidFill>
            <a:prstDash val="solid"/>
          </a:ln>
        </p:spPr>
      </p:sp>
      <p:sp>
        <p:nvSpPr>
          <p:cNvPr id="7" name="Text 4"/>
          <p:cNvSpPr/>
          <p:nvPr/>
        </p:nvSpPr>
        <p:spPr>
          <a:xfrm>
            <a:off x="347472" y="1389888"/>
            <a:ext cx="384048" cy="347472"/>
          </a:xfrm>
          <a:prstGeom prst="rect">
            <a:avLst/>
          </a:prstGeom>
          <a:noFill/>
          <a:ln/>
        </p:spPr>
        <p:txBody>
          <a:bodyPr wrap="square" lIns="0" tIns="0" rIns="0" bIns="0" rtlCol="0" anchor="ctr"/>
          <a:lstStyle/>
          <a:p>
            <a:pPr marL="0" indent="0" algn="ctr">
              <a:buNone/>
            </a:pPr>
            <a:r>
              <a:rPr lang="en-US" sz="1500" b="1" dirty="0">
                <a:solidFill>
                  <a:srgbClr val="3D1A6E"/>
                </a:solidFill>
                <a:latin typeface="Trebuchet MS" pitchFamily="34" charset="0"/>
                <a:ea typeface="Trebuchet MS" pitchFamily="34" charset="-122"/>
                <a:cs typeface="Trebuchet MS" pitchFamily="34" charset="-120"/>
              </a:rPr>
              <a:t>1</a:t>
            </a:r>
            <a:endParaRPr lang="en-US" sz="1500" dirty="0"/>
          </a:p>
        </p:txBody>
      </p:sp>
      <p:sp>
        <p:nvSpPr>
          <p:cNvPr id="8" name="Shape 5"/>
          <p:cNvSpPr/>
          <p:nvPr/>
        </p:nvSpPr>
        <p:spPr>
          <a:xfrm>
            <a:off x="822960" y="1188720"/>
            <a:ext cx="3474720" cy="347472"/>
          </a:xfrm>
          <a:prstGeom prst="rect">
            <a:avLst/>
          </a:prstGeom>
          <a:solidFill>
            <a:srgbClr val="2A1050"/>
          </a:solidFill>
          <a:ln w="12700">
            <a:solidFill>
              <a:srgbClr val="5C2D9E"/>
            </a:solidFill>
            <a:prstDash val="solid"/>
          </a:ln>
        </p:spPr>
      </p:sp>
      <p:sp>
        <p:nvSpPr>
          <p:cNvPr id="9" name="Text 6"/>
          <p:cNvSpPr/>
          <p:nvPr/>
        </p:nvSpPr>
        <p:spPr>
          <a:xfrm>
            <a:off x="896112" y="1188720"/>
            <a:ext cx="3337560" cy="347472"/>
          </a:xfrm>
          <a:prstGeom prst="rect">
            <a:avLst/>
          </a:prstGeom>
          <a:noFill/>
          <a:ln/>
        </p:spPr>
        <p:txBody>
          <a:bodyPr wrap="square" lIns="0" tIns="0" rIns="0" bIns="0" rtlCol="0" anchor="ctr"/>
          <a:lstStyle/>
          <a:p>
            <a:pPr marL="0" indent="0">
              <a:buNone/>
            </a:pPr>
            <a:r>
              <a:rPr lang="en-US" sz="1100" dirty="0">
                <a:solidFill>
                  <a:srgbClr val="F5A623"/>
                </a:solidFill>
                <a:latin typeface="Consolas" pitchFamily="34" charset="0"/>
                <a:ea typeface="Consolas" pitchFamily="34" charset="-122"/>
                <a:cs typeface="Consolas" pitchFamily="34" charset="-120"/>
              </a:rPr>
              <a:t>cp .env.example .env</a:t>
            </a:r>
            <a:endParaRPr lang="en-US" sz="1100" dirty="0"/>
          </a:p>
        </p:txBody>
      </p:sp>
      <p:sp>
        <p:nvSpPr>
          <p:cNvPr id="10" name="Text 7"/>
          <p:cNvSpPr/>
          <p:nvPr/>
        </p:nvSpPr>
        <p:spPr>
          <a:xfrm>
            <a:off x="822960" y="1572768"/>
            <a:ext cx="3474720" cy="457200"/>
          </a:xfrm>
          <a:prstGeom prst="rect">
            <a:avLst/>
          </a:prstGeom>
          <a:noFill/>
          <a:ln/>
        </p:spPr>
        <p:txBody>
          <a:bodyPr wrap="square" lIns="0" tIns="0" rIns="0" bIns="0" rtlCol="0" anchor="ctr"/>
          <a:lstStyle/>
          <a:p>
            <a:pPr marL="0" indent="0">
              <a:buNone/>
            </a:pPr>
            <a:r>
              <a:rPr lang="en-US" sz="900" dirty="0">
                <a:solidFill>
                  <a:srgbClr val="C4A8E8"/>
                </a:solidFill>
                <a:latin typeface="Calibri" pitchFamily="34" charset="0"/>
                <a:ea typeface="Calibri" pitchFamily="34" charset="-122"/>
                <a:cs typeface="Calibri" pitchFamily="34" charset="-120"/>
              </a:rPr>
              <a:t>Crea el archivo de configuración con las variables del entorno (contraseña de la BD, clave secreta, modo debug).</a:t>
            </a:r>
            <a:endParaRPr lang="en-US" sz="900" dirty="0"/>
          </a:p>
        </p:txBody>
      </p:sp>
      <p:sp>
        <p:nvSpPr>
          <p:cNvPr id="11" name="Shape 8"/>
          <p:cNvSpPr/>
          <p:nvPr/>
        </p:nvSpPr>
        <p:spPr>
          <a:xfrm>
            <a:off x="347472" y="2267712"/>
            <a:ext cx="384048" cy="384048"/>
          </a:xfrm>
          <a:prstGeom prst="ellipse">
            <a:avLst/>
          </a:prstGeom>
          <a:solidFill>
            <a:srgbClr val="F5A623"/>
          </a:solidFill>
          <a:ln w="12700">
            <a:solidFill>
              <a:srgbClr val="F5A623"/>
            </a:solidFill>
            <a:prstDash val="solid"/>
          </a:ln>
        </p:spPr>
      </p:sp>
      <p:sp>
        <p:nvSpPr>
          <p:cNvPr id="12" name="Text 9"/>
          <p:cNvSpPr/>
          <p:nvPr/>
        </p:nvSpPr>
        <p:spPr>
          <a:xfrm>
            <a:off x="347472" y="2286000"/>
            <a:ext cx="384048" cy="347472"/>
          </a:xfrm>
          <a:prstGeom prst="rect">
            <a:avLst/>
          </a:prstGeom>
          <a:noFill/>
          <a:ln/>
        </p:spPr>
        <p:txBody>
          <a:bodyPr wrap="square" lIns="0" tIns="0" rIns="0" bIns="0" rtlCol="0" anchor="ctr"/>
          <a:lstStyle/>
          <a:p>
            <a:pPr marL="0" indent="0" algn="ctr">
              <a:buNone/>
            </a:pPr>
            <a:r>
              <a:rPr lang="en-US" sz="1500" b="1" dirty="0">
                <a:solidFill>
                  <a:srgbClr val="3D1A6E"/>
                </a:solidFill>
                <a:latin typeface="Trebuchet MS" pitchFamily="34" charset="0"/>
                <a:ea typeface="Trebuchet MS" pitchFamily="34" charset="-122"/>
                <a:cs typeface="Trebuchet MS" pitchFamily="34" charset="-120"/>
              </a:rPr>
              <a:t>2</a:t>
            </a:r>
            <a:endParaRPr lang="en-US" sz="1500" dirty="0"/>
          </a:p>
        </p:txBody>
      </p:sp>
      <p:sp>
        <p:nvSpPr>
          <p:cNvPr id="13" name="Shape 10"/>
          <p:cNvSpPr/>
          <p:nvPr/>
        </p:nvSpPr>
        <p:spPr>
          <a:xfrm>
            <a:off x="822960" y="2084832"/>
            <a:ext cx="3474720" cy="347472"/>
          </a:xfrm>
          <a:prstGeom prst="rect">
            <a:avLst/>
          </a:prstGeom>
          <a:solidFill>
            <a:srgbClr val="2A1050"/>
          </a:solidFill>
          <a:ln w="12700">
            <a:solidFill>
              <a:srgbClr val="5C2D9E"/>
            </a:solidFill>
            <a:prstDash val="solid"/>
          </a:ln>
        </p:spPr>
      </p:sp>
      <p:sp>
        <p:nvSpPr>
          <p:cNvPr id="14" name="Text 11"/>
          <p:cNvSpPr/>
          <p:nvPr/>
        </p:nvSpPr>
        <p:spPr>
          <a:xfrm>
            <a:off x="896112" y="2084832"/>
            <a:ext cx="3337560" cy="347472"/>
          </a:xfrm>
          <a:prstGeom prst="rect">
            <a:avLst/>
          </a:prstGeom>
          <a:noFill/>
          <a:ln/>
        </p:spPr>
        <p:txBody>
          <a:bodyPr wrap="square" lIns="0" tIns="0" rIns="0" bIns="0" rtlCol="0" anchor="ctr"/>
          <a:lstStyle/>
          <a:p>
            <a:pPr marL="0" indent="0">
              <a:buNone/>
            </a:pPr>
            <a:r>
              <a:rPr lang="en-US" sz="1100" dirty="0">
                <a:solidFill>
                  <a:srgbClr val="F5A623"/>
                </a:solidFill>
                <a:latin typeface="Consolas" pitchFamily="34" charset="0"/>
                <a:ea typeface="Consolas" pitchFamily="34" charset="-122"/>
                <a:cs typeface="Consolas" pitchFamily="34" charset="-120"/>
              </a:rPr>
              <a:t>docker compose up -d db</a:t>
            </a:r>
            <a:endParaRPr lang="en-US" sz="1100" dirty="0"/>
          </a:p>
        </p:txBody>
      </p:sp>
      <p:sp>
        <p:nvSpPr>
          <p:cNvPr id="15" name="Text 12"/>
          <p:cNvSpPr/>
          <p:nvPr/>
        </p:nvSpPr>
        <p:spPr>
          <a:xfrm>
            <a:off x="822960" y="2468880"/>
            <a:ext cx="3474720" cy="457200"/>
          </a:xfrm>
          <a:prstGeom prst="rect">
            <a:avLst/>
          </a:prstGeom>
          <a:noFill/>
          <a:ln/>
        </p:spPr>
        <p:txBody>
          <a:bodyPr wrap="square" lIns="0" tIns="0" rIns="0" bIns="0" rtlCol="0" anchor="ctr"/>
          <a:lstStyle/>
          <a:p>
            <a:pPr marL="0" indent="0">
              <a:buNone/>
            </a:pPr>
            <a:r>
              <a:rPr lang="en-US" sz="900" dirty="0">
                <a:solidFill>
                  <a:srgbClr val="C4A8E8"/>
                </a:solidFill>
                <a:latin typeface="Calibri" pitchFamily="34" charset="0"/>
                <a:ea typeface="Calibri" pitchFamily="34" charset="-122"/>
                <a:cs typeface="Calibri" pitchFamily="34" charset="-120"/>
              </a:rPr>
              <a:t>Levanta la base de datos PostgreSQL en un contenedor Docker. La app y la BD corren aisladas del sistema operativo.</a:t>
            </a:r>
            <a:endParaRPr lang="en-US" sz="900" dirty="0"/>
          </a:p>
        </p:txBody>
      </p:sp>
      <p:sp>
        <p:nvSpPr>
          <p:cNvPr id="16" name="Shape 13"/>
          <p:cNvSpPr/>
          <p:nvPr/>
        </p:nvSpPr>
        <p:spPr>
          <a:xfrm>
            <a:off x="347472" y="3163824"/>
            <a:ext cx="384048" cy="384048"/>
          </a:xfrm>
          <a:prstGeom prst="ellipse">
            <a:avLst/>
          </a:prstGeom>
          <a:solidFill>
            <a:srgbClr val="F5A623"/>
          </a:solidFill>
          <a:ln w="12700">
            <a:solidFill>
              <a:srgbClr val="F5A623"/>
            </a:solidFill>
            <a:prstDash val="solid"/>
          </a:ln>
        </p:spPr>
      </p:sp>
      <p:sp>
        <p:nvSpPr>
          <p:cNvPr id="17" name="Text 14"/>
          <p:cNvSpPr/>
          <p:nvPr/>
        </p:nvSpPr>
        <p:spPr>
          <a:xfrm>
            <a:off x="347472" y="3182112"/>
            <a:ext cx="384048" cy="347472"/>
          </a:xfrm>
          <a:prstGeom prst="rect">
            <a:avLst/>
          </a:prstGeom>
          <a:noFill/>
          <a:ln/>
        </p:spPr>
        <p:txBody>
          <a:bodyPr wrap="square" lIns="0" tIns="0" rIns="0" bIns="0" rtlCol="0" anchor="ctr"/>
          <a:lstStyle/>
          <a:p>
            <a:pPr marL="0" indent="0" algn="ctr">
              <a:buNone/>
            </a:pPr>
            <a:r>
              <a:rPr lang="en-US" sz="1500" b="1" dirty="0">
                <a:solidFill>
                  <a:srgbClr val="3D1A6E"/>
                </a:solidFill>
                <a:latin typeface="Trebuchet MS" pitchFamily="34" charset="0"/>
                <a:ea typeface="Trebuchet MS" pitchFamily="34" charset="-122"/>
                <a:cs typeface="Trebuchet MS" pitchFamily="34" charset="-120"/>
              </a:rPr>
              <a:t>3</a:t>
            </a:r>
            <a:endParaRPr lang="en-US" sz="1500" dirty="0"/>
          </a:p>
        </p:txBody>
      </p:sp>
      <p:sp>
        <p:nvSpPr>
          <p:cNvPr id="18" name="Shape 15"/>
          <p:cNvSpPr/>
          <p:nvPr/>
        </p:nvSpPr>
        <p:spPr>
          <a:xfrm>
            <a:off x="822960" y="2980944"/>
            <a:ext cx="3474720" cy="347472"/>
          </a:xfrm>
          <a:prstGeom prst="rect">
            <a:avLst/>
          </a:prstGeom>
          <a:solidFill>
            <a:srgbClr val="2A1050"/>
          </a:solidFill>
          <a:ln w="12700">
            <a:solidFill>
              <a:srgbClr val="5C2D9E"/>
            </a:solidFill>
            <a:prstDash val="solid"/>
          </a:ln>
        </p:spPr>
      </p:sp>
      <p:sp>
        <p:nvSpPr>
          <p:cNvPr id="19" name="Text 16"/>
          <p:cNvSpPr/>
          <p:nvPr/>
        </p:nvSpPr>
        <p:spPr>
          <a:xfrm>
            <a:off x="896112" y="2980944"/>
            <a:ext cx="3337560" cy="347472"/>
          </a:xfrm>
          <a:prstGeom prst="rect">
            <a:avLst/>
          </a:prstGeom>
          <a:noFill/>
          <a:ln/>
        </p:spPr>
        <p:txBody>
          <a:bodyPr wrap="square" lIns="0" tIns="0" rIns="0" bIns="0" rtlCol="0" anchor="ctr"/>
          <a:lstStyle/>
          <a:p>
            <a:pPr marL="0" indent="0">
              <a:buNone/>
            </a:pPr>
            <a:r>
              <a:rPr lang="en-US" sz="1100" dirty="0">
                <a:solidFill>
                  <a:srgbClr val="F5A623"/>
                </a:solidFill>
                <a:latin typeface="Consolas" pitchFamily="34" charset="0"/>
                <a:ea typeface="Consolas" pitchFamily="34" charset="-122"/>
                <a:cs typeface="Consolas" pitchFamily="34" charset="-120"/>
              </a:rPr>
              <a:t>python manage.py migrate</a:t>
            </a:r>
            <a:endParaRPr lang="en-US" sz="1100" dirty="0"/>
          </a:p>
        </p:txBody>
      </p:sp>
      <p:sp>
        <p:nvSpPr>
          <p:cNvPr id="20" name="Text 17"/>
          <p:cNvSpPr/>
          <p:nvPr/>
        </p:nvSpPr>
        <p:spPr>
          <a:xfrm>
            <a:off x="822960" y="3364992"/>
            <a:ext cx="3474720" cy="457200"/>
          </a:xfrm>
          <a:prstGeom prst="rect">
            <a:avLst/>
          </a:prstGeom>
          <a:noFill/>
          <a:ln/>
        </p:spPr>
        <p:txBody>
          <a:bodyPr wrap="square" lIns="0" tIns="0" rIns="0" bIns="0" rtlCol="0" anchor="ctr"/>
          <a:lstStyle/>
          <a:p>
            <a:pPr marL="0" indent="0">
              <a:buNone/>
            </a:pPr>
            <a:r>
              <a:rPr lang="en-US" sz="900" dirty="0">
                <a:solidFill>
                  <a:srgbClr val="C4A8E8"/>
                </a:solidFill>
                <a:latin typeface="Calibri" pitchFamily="34" charset="0"/>
                <a:ea typeface="Calibri" pitchFamily="34" charset="-122"/>
                <a:cs typeface="Calibri" pitchFamily="34" charset="-120"/>
              </a:rPr>
              <a:t>Lee todos los archivos de migración y crea las tablas en la base de datos. Cada cambio al modelo genera una nueva migración.</a:t>
            </a:r>
            <a:endParaRPr lang="en-US" sz="900" dirty="0"/>
          </a:p>
        </p:txBody>
      </p:sp>
      <p:sp>
        <p:nvSpPr>
          <p:cNvPr id="21" name="Shape 18"/>
          <p:cNvSpPr/>
          <p:nvPr/>
        </p:nvSpPr>
        <p:spPr>
          <a:xfrm>
            <a:off x="347472" y="4059936"/>
            <a:ext cx="384048" cy="384048"/>
          </a:xfrm>
          <a:prstGeom prst="ellipse">
            <a:avLst/>
          </a:prstGeom>
          <a:solidFill>
            <a:srgbClr val="F5A623"/>
          </a:solidFill>
          <a:ln w="12700">
            <a:solidFill>
              <a:srgbClr val="F5A623"/>
            </a:solidFill>
            <a:prstDash val="solid"/>
          </a:ln>
        </p:spPr>
      </p:sp>
      <p:sp>
        <p:nvSpPr>
          <p:cNvPr id="22" name="Text 19"/>
          <p:cNvSpPr/>
          <p:nvPr/>
        </p:nvSpPr>
        <p:spPr>
          <a:xfrm>
            <a:off x="347472" y="4078224"/>
            <a:ext cx="384048" cy="347472"/>
          </a:xfrm>
          <a:prstGeom prst="rect">
            <a:avLst/>
          </a:prstGeom>
          <a:noFill/>
          <a:ln/>
        </p:spPr>
        <p:txBody>
          <a:bodyPr wrap="square" lIns="0" tIns="0" rIns="0" bIns="0" rtlCol="0" anchor="ctr"/>
          <a:lstStyle/>
          <a:p>
            <a:pPr marL="0" indent="0" algn="ctr">
              <a:buNone/>
            </a:pPr>
            <a:r>
              <a:rPr lang="en-US" sz="1500" b="1" dirty="0">
                <a:solidFill>
                  <a:srgbClr val="3D1A6E"/>
                </a:solidFill>
                <a:latin typeface="Trebuchet MS" pitchFamily="34" charset="0"/>
                <a:ea typeface="Trebuchet MS" pitchFamily="34" charset="-122"/>
                <a:cs typeface="Trebuchet MS" pitchFamily="34" charset="-120"/>
              </a:rPr>
              <a:t>4</a:t>
            </a:r>
            <a:endParaRPr lang="en-US" sz="1500" dirty="0"/>
          </a:p>
        </p:txBody>
      </p:sp>
      <p:sp>
        <p:nvSpPr>
          <p:cNvPr id="23" name="Shape 20"/>
          <p:cNvSpPr/>
          <p:nvPr/>
        </p:nvSpPr>
        <p:spPr>
          <a:xfrm>
            <a:off x="822960" y="3877056"/>
            <a:ext cx="3474720" cy="347472"/>
          </a:xfrm>
          <a:prstGeom prst="rect">
            <a:avLst/>
          </a:prstGeom>
          <a:solidFill>
            <a:srgbClr val="2A1050"/>
          </a:solidFill>
          <a:ln w="12700">
            <a:solidFill>
              <a:srgbClr val="5C2D9E"/>
            </a:solidFill>
            <a:prstDash val="solid"/>
          </a:ln>
        </p:spPr>
      </p:sp>
      <p:sp>
        <p:nvSpPr>
          <p:cNvPr id="24" name="Text 21"/>
          <p:cNvSpPr/>
          <p:nvPr/>
        </p:nvSpPr>
        <p:spPr>
          <a:xfrm>
            <a:off x="896112" y="3877056"/>
            <a:ext cx="3337560" cy="347472"/>
          </a:xfrm>
          <a:prstGeom prst="rect">
            <a:avLst/>
          </a:prstGeom>
          <a:noFill/>
          <a:ln/>
        </p:spPr>
        <p:txBody>
          <a:bodyPr wrap="square" lIns="0" tIns="0" rIns="0" bIns="0" rtlCol="0" anchor="ctr"/>
          <a:lstStyle/>
          <a:p>
            <a:pPr marL="0" indent="0">
              <a:buNone/>
            </a:pPr>
            <a:r>
              <a:rPr lang="en-US" sz="1100" dirty="0">
                <a:solidFill>
                  <a:srgbClr val="F5A623"/>
                </a:solidFill>
                <a:latin typeface="Consolas" pitchFamily="34" charset="0"/>
                <a:ea typeface="Consolas" pitchFamily="34" charset="-122"/>
                <a:cs typeface="Consolas" pitchFamily="34" charset="-120"/>
              </a:rPr>
              <a:t>python manage.py runserver</a:t>
            </a:r>
            <a:endParaRPr lang="en-US" sz="1100" dirty="0"/>
          </a:p>
        </p:txBody>
      </p:sp>
      <p:sp>
        <p:nvSpPr>
          <p:cNvPr id="25" name="Text 22"/>
          <p:cNvSpPr/>
          <p:nvPr/>
        </p:nvSpPr>
        <p:spPr>
          <a:xfrm>
            <a:off x="822960" y="4261104"/>
            <a:ext cx="3474720" cy="457200"/>
          </a:xfrm>
          <a:prstGeom prst="rect">
            <a:avLst/>
          </a:prstGeom>
          <a:noFill/>
          <a:ln/>
        </p:spPr>
        <p:txBody>
          <a:bodyPr wrap="square" lIns="0" tIns="0" rIns="0" bIns="0" rtlCol="0" anchor="ctr"/>
          <a:lstStyle/>
          <a:p>
            <a:pPr marL="0" indent="0">
              <a:buNone/>
            </a:pPr>
            <a:r>
              <a:rPr lang="en-US" sz="900" dirty="0">
                <a:solidFill>
                  <a:srgbClr val="C4A8E8"/>
                </a:solidFill>
                <a:latin typeface="Calibri" pitchFamily="34" charset="0"/>
                <a:ea typeface="Calibri" pitchFamily="34" charset="-122"/>
                <a:cs typeface="Calibri" pitchFamily="34" charset="-120"/>
              </a:rPr>
              <a:t>Inicia el servidor de desarrollo. La app queda disponible en http://127.0.0.1:8000</a:t>
            </a:r>
            <a:endParaRPr lang="en-US" sz="900" dirty="0"/>
          </a:p>
        </p:txBody>
      </p:sp>
      <p:sp>
        <p:nvSpPr>
          <p:cNvPr id="26" name="Text 23"/>
          <p:cNvSpPr/>
          <p:nvPr/>
        </p:nvSpPr>
        <p:spPr>
          <a:xfrm>
            <a:off x="4572000" y="1170432"/>
            <a:ext cx="4206240" cy="256032"/>
          </a:xfrm>
          <a:prstGeom prst="rect">
            <a:avLst/>
          </a:prstGeom>
          <a:noFill/>
          <a:ln/>
        </p:spPr>
        <p:txBody>
          <a:bodyPr wrap="square" lIns="0" tIns="0" rIns="0" bIns="0" rtlCol="0" anchor="ctr"/>
          <a:lstStyle/>
          <a:p>
            <a:pPr marL="0" indent="0">
              <a:buNone/>
            </a:pPr>
            <a:r>
              <a:rPr lang="en-US" sz="1200" b="1" dirty="0">
                <a:solidFill>
                  <a:srgbClr val="F5A623"/>
                </a:solidFill>
                <a:latin typeface="Trebuchet MS" pitchFamily="34" charset="0"/>
                <a:ea typeface="Trebuchet MS" pitchFamily="34" charset="-122"/>
                <a:cs typeface="Trebuchet MS" pitchFamily="34" charset="-120"/>
              </a:rPr>
              <a:t>Variables clave del archivo .env</a:t>
            </a:r>
            <a:endParaRPr lang="en-US" sz="1200" dirty="0"/>
          </a:p>
        </p:txBody>
      </p:sp>
      <p:sp>
        <p:nvSpPr>
          <p:cNvPr id="27" name="Shape 24"/>
          <p:cNvSpPr/>
          <p:nvPr/>
        </p:nvSpPr>
        <p:spPr>
          <a:xfrm>
            <a:off x="4572000" y="1463040"/>
            <a:ext cx="1901952" cy="292608"/>
          </a:xfrm>
          <a:prstGeom prst="rect">
            <a:avLst/>
          </a:prstGeom>
          <a:solidFill>
            <a:srgbClr val="3D1A6E"/>
          </a:solidFill>
          <a:ln w="6350">
            <a:solidFill>
              <a:srgbClr val="CCCCCC"/>
            </a:solidFill>
            <a:prstDash val="solid"/>
          </a:ln>
        </p:spPr>
      </p:sp>
      <p:sp>
        <p:nvSpPr>
          <p:cNvPr id="28" name="Text 25"/>
          <p:cNvSpPr/>
          <p:nvPr/>
        </p:nvSpPr>
        <p:spPr>
          <a:xfrm>
            <a:off x="4645152" y="1472184"/>
            <a:ext cx="1792224"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Variable</a:t>
            </a:r>
            <a:endParaRPr lang="en-US" sz="950" dirty="0"/>
          </a:p>
        </p:txBody>
      </p:sp>
      <p:sp>
        <p:nvSpPr>
          <p:cNvPr id="29" name="Shape 26"/>
          <p:cNvSpPr/>
          <p:nvPr/>
        </p:nvSpPr>
        <p:spPr>
          <a:xfrm>
            <a:off x="6473952" y="1463040"/>
            <a:ext cx="2377440" cy="292608"/>
          </a:xfrm>
          <a:prstGeom prst="rect">
            <a:avLst/>
          </a:prstGeom>
          <a:solidFill>
            <a:srgbClr val="3D1A6E"/>
          </a:solidFill>
          <a:ln w="6350">
            <a:solidFill>
              <a:srgbClr val="CCCCCC"/>
            </a:solidFill>
            <a:prstDash val="solid"/>
          </a:ln>
        </p:spPr>
      </p:sp>
      <p:sp>
        <p:nvSpPr>
          <p:cNvPr id="30" name="Text 27"/>
          <p:cNvSpPr/>
          <p:nvPr/>
        </p:nvSpPr>
        <p:spPr>
          <a:xfrm>
            <a:off x="6547104" y="1472184"/>
            <a:ext cx="2267712" cy="274320"/>
          </a:xfrm>
          <a:prstGeom prst="rect">
            <a:avLst/>
          </a:prstGeom>
          <a:noFill/>
          <a:ln/>
        </p:spPr>
        <p:txBody>
          <a:bodyPr wrap="square" lIns="0" tIns="0" rIns="0" bIns="0" rtlCol="0" anchor="ctr"/>
          <a:lstStyle/>
          <a:p>
            <a:pPr marL="0" indent="0">
              <a:buNone/>
            </a:pPr>
            <a:r>
              <a:rPr lang="en-US" sz="950" b="1" dirty="0">
                <a:solidFill>
                  <a:srgbClr val="FFFFFF"/>
                </a:solidFill>
                <a:latin typeface="Calibri" pitchFamily="34" charset="0"/>
                <a:ea typeface="Calibri" pitchFamily="34" charset="-122"/>
                <a:cs typeface="Calibri" pitchFamily="34" charset="-120"/>
              </a:rPr>
              <a:t>¿Para qué sirve?</a:t>
            </a:r>
            <a:endParaRPr lang="en-US" sz="950" dirty="0"/>
          </a:p>
        </p:txBody>
      </p:sp>
      <p:sp>
        <p:nvSpPr>
          <p:cNvPr id="31" name="Shape 28"/>
          <p:cNvSpPr/>
          <p:nvPr/>
        </p:nvSpPr>
        <p:spPr>
          <a:xfrm>
            <a:off x="4572000" y="1755648"/>
            <a:ext cx="1901952" cy="292608"/>
          </a:xfrm>
          <a:prstGeom prst="rect">
            <a:avLst/>
          </a:prstGeom>
          <a:solidFill>
            <a:srgbClr val="FFFFFF"/>
          </a:solidFill>
          <a:ln w="6350">
            <a:solidFill>
              <a:srgbClr val="CCCCCC"/>
            </a:solidFill>
            <a:prstDash val="solid"/>
          </a:ln>
        </p:spPr>
      </p:sp>
      <p:sp>
        <p:nvSpPr>
          <p:cNvPr id="32" name="Text 29"/>
          <p:cNvSpPr/>
          <p:nvPr/>
        </p:nvSpPr>
        <p:spPr>
          <a:xfrm>
            <a:off x="4645152" y="1764792"/>
            <a:ext cx="1792224"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DJANGO_SECRET_KEY</a:t>
            </a:r>
            <a:endParaRPr lang="en-US" sz="950" dirty="0"/>
          </a:p>
        </p:txBody>
      </p:sp>
      <p:sp>
        <p:nvSpPr>
          <p:cNvPr id="33" name="Shape 30"/>
          <p:cNvSpPr/>
          <p:nvPr/>
        </p:nvSpPr>
        <p:spPr>
          <a:xfrm>
            <a:off x="6473952" y="1755648"/>
            <a:ext cx="2377440" cy="292608"/>
          </a:xfrm>
          <a:prstGeom prst="rect">
            <a:avLst/>
          </a:prstGeom>
          <a:solidFill>
            <a:srgbClr val="FFFFFF"/>
          </a:solidFill>
          <a:ln w="6350">
            <a:solidFill>
              <a:srgbClr val="CCCCCC"/>
            </a:solidFill>
            <a:prstDash val="solid"/>
          </a:ln>
        </p:spPr>
      </p:sp>
      <p:sp>
        <p:nvSpPr>
          <p:cNvPr id="34" name="Text 31"/>
          <p:cNvSpPr/>
          <p:nvPr/>
        </p:nvSpPr>
        <p:spPr>
          <a:xfrm>
            <a:off x="6547104" y="1764792"/>
            <a:ext cx="2267712"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Clave criptográfica. ≥50 caracteres en producción.</a:t>
            </a:r>
            <a:endParaRPr lang="en-US" sz="950" dirty="0"/>
          </a:p>
        </p:txBody>
      </p:sp>
      <p:sp>
        <p:nvSpPr>
          <p:cNvPr id="35" name="Shape 32"/>
          <p:cNvSpPr/>
          <p:nvPr/>
        </p:nvSpPr>
        <p:spPr>
          <a:xfrm>
            <a:off x="4572000" y="2048256"/>
            <a:ext cx="1901952" cy="292608"/>
          </a:xfrm>
          <a:prstGeom prst="rect">
            <a:avLst/>
          </a:prstGeom>
          <a:solidFill>
            <a:srgbClr val="F0EBF8"/>
          </a:solidFill>
          <a:ln w="6350">
            <a:solidFill>
              <a:srgbClr val="CCCCCC"/>
            </a:solidFill>
            <a:prstDash val="solid"/>
          </a:ln>
        </p:spPr>
      </p:sp>
      <p:sp>
        <p:nvSpPr>
          <p:cNvPr id="36" name="Text 33"/>
          <p:cNvSpPr/>
          <p:nvPr/>
        </p:nvSpPr>
        <p:spPr>
          <a:xfrm>
            <a:off x="4645152" y="2057400"/>
            <a:ext cx="1792224"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DJANGO_DEBUG</a:t>
            </a:r>
            <a:endParaRPr lang="en-US" sz="950" dirty="0"/>
          </a:p>
        </p:txBody>
      </p:sp>
      <p:sp>
        <p:nvSpPr>
          <p:cNvPr id="37" name="Shape 34"/>
          <p:cNvSpPr/>
          <p:nvPr/>
        </p:nvSpPr>
        <p:spPr>
          <a:xfrm>
            <a:off x="6473952" y="2048256"/>
            <a:ext cx="2377440" cy="292608"/>
          </a:xfrm>
          <a:prstGeom prst="rect">
            <a:avLst/>
          </a:prstGeom>
          <a:solidFill>
            <a:srgbClr val="F0EBF8"/>
          </a:solidFill>
          <a:ln w="6350">
            <a:solidFill>
              <a:srgbClr val="CCCCCC"/>
            </a:solidFill>
            <a:prstDash val="solid"/>
          </a:ln>
        </p:spPr>
      </p:sp>
      <p:sp>
        <p:nvSpPr>
          <p:cNvPr id="38" name="Text 35"/>
          <p:cNvSpPr/>
          <p:nvPr/>
        </p:nvSpPr>
        <p:spPr>
          <a:xfrm>
            <a:off x="6547104" y="2057400"/>
            <a:ext cx="2267712"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True = muestra errores en pantalla (solo desarrollo).</a:t>
            </a:r>
            <a:endParaRPr lang="en-US" sz="950" dirty="0"/>
          </a:p>
        </p:txBody>
      </p:sp>
      <p:sp>
        <p:nvSpPr>
          <p:cNvPr id="39" name="Shape 36"/>
          <p:cNvSpPr/>
          <p:nvPr/>
        </p:nvSpPr>
        <p:spPr>
          <a:xfrm>
            <a:off x="4572000" y="2340864"/>
            <a:ext cx="1901952" cy="292608"/>
          </a:xfrm>
          <a:prstGeom prst="rect">
            <a:avLst/>
          </a:prstGeom>
          <a:solidFill>
            <a:srgbClr val="FFFFFF"/>
          </a:solidFill>
          <a:ln w="6350">
            <a:solidFill>
              <a:srgbClr val="CCCCCC"/>
            </a:solidFill>
            <a:prstDash val="solid"/>
          </a:ln>
        </p:spPr>
      </p:sp>
      <p:sp>
        <p:nvSpPr>
          <p:cNvPr id="40" name="Text 37"/>
          <p:cNvSpPr/>
          <p:nvPr/>
        </p:nvSpPr>
        <p:spPr>
          <a:xfrm>
            <a:off x="4645152" y="2350008"/>
            <a:ext cx="1792224"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DB_ENGINE</a:t>
            </a:r>
            <a:endParaRPr lang="en-US" sz="950" dirty="0"/>
          </a:p>
        </p:txBody>
      </p:sp>
      <p:sp>
        <p:nvSpPr>
          <p:cNvPr id="41" name="Shape 38"/>
          <p:cNvSpPr/>
          <p:nvPr/>
        </p:nvSpPr>
        <p:spPr>
          <a:xfrm>
            <a:off x="6473952" y="2340864"/>
            <a:ext cx="2377440" cy="292608"/>
          </a:xfrm>
          <a:prstGeom prst="rect">
            <a:avLst/>
          </a:prstGeom>
          <a:solidFill>
            <a:srgbClr val="FFFFFF"/>
          </a:solidFill>
          <a:ln w="6350">
            <a:solidFill>
              <a:srgbClr val="CCCCCC"/>
            </a:solidFill>
            <a:prstDash val="solid"/>
          </a:ln>
        </p:spPr>
      </p:sp>
      <p:sp>
        <p:nvSpPr>
          <p:cNvPr id="42" name="Text 39"/>
          <p:cNvSpPr/>
          <p:nvPr/>
        </p:nvSpPr>
        <p:spPr>
          <a:xfrm>
            <a:off x="6547104" y="2350008"/>
            <a:ext cx="2267712"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postgresql o sqlite — cambia la base de datos usada.</a:t>
            </a:r>
            <a:endParaRPr lang="en-US" sz="950" dirty="0"/>
          </a:p>
        </p:txBody>
      </p:sp>
      <p:sp>
        <p:nvSpPr>
          <p:cNvPr id="43" name="Shape 40"/>
          <p:cNvSpPr/>
          <p:nvPr/>
        </p:nvSpPr>
        <p:spPr>
          <a:xfrm>
            <a:off x="4572000" y="2633472"/>
            <a:ext cx="1901952" cy="292608"/>
          </a:xfrm>
          <a:prstGeom prst="rect">
            <a:avLst/>
          </a:prstGeom>
          <a:solidFill>
            <a:srgbClr val="F0EBF8"/>
          </a:solidFill>
          <a:ln w="6350">
            <a:solidFill>
              <a:srgbClr val="CCCCCC"/>
            </a:solidFill>
            <a:prstDash val="solid"/>
          </a:ln>
        </p:spPr>
      </p:sp>
      <p:sp>
        <p:nvSpPr>
          <p:cNvPr id="44" name="Text 41"/>
          <p:cNvSpPr/>
          <p:nvPr/>
        </p:nvSpPr>
        <p:spPr>
          <a:xfrm>
            <a:off x="4645152" y="2642616"/>
            <a:ext cx="1792224"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DB_HOST / DB_PORT</a:t>
            </a:r>
            <a:endParaRPr lang="en-US" sz="950" dirty="0"/>
          </a:p>
        </p:txBody>
      </p:sp>
      <p:sp>
        <p:nvSpPr>
          <p:cNvPr id="45" name="Shape 42"/>
          <p:cNvSpPr/>
          <p:nvPr/>
        </p:nvSpPr>
        <p:spPr>
          <a:xfrm>
            <a:off x="6473952" y="2633472"/>
            <a:ext cx="2377440" cy="292608"/>
          </a:xfrm>
          <a:prstGeom prst="rect">
            <a:avLst/>
          </a:prstGeom>
          <a:solidFill>
            <a:srgbClr val="F0EBF8"/>
          </a:solidFill>
          <a:ln w="6350">
            <a:solidFill>
              <a:srgbClr val="CCCCCC"/>
            </a:solidFill>
            <a:prstDash val="solid"/>
          </a:ln>
        </p:spPr>
      </p:sp>
      <p:sp>
        <p:nvSpPr>
          <p:cNvPr id="46" name="Text 43"/>
          <p:cNvSpPr/>
          <p:nvPr/>
        </p:nvSpPr>
        <p:spPr>
          <a:xfrm>
            <a:off x="6547104" y="2642616"/>
            <a:ext cx="2267712"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Dirección de la BD (127.0.0.1 local, 'db' en Docker).</a:t>
            </a:r>
            <a:endParaRPr lang="en-US" sz="950" dirty="0"/>
          </a:p>
        </p:txBody>
      </p:sp>
      <p:sp>
        <p:nvSpPr>
          <p:cNvPr id="47" name="Shape 44"/>
          <p:cNvSpPr/>
          <p:nvPr/>
        </p:nvSpPr>
        <p:spPr>
          <a:xfrm>
            <a:off x="4572000" y="2926080"/>
            <a:ext cx="1901952" cy="292608"/>
          </a:xfrm>
          <a:prstGeom prst="rect">
            <a:avLst/>
          </a:prstGeom>
          <a:solidFill>
            <a:srgbClr val="FFFFFF"/>
          </a:solidFill>
          <a:ln w="6350">
            <a:solidFill>
              <a:srgbClr val="CCCCCC"/>
            </a:solidFill>
            <a:prstDash val="solid"/>
          </a:ln>
        </p:spPr>
      </p:sp>
      <p:sp>
        <p:nvSpPr>
          <p:cNvPr id="48" name="Text 45"/>
          <p:cNvSpPr/>
          <p:nvPr/>
        </p:nvSpPr>
        <p:spPr>
          <a:xfrm>
            <a:off x="4645152" y="2935224"/>
            <a:ext cx="1792224"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DJANGO_ALLOWED_HOSTS</a:t>
            </a:r>
            <a:endParaRPr lang="en-US" sz="950" dirty="0"/>
          </a:p>
        </p:txBody>
      </p:sp>
      <p:sp>
        <p:nvSpPr>
          <p:cNvPr id="49" name="Shape 46"/>
          <p:cNvSpPr/>
          <p:nvPr/>
        </p:nvSpPr>
        <p:spPr>
          <a:xfrm>
            <a:off x="6473952" y="2926080"/>
            <a:ext cx="2377440" cy="292608"/>
          </a:xfrm>
          <a:prstGeom prst="rect">
            <a:avLst/>
          </a:prstGeom>
          <a:solidFill>
            <a:srgbClr val="FFFFFF"/>
          </a:solidFill>
          <a:ln w="6350">
            <a:solidFill>
              <a:srgbClr val="CCCCCC"/>
            </a:solidFill>
            <a:prstDash val="solid"/>
          </a:ln>
        </p:spPr>
      </p:sp>
      <p:sp>
        <p:nvSpPr>
          <p:cNvPr id="50" name="Text 47"/>
          <p:cNvSpPr/>
          <p:nvPr/>
        </p:nvSpPr>
        <p:spPr>
          <a:xfrm>
            <a:off x="6547104" y="2935224"/>
            <a:ext cx="2267712" cy="274320"/>
          </a:xfrm>
          <a:prstGeom prst="rect">
            <a:avLst/>
          </a:prstGeom>
          <a:noFill/>
          <a:ln/>
        </p:spPr>
        <p:txBody>
          <a:bodyPr wrap="square" lIns="0" tIns="0" rIns="0" bIns="0" rtlCol="0" anchor="ctr"/>
          <a:lstStyle/>
          <a:p>
            <a:pPr marL="0" indent="0">
              <a:buNone/>
            </a:pPr>
            <a:r>
              <a:rPr lang="en-US" sz="950" dirty="0">
                <a:solidFill>
                  <a:srgbClr val="1A1A2E"/>
                </a:solidFill>
                <a:latin typeface="Calibri" pitchFamily="34" charset="0"/>
                <a:ea typeface="Calibri" pitchFamily="34" charset="-122"/>
                <a:cs typeface="Calibri" pitchFamily="34" charset="-120"/>
              </a:rPr>
              <a:t>Dominios desde los que se puede acceder a la app.</a:t>
            </a:r>
            <a:endParaRPr lang="en-US" sz="950" dirty="0"/>
          </a:p>
        </p:txBody>
      </p:sp>
      <p:sp>
        <p:nvSpPr>
          <p:cNvPr id="51" name="Text 48"/>
          <p:cNvSpPr/>
          <p:nvPr/>
        </p:nvSpPr>
        <p:spPr>
          <a:xfrm>
            <a:off x="4572000" y="3255264"/>
            <a:ext cx="4206240" cy="566928"/>
          </a:xfrm>
          <a:prstGeom prst="rect">
            <a:avLst/>
          </a:prstGeom>
          <a:noFill/>
          <a:ln/>
        </p:spPr>
        <p:txBody>
          <a:bodyPr wrap="square" lIns="0" tIns="0" rIns="0" bIns="0" rtlCol="0" anchor="ctr"/>
          <a:lstStyle/>
          <a:p>
            <a:pPr marL="0" indent="0">
              <a:buNone/>
            </a:pPr>
            <a:r>
              <a:rPr lang="en-US" sz="950" i="1" dirty="0">
                <a:solidFill>
                  <a:srgbClr val="C4A8E8"/>
                </a:solidFill>
                <a:latin typeface="Calibri" pitchFamily="34" charset="0"/>
                <a:ea typeface="Calibri" pitchFamily="34" charset="-122"/>
                <a:cs typeface="Calibri" pitchFamily="34" charset="-120"/>
              </a:rPr>
              <a:t>¿Qué es Docker?  →  Una herramienta que empaqueta la app y sus dependencias en un 'contenedor'. Así funciona exactamente igual en cualquier computadora, sin importar el sistema operativo.</a:t>
            </a:r>
            <a:endParaRPr lang="en-US" sz="950" dirty="0"/>
          </a:p>
        </p:txBody>
      </p:sp>
      <p:sp>
        <p:nvSpPr>
          <p:cNvPr id="52" name="Text 49"/>
          <p:cNvSpPr/>
          <p:nvPr/>
        </p:nvSpPr>
        <p:spPr>
          <a:xfrm>
            <a:off x="4572000" y="3913632"/>
            <a:ext cx="4206240" cy="658368"/>
          </a:xfrm>
          <a:prstGeom prst="rect">
            <a:avLst/>
          </a:prstGeom>
          <a:noFill/>
          <a:ln/>
        </p:spPr>
        <p:txBody>
          <a:bodyPr wrap="square" lIns="0" tIns="0" rIns="0" bIns="0" rtlCol="0" anchor="ctr"/>
          <a:lstStyle/>
          <a:p>
            <a:pPr marL="0" indent="0">
              <a:buNone/>
            </a:pPr>
            <a:r>
              <a:rPr lang="en-US" sz="950" i="1" dirty="0">
                <a:solidFill>
                  <a:srgbClr val="C4A8E8"/>
                </a:solidFill>
                <a:latin typeface="Calibri" pitchFamily="34" charset="0"/>
                <a:ea typeface="Calibri" pitchFamily="34" charset="-122"/>
                <a:cs typeface="Calibri" pitchFamily="34" charset="-120"/>
              </a:rPr>
              <a:t>¿Qué es una migración?  →  Cada vez que se crea o modifica un modelo (tabla de la BD), Django genera un archivo de migración. Al correr 'migrate', ese archivo se convierte en SQL y actualiza la BD real.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3D1A6E"/>
        </a:solidFill>
        <a:effectLst/>
      </p:bgPr>
    </p:bg>
    <p:spTree>
      <p:nvGrpSpPr>
        <p:cNvPr id="1" name=""/>
        <p:cNvGrpSpPr/>
        <p:nvPr/>
      </p:nvGrpSpPr>
      <p:grpSpPr>
        <a:xfrm>
          <a:off x="0" y="0"/>
          <a:ext cx="0" cy="0"/>
          <a:chOff x="0" y="0"/>
          <a:chExt cx="0" cy="0"/>
        </a:xfrm>
      </p:grpSpPr>
      <p:sp>
        <p:nvSpPr>
          <p:cNvPr id="2" name="Shape 0"/>
          <p:cNvSpPr/>
          <p:nvPr/>
        </p:nvSpPr>
        <p:spPr>
          <a:xfrm>
            <a:off x="0" y="4864608"/>
            <a:ext cx="9144000" cy="54864"/>
          </a:xfrm>
          <a:prstGeom prst="rect">
            <a:avLst/>
          </a:prstGeom>
          <a:solidFill>
            <a:srgbClr val="F5A623"/>
          </a:solidFill>
          <a:ln w="12700">
            <a:solidFill>
              <a:srgbClr val="F5A623"/>
            </a:solidFill>
            <a:prstDash val="solid"/>
          </a:ln>
        </p:spPr>
      </p:sp>
      <p:sp>
        <p:nvSpPr>
          <p:cNvPr id="3" name="Shape 1"/>
          <p:cNvSpPr/>
          <p:nvPr/>
        </p:nvSpPr>
        <p:spPr>
          <a:xfrm>
            <a:off x="0" y="0"/>
            <a:ext cx="182880" cy="5143500"/>
          </a:xfrm>
          <a:prstGeom prst="rect">
            <a:avLst/>
          </a:prstGeom>
          <a:solidFill>
            <a:srgbClr val="F5A623"/>
          </a:solidFill>
          <a:ln w="12700">
            <a:solidFill>
              <a:srgbClr val="F5A623"/>
            </a:solidFill>
            <a:prstDash val="solid"/>
          </a:ln>
        </p:spPr>
      </p:sp>
      <p:pic>
        <p:nvPicPr>
          <p:cNvPr id="4" name="Image 0" descr="/home/claude/UPBCash/Proyecto UPBCASH/upbcash_django/static/core/img/imgupbcash-logo-c.png"/>
          <p:cNvPicPr>
            <a:picLocks noChangeAspect="1"/>
          </p:cNvPicPr>
          <p:nvPr/>
        </p:nvPicPr>
        <p:blipFill>
          <a:blip r:embed="rId3"/>
          <a:stretch>
            <a:fillRect/>
          </a:stretch>
        </p:blipFill>
        <p:spPr>
          <a:xfrm>
            <a:off x="3337560" y="292608"/>
            <a:ext cx="2468880" cy="2468880"/>
          </a:xfrm>
          <a:prstGeom prst="rect">
            <a:avLst/>
          </a:prstGeom>
        </p:spPr>
      </p:pic>
      <p:sp>
        <p:nvSpPr>
          <p:cNvPr id="5" name="Text 2"/>
          <p:cNvSpPr/>
          <p:nvPr/>
        </p:nvSpPr>
        <p:spPr>
          <a:xfrm>
            <a:off x="457200" y="2670048"/>
            <a:ext cx="8229600" cy="658368"/>
          </a:xfrm>
          <a:prstGeom prst="rect">
            <a:avLst/>
          </a:prstGeom>
          <a:noFill/>
          <a:ln/>
        </p:spPr>
        <p:txBody>
          <a:bodyPr wrap="square" lIns="0" tIns="0" rIns="0" bIns="0" rtlCol="0" anchor="ctr"/>
          <a:lstStyle/>
          <a:p>
            <a:pPr marL="0" indent="0" algn="ctr">
              <a:buNone/>
            </a:pPr>
            <a:r>
              <a:rPr lang="en-US" sz="5000" b="1" dirty="0">
                <a:solidFill>
                  <a:srgbClr val="FFFFFF"/>
                </a:solidFill>
                <a:latin typeface="Trebuchet MS" pitchFamily="34" charset="0"/>
                <a:ea typeface="Trebuchet MS" pitchFamily="34" charset="-122"/>
                <a:cs typeface="Trebuchet MS" pitchFamily="34" charset="-120"/>
              </a:rPr>
              <a:t>UPBCash</a:t>
            </a:r>
            <a:endParaRPr lang="en-US" sz="5000" dirty="0"/>
          </a:p>
        </p:txBody>
      </p:sp>
      <p:sp>
        <p:nvSpPr>
          <p:cNvPr id="6" name="Shape 3"/>
          <p:cNvSpPr/>
          <p:nvPr/>
        </p:nvSpPr>
        <p:spPr>
          <a:xfrm>
            <a:off x="3108960" y="3401568"/>
            <a:ext cx="2926080" cy="347472"/>
          </a:xfrm>
          <a:prstGeom prst="rect">
            <a:avLst/>
          </a:prstGeom>
          <a:solidFill>
            <a:srgbClr val="F5A623"/>
          </a:solidFill>
          <a:ln w="12700">
            <a:solidFill>
              <a:srgbClr val="F5A623"/>
            </a:solidFill>
            <a:prstDash val="solid"/>
          </a:ln>
        </p:spPr>
      </p:sp>
      <p:sp>
        <p:nvSpPr>
          <p:cNvPr id="7" name="Text 4"/>
          <p:cNvSpPr/>
          <p:nvPr/>
        </p:nvSpPr>
        <p:spPr>
          <a:xfrm>
            <a:off x="3108960" y="3401568"/>
            <a:ext cx="2926080" cy="347472"/>
          </a:xfrm>
          <a:prstGeom prst="rect">
            <a:avLst/>
          </a:prstGeom>
          <a:noFill/>
          <a:ln/>
        </p:spPr>
        <p:txBody>
          <a:bodyPr wrap="square" lIns="0" tIns="0" rIns="0" bIns="0" rtlCol="0" anchor="ctr"/>
          <a:lstStyle/>
          <a:p>
            <a:pPr marL="0" indent="0" algn="ctr">
              <a:buNone/>
            </a:pPr>
            <a:r>
              <a:rPr lang="en-US" sz="1100" b="1" dirty="0">
                <a:solidFill>
                  <a:srgbClr val="3D1A6E"/>
                </a:solidFill>
                <a:latin typeface="Consolas" pitchFamily="34" charset="0"/>
                <a:ea typeface="Consolas" pitchFamily="34" charset="-122"/>
                <a:cs typeface="Consolas" pitchFamily="34" charset="-120"/>
              </a:rPr>
              <a:t>github.com/cchaires/UPBCash</a:t>
            </a:r>
            <a:endParaRPr lang="en-US" sz="1100" dirty="0"/>
          </a:p>
        </p:txBody>
      </p:sp>
      <p:sp>
        <p:nvSpPr>
          <p:cNvPr id="8" name="Shape 5"/>
          <p:cNvSpPr/>
          <p:nvPr/>
        </p:nvSpPr>
        <p:spPr>
          <a:xfrm>
            <a:off x="475488" y="3840480"/>
            <a:ext cx="2633472" cy="896112"/>
          </a:xfrm>
          <a:prstGeom prst="rect">
            <a:avLst/>
          </a:prstGeom>
          <a:solidFill>
            <a:srgbClr val="5C2D9E"/>
          </a:solidFill>
          <a:ln/>
          <a:effectLst>
            <a:outerShdw blurRad="88900" dist="38100" dir="8100000" algn="bl" rotWithShape="0">
              <a:srgbClr val="000000">
                <a:alpha val="12000"/>
              </a:srgbClr>
            </a:outerShdw>
          </a:effectLst>
        </p:spPr>
      </p:sp>
      <p:sp>
        <p:nvSpPr>
          <p:cNvPr id="9" name="Text 6"/>
          <p:cNvSpPr/>
          <p:nvPr/>
        </p:nvSpPr>
        <p:spPr>
          <a:xfrm>
            <a:off x="585216" y="3895344"/>
            <a:ext cx="2432304" cy="256032"/>
          </a:xfrm>
          <a:prstGeom prst="rect">
            <a:avLst/>
          </a:prstGeom>
          <a:noFill/>
          <a:ln/>
        </p:spPr>
        <p:txBody>
          <a:bodyPr wrap="square" lIns="0" tIns="0" rIns="0" bIns="0" rtlCol="0" anchor="ctr"/>
          <a:lstStyle/>
          <a:p>
            <a:pPr marL="0" indent="0">
              <a:buNone/>
            </a:pPr>
            <a:r>
              <a:rPr lang="en-US" sz="1100" b="1" dirty="0">
                <a:solidFill>
                  <a:srgbClr val="F5A623"/>
                </a:solidFill>
                <a:latin typeface="Trebuchet MS" pitchFamily="34" charset="0"/>
                <a:ea typeface="Trebuchet MS" pitchFamily="34" charset="-122"/>
                <a:cs typeface="Trebuchet MS" pitchFamily="34" charset="-120"/>
              </a:rPr>
              <a:t>Sistema modular</a:t>
            </a:r>
            <a:endParaRPr lang="en-US" sz="1100" dirty="0"/>
          </a:p>
        </p:txBody>
      </p:sp>
      <p:sp>
        <p:nvSpPr>
          <p:cNvPr id="10" name="Text 7"/>
          <p:cNvSpPr/>
          <p:nvPr/>
        </p:nvSpPr>
        <p:spPr>
          <a:xfrm>
            <a:off x="585216" y="4169664"/>
            <a:ext cx="2432304" cy="493776"/>
          </a:xfrm>
          <a:prstGeom prst="rect">
            <a:avLst/>
          </a:prstGeom>
          <a:noFill/>
          <a:ln/>
        </p:spPr>
        <p:txBody>
          <a:bodyPr wrap="square" lIns="0" tIns="0" rIns="0" bIns="0" rtlCol="0" anchor="ctr"/>
          <a:lstStyle/>
          <a:p>
            <a:pPr marL="0" indent="0">
              <a:buNone/>
            </a:pPr>
            <a:r>
              <a:rPr lang="en-US" sz="850" dirty="0">
                <a:solidFill>
                  <a:srgbClr val="D4C0F0"/>
                </a:solidFill>
                <a:latin typeface="Calibri" pitchFamily="34" charset="0"/>
                <a:ea typeface="Calibri" pitchFamily="34" charset="-122"/>
                <a:cs typeface="Calibri" pitchFamily="34" charset="-120"/>
              </a:rPr>
              <a:t>6 módulos independientes con responsabilidad única cada uno</a:t>
            </a:r>
            <a:endParaRPr lang="en-US" sz="850" dirty="0"/>
          </a:p>
        </p:txBody>
      </p:sp>
      <p:sp>
        <p:nvSpPr>
          <p:cNvPr id="11" name="Shape 8"/>
          <p:cNvSpPr/>
          <p:nvPr/>
        </p:nvSpPr>
        <p:spPr>
          <a:xfrm>
            <a:off x="3310128" y="3840480"/>
            <a:ext cx="2633472" cy="896112"/>
          </a:xfrm>
          <a:prstGeom prst="rect">
            <a:avLst/>
          </a:prstGeom>
          <a:solidFill>
            <a:srgbClr val="5C2D9E"/>
          </a:solidFill>
          <a:ln/>
          <a:effectLst>
            <a:outerShdw blurRad="88900" dist="38100" dir="8100000" algn="bl" rotWithShape="0">
              <a:srgbClr val="000000">
                <a:alpha val="12000"/>
              </a:srgbClr>
            </a:outerShdw>
          </a:effectLst>
        </p:spPr>
      </p:sp>
      <p:sp>
        <p:nvSpPr>
          <p:cNvPr id="12" name="Text 9"/>
          <p:cNvSpPr/>
          <p:nvPr/>
        </p:nvSpPr>
        <p:spPr>
          <a:xfrm>
            <a:off x="3419856" y="3895344"/>
            <a:ext cx="2432304" cy="256032"/>
          </a:xfrm>
          <a:prstGeom prst="rect">
            <a:avLst/>
          </a:prstGeom>
          <a:noFill/>
          <a:ln/>
        </p:spPr>
        <p:txBody>
          <a:bodyPr wrap="square" lIns="0" tIns="0" rIns="0" bIns="0" rtlCol="0" anchor="ctr"/>
          <a:lstStyle/>
          <a:p>
            <a:pPr marL="0" indent="0">
              <a:buNone/>
            </a:pPr>
            <a:r>
              <a:rPr lang="en-US" sz="1100" b="1" dirty="0">
                <a:solidFill>
                  <a:srgbClr val="F5A623"/>
                </a:solidFill>
                <a:latin typeface="Trebuchet MS" pitchFamily="34" charset="0"/>
                <a:ea typeface="Trebuchet MS" pitchFamily="34" charset="-122"/>
                <a:cs typeface="Trebuchet MS" pitchFamily="34" charset="-120"/>
              </a:rPr>
              <a:t>Dinero seguro</a:t>
            </a:r>
            <a:endParaRPr lang="en-US" sz="1100" dirty="0"/>
          </a:p>
        </p:txBody>
      </p:sp>
      <p:sp>
        <p:nvSpPr>
          <p:cNvPr id="13" name="Text 10"/>
          <p:cNvSpPr/>
          <p:nvPr/>
        </p:nvSpPr>
        <p:spPr>
          <a:xfrm>
            <a:off x="3419856" y="4169664"/>
            <a:ext cx="2432304" cy="493776"/>
          </a:xfrm>
          <a:prstGeom prst="rect">
            <a:avLst/>
          </a:prstGeom>
          <a:noFill/>
          <a:ln/>
        </p:spPr>
        <p:txBody>
          <a:bodyPr wrap="square" lIns="0" tIns="0" rIns="0" bIns="0" rtlCol="0" anchor="ctr"/>
          <a:lstStyle/>
          <a:p>
            <a:pPr marL="0" indent="0">
              <a:buNone/>
            </a:pPr>
            <a:r>
              <a:rPr lang="en-US" sz="850" dirty="0">
                <a:solidFill>
                  <a:srgbClr val="D4C0F0"/>
                </a:solidFill>
                <a:latin typeface="Calibri" pitchFamily="34" charset="0"/>
                <a:ea typeface="Calibri" pitchFamily="34" charset="-122"/>
                <a:cs typeface="Calibri" pitchFamily="34" charset="-120"/>
              </a:rPr>
              <a:t>Doble partida contable + transacciones atómicas + anti-duplicados</a:t>
            </a:r>
            <a:endParaRPr lang="en-US" sz="850" dirty="0"/>
          </a:p>
        </p:txBody>
      </p:sp>
      <p:sp>
        <p:nvSpPr>
          <p:cNvPr id="14" name="Shape 11"/>
          <p:cNvSpPr/>
          <p:nvPr/>
        </p:nvSpPr>
        <p:spPr>
          <a:xfrm>
            <a:off x="6144768" y="3840480"/>
            <a:ext cx="2633472" cy="896112"/>
          </a:xfrm>
          <a:prstGeom prst="rect">
            <a:avLst/>
          </a:prstGeom>
          <a:solidFill>
            <a:srgbClr val="5C2D9E"/>
          </a:solidFill>
          <a:ln/>
          <a:effectLst>
            <a:outerShdw blurRad="88900" dist="38100" dir="8100000" algn="bl" rotWithShape="0">
              <a:srgbClr val="000000">
                <a:alpha val="12000"/>
              </a:srgbClr>
            </a:outerShdw>
          </a:effectLst>
        </p:spPr>
      </p:sp>
      <p:sp>
        <p:nvSpPr>
          <p:cNvPr id="15" name="Text 12"/>
          <p:cNvSpPr/>
          <p:nvPr/>
        </p:nvSpPr>
        <p:spPr>
          <a:xfrm>
            <a:off x="6254496" y="3895344"/>
            <a:ext cx="2432304" cy="256032"/>
          </a:xfrm>
          <a:prstGeom prst="rect">
            <a:avLst/>
          </a:prstGeom>
          <a:noFill/>
          <a:ln/>
        </p:spPr>
        <p:txBody>
          <a:bodyPr wrap="square" lIns="0" tIns="0" rIns="0" bIns="0" rtlCol="0" anchor="ctr"/>
          <a:lstStyle/>
          <a:p>
            <a:pPr marL="0" indent="0">
              <a:buNone/>
            </a:pPr>
            <a:r>
              <a:rPr lang="en-US" sz="1100" b="1" dirty="0">
                <a:solidFill>
                  <a:srgbClr val="F5A623"/>
                </a:solidFill>
                <a:latin typeface="Trebuchet MS" pitchFamily="34" charset="0"/>
                <a:ea typeface="Trebuchet MS" pitchFamily="34" charset="-122"/>
                <a:cs typeface="Trebuchet MS" pitchFamily="34" charset="-120"/>
              </a:rPr>
              <a:t>Roles por evento</a:t>
            </a:r>
            <a:endParaRPr lang="en-US" sz="1100" dirty="0"/>
          </a:p>
        </p:txBody>
      </p:sp>
      <p:sp>
        <p:nvSpPr>
          <p:cNvPr id="16" name="Text 13"/>
          <p:cNvSpPr/>
          <p:nvPr/>
        </p:nvSpPr>
        <p:spPr>
          <a:xfrm>
            <a:off x="6254496" y="4169664"/>
            <a:ext cx="2432304" cy="493776"/>
          </a:xfrm>
          <a:prstGeom prst="rect">
            <a:avLst/>
          </a:prstGeom>
          <a:noFill/>
          <a:ln/>
        </p:spPr>
        <p:txBody>
          <a:bodyPr wrap="square" lIns="0" tIns="0" rIns="0" bIns="0" rtlCol="0" anchor="ctr"/>
          <a:lstStyle/>
          <a:p>
            <a:pPr marL="0" indent="0">
              <a:buNone/>
            </a:pPr>
            <a:r>
              <a:rPr lang="en-US" sz="850" dirty="0">
                <a:solidFill>
                  <a:srgbClr val="D4C0F0"/>
                </a:solidFill>
                <a:latin typeface="Calibri" pitchFamily="34" charset="0"/>
                <a:ea typeface="Calibri" pitchFamily="34" charset="-122"/>
                <a:cs typeface="Calibri" pitchFamily="34" charset="-120"/>
              </a:rPr>
              <a:t>Cada usuario tiene los permisos exactos que necesita, nada más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TotalTime>
  <Words>1828</Words>
  <Application>Microsoft Office PowerPoint</Application>
  <PresentationFormat>Presentación en pantalla (16:9)</PresentationFormat>
  <Paragraphs>255</Paragraphs>
  <Slides>12</Slides>
  <Notes>12</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12</vt:i4>
      </vt:variant>
    </vt:vector>
  </HeadingPairs>
  <TitlesOfParts>
    <vt:vector size="17" baseType="lpstr">
      <vt:lpstr>Arial</vt:lpstr>
      <vt:lpstr>Calibri</vt:lpstr>
      <vt:lpstr>Consolas</vt:lpstr>
      <vt:lpstr>Trebuchet MS</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UPBCash – Cómo funciona por dentro</dc:title>
  <dc:subject>PptxGenJS Presentation</dc:subject>
  <dc:creator>PptxGenJS</dc:creator>
  <cp:lastModifiedBy>Oliver Moreno Gallegos</cp:lastModifiedBy>
  <cp:revision>2</cp:revision>
  <dcterms:created xsi:type="dcterms:W3CDTF">2026-04-10T02:03:14Z</dcterms:created>
  <dcterms:modified xsi:type="dcterms:W3CDTF">2026-04-10T02:11:29Z</dcterms:modified>
</cp:coreProperties>
</file>